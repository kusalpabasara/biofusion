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7556500" cy="10693400"/>
  <p:notesSz cx="6858000" cy="9144000"/>
  <p:embeddedFontLst>
    <p:embeddedFont>
      <p:font typeface="Helvetica Bold" charset="1" panose="020B0704020202030204"/>
      <p:regular r:id="rId16"/>
    </p:embeddedFont>
    <p:embeddedFont>
      <p:font typeface="Helvetica" charset="1" panose="020B0504020202020204"/>
      <p:regular r:id="rId17"/>
    </p:embeddedFont>
    <p:embeddedFont>
      <p:font typeface="Helvetica Italics" charset="1" panose="020B0504020202090204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https://pneu.gmora.dev/" TargetMode="External" Type="http://schemas.openxmlformats.org/officeDocument/2006/relationships/hyperlink"/><Relationship Id="rId11" Target="https://pneu.gmora.dev/" TargetMode="External" Type="http://schemas.openxmlformats.org/officeDocument/2006/relationships/hyperlink"/><Relationship Id="rId2" Target="https://pneu.gmora.dev/" TargetMode="External" Type="http://schemas.openxmlformats.org/officeDocument/2006/relationships/hyperlink"/><Relationship Id="rId3" Target="https://pneu.gmora.dev/" TargetMode="External" Type="http://schemas.openxmlformats.org/officeDocument/2006/relationships/hyperlink"/><Relationship Id="rId4" Target="https://pneu.gmora.dev/" TargetMode="External" Type="http://schemas.openxmlformats.org/officeDocument/2006/relationships/hyperlink"/><Relationship Id="rId5" Target="https://pneu.gmora.dev/" TargetMode="External" Type="http://schemas.openxmlformats.org/officeDocument/2006/relationships/hyperlink"/><Relationship Id="rId6" Target="https://pneu.gmora.dev/" TargetMode="External" Type="http://schemas.openxmlformats.org/officeDocument/2006/relationships/hyperlink"/><Relationship Id="rId7" Target="https://pneu.gmora.dev/" TargetMode="External" Type="http://schemas.openxmlformats.org/officeDocument/2006/relationships/hyperlink"/><Relationship Id="rId8" Target="https://pneu.gmora.dev/" TargetMode="External" Type="http://schemas.openxmlformats.org/officeDocument/2006/relationships/hyperlink"/><Relationship Id="rId9" Target="https://pneu.gmora.dev/" TargetMode="External" Type="http://schemas.openxmlformats.org/officeDocument/2006/relationships/hyperlink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https://pneu.gmora.dev/" TargetMode="External" Type="http://schemas.openxmlformats.org/officeDocument/2006/relationships/hyperlink"/><Relationship Id="rId3" Target="https://pneu.gmora.dev/" TargetMode="External" Type="http://schemas.openxmlformats.org/officeDocument/2006/relationships/hyperlink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0"/>
            <a:ext cx="7562850" cy="10696575"/>
          </a:xfrm>
          <a:prstGeom prst="rect">
            <a:avLst/>
          </a:prstGeom>
          <a:solidFill>
            <a:srgbClr val="FFFFFF"/>
          </a:solid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7562850" cy="10696575"/>
            <a:chOff x="0" y="0"/>
            <a:chExt cx="10083800" cy="142621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0083800" cy="14262100"/>
            </a:xfrm>
            <a:custGeom>
              <a:avLst/>
              <a:gdLst/>
              <a:ahLst/>
              <a:cxnLst/>
              <a:rect r="r" b="b" t="t" l="l"/>
              <a:pathLst>
                <a:path h="14262100" w="10083800">
                  <a:moveTo>
                    <a:pt x="0" y="0"/>
                  </a:moveTo>
                  <a:lnTo>
                    <a:pt x="10083800" y="0"/>
                  </a:lnTo>
                  <a:lnTo>
                    <a:pt x="10083800" y="14262100"/>
                  </a:lnTo>
                  <a:lnTo>
                    <a:pt x="0" y="14262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609600" y="762000"/>
            <a:ext cx="495300" cy="495300"/>
            <a:chOff x="0" y="0"/>
            <a:chExt cx="660400" cy="6604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60400" cy="660400"/>
            </a:xfrm>
            <a:custGeom>
              <a:avLst/>
              <a:gdLst/>
              <a:ahLst/>
              <a:cxnLst/>
              <a:rect r="r" b="b" t="t" l="l"/>
              <a:pathLst>
                <a:path h="660400" w="660400">
                  <a:moveTo>
                    <a:pt x="177800" y="0"/>
                  </a:moveTo>
                  <a:lnTo>
                    <a:pt x="482600" y="0"/>
                  </a:lnTo>
                  <a:cubicBezTo>
                    <a:pt x="580771" y="0"/>
                    <a:pt x="660400" y="79629"/>
                    <a:pt x="660400" y="177800"/>
                  </a:cubicBezTo>
                  <a:lnTo>
                    <a:pt x="660400" y="482600"/>
                  </a:lnTo>
                  <a:cubicBezTo>
                    <a:pt x="660400" y="580771"/>
                    <a:pt x="580771" y="660400"/>
                    <a:pt x="482600" y="660400"/>
                  </a:cubicBezTo>
                  <a:lnTo>
                    <a:pt x="177800" y="660400"/>
                  </a:lnTo>
                  <a:cubicBezTo>
                    <a:pt x="79629" y="660400"/>
                    <a:pt x="0" y="580771"/>
                    <a:pt x="0" y="482600"/>
                  </a:cubicBezTo>
                  <a:lnTo>
                    <a:pt x="0" y="177800"/>
                  </a:lnTo>
                  <a:cubicBezTo>
                    <a:pt x="0" y="79629"/>
                    <a:pt x="79629" y="0"/>
                    <a:pt x="177800" y="0"/>
                  </a:cubicBezTo>
                  <a:close/>
                </a:path>
              </a:pathLst>
            </a:custGeom>
            <a:solidFill>
              <a:srgbClr val="FFFFFF">
                <a:alpha val="1569"/>
              </a:srgbClr>
            </a:solidFill>
          </p:spPr>
        </p:sp>
      </p:grpSp>
      <p:sp>
        <p:nvSpPr>
          <p:cNvPr name="TextBox 7" id="7"/>
          <p:cNvSpPr txBox="true"/>
          <p:nvPr/>
        </p:nvSpPr>
        <p:spPr>
          <a:xfrm rot="0">
            <a:off x="1238250" y="809625"/>
            <a:ext cx="1158907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b="true" sz="1500" spc="15">
                <a:solidFill>
                  <a:srgbClr val="FFFFFF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Team GMora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09600" y="5922169"/>
            <a:ext cx="6343650" cy="219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0"/>
              </a:lnSpc>
            </a:pPr>
            <a:r>
              <a:rPr lang="en-US" b="true" sz="900" spc="162">
                <a:solidFill>
                  <a:srgbClr val="9DC4F0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BRAINSTORM 2026 · SEMIFINAL REPORT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09600" y="6350794"/>
            <a:ext cx="6343650" cy="481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95"/>
              </a:lnSpc>
            </a:pPr>
            <a:r>
              <a:rPr lang="en-US" b="true" sz="3900" spc="-78">
                <a:solidFill>
                  <a:srgbClr val="FFFFFF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PneumoScan AI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09600" y="6946964"/>
            <a:ext cx="3019425" cy="1051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95"/>
              </a:lnSpc>
            </a:pPr>
            <a:r>
              <a:rPr lang="en-US" sz="1425">
                <a:solidFill>
                  <a:srgbClr val="CFE1F7"/>
                </a:solidFill>
                <a:latin typeface="Helvetica"/>
                <a:ea typeface="Helvetica"/>
                <a:cs typeface="Helvetica"/>
                <a:sym typeface="Helvetica"/>
              </a:rPr>
              <a:t>Explainable, fail-safe pneumonia screening from chest X-rays — built, validated, and deployed for Sri Lankan primary care.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609600" y="8245983"/>
            <a:ext cx="1524476" cy="285750"/>
            <a:chOff x="0" y="0"/>
            <a:chExt cx="2032635" cy="381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032635" cy="381000"/>
            </a:xfrm>
            <a:custGeom>
              <a:avLst/>
              <a:gdLst/>
              <a:ahLst/>
              <a:cxnLst/>
              <a:rect r="r" b="b" t="t" l="l"/>
              <a:pathLst>
                <a:path h="381000" w="2032635">
                  <a:moveTo>
                    <a:pt x="190500" y="0"/>
                  </a:moveTo>
                  <a:lnTo>
                    <a:pt x="1842135" y="0"/>
                  </a:lnTo>
                  <a:cubicBezTo>
                    <a:pt x="1947291" y="0"/>
                    <a:pt x="2032635" y="85344"/>
                    <a:pt x="2032635" y="190500"/>
                  </a:cubicBezTo>
                  <a:cubicBezTo>
                    <a:pt x="2032635" y="295656"/>
                    <a:pt x="1947291" y="381000"/>
                    <a:pt x="1842135" y="381000"/>
                  </a:cubicBezTo>
                  <a:lnTo>
                    <a:pt x="190500" y="381000"/>
                  </a:lnTo>
                  <a:cubicBezTo>
                    <a:pt x="85344" y="381000"/>
                    <a:pt x="0" y="295656"/>
                    <a:pt x="0" y="190500"/>
                  </a:cubicBezTo>
                  <a:cubicBezTo>
                    <a:pt x="0" y="85344"/>
                    <a:pt x="85344" y="0"/>
                    <a:pt x="190500" y="0"/>
                  </a:cubicBezTo>
                  <a:close/>
                </a:path>
              </a:pathLst>
            </a:custGeom>
            <a:solidFill>
              <a:srgbClr val="FFFFFF">
                <a:alpha val="1961"/>
              </a:srgbClr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2032635" cy="428625"/>
            </a:xfrm>
            <a:prstGeom prst="rect">
              <a:avLst/>
            </a:prstGeom>
          </p:spPr>
          <p:txBody>
            <a:bodyPr anchor="ctr" rtlCol="false" tIns="101600" lIns="101600" bIns="101600" rIns="101600"/>
            <a:lstStyle/>
            <a:p>
              <a:pPr algn="l">
                <a:lnSpc>
                  <a:spcPts val="1350"/>
                </a:lnSpc>
              </a:pPr>
              <a:r>
                <a:rPr lang="en-US" b="true" sz="900">
                  <a:solidFill>
                    <a:srgbClr val="FFFFFF"/>
                  </a:solidFill>
                  <a:latin typeface="Helvetica Bold"/>
                  <a:ea typeface="Helvetica Bold"/>
                  <a:cs typeface="Helvetica Bold"/>
                  <a:sym typeface="Helvetica Bold"/>
                </a:rPr>
                <a:t>Live at pneu.gmora.dev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2210276" y="8245983"/>
            <a:ext cx="1761934" cy="285750"/>
            <a:chOff x="0" y="0"/>
            <a:chExt cx="2349246" cy="381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349246" cy="381000"/>
            </a:xfrm>
            <a:custGeom>
              <a:avLst/>
              <a:gdLst/>
              <a:ahLst/>
              <a:cxnLst/>
              <a:rect r="r" b="b" t="t" l="l"/>
              <a:pathLst>
                <a:path h="381000" w="2349246">
                  <a:moveTo>
                    <a:pt x="190500" y="0"/>
                  </a:moveTo>
                  <a:lnTo>
                    <a:pt x="2158746" y="0"/>
                  </a:lnTo>
                  <a:cubicBezTo>
                    <a:pt x="2263902" y="0"/>
                    <a:pt x="2349246" y="85344"/>
                    <a:pt x="2349246" y="190500"/>
                  </a:cubicBezTo>
                  <a:cubicBezTo>
                    <a:pt x="2349246" y="295656"/>
                    <a:pt x="2263902" y="381000"/>
                    <a:pt x="2158746" y="381000"/>
                  </a:cubicBezTo>
                  <a:lnTo>
                    <a:pt x="190500" y="381000"/>
                  </a:lnTo>
                  <a:cubicBezTo>
                    <a:pt x="85344" y="381000"/>
                    <a:pt x="0" y="295656"/>
                    <a:pt x="0" y="190500"/>
                  </a:cubicBezTo>
                  <a:cubicBezTo>
                    <a:pt x="0" y="85344"/>
                    <a:pt x="85344" y="0"/>
                    <a:pt x="190500" y="0"/>
                  </a:cubicBezTo>
                  <a:close/>
                </a:path>
              </a:pathLst>
            </a:custGeom>
            <a:solidFill>
              <a:srgbClr val="FFFFFF">
                <a:alpha val="1961"/>
              </a:srgbClr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2349246" cy="428625"/>
            </a:xfrm>
            <a:prstGeom prst="rect">
              <a:avLst/>
            </a:prstGeom>
          </p:spPr>
          <p:txBody>
            <a:bodyPr anchor="ctr" rtlCol="false" tIns="101600" lIns="101600" bIns="101600" rIns="101600"/>
            <a:lstStyle/>
            <a:p>
              <a:pPr algn="l">
                <a:lnSpc>
                  <a:spcPts val="1350"/>
                </a:lnSpc>
              </a:pPr>
              <a:r>
                <a:rPr lang="en-US" b="true" sz="900">
                  <a:solidFill>
                    <a:srgbClr val="FFFFFF"/>
                  </a:solidFill>
                  <a:latin typeface="Helvetica Bold"/>
                  <a:ea typeface="Helvetica Bold"/>
                  <a:cs typeface="Helvetica Bold"/>
                  <a:sym typeface="Helvetica Bold"/>
                </a:rPr>
                <a:t>94.2% accuracy · 0.988 AUC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4048411" y="8245983"/>
            <a:ext cx="1441894" cy="285750"/>
            <a:chOff x="0" y="0"/>
            <a:chExt cx="1922526" cy="3810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922526" cy="381000"/>
            </a:xfrm>
            <a:custGeom>
              <a:avLst/>
              <a:gdLst/>
              <a:ahLst/>
              <a:cxnLst/>
              <a:rect r="r" b="b" t="t" l="l"/>
              <a:pathLst>
                <a:path h="381000" w="1922526">
                  <a:moveTo>
                    <a:pt x="190500" y="0"/>
                  </a:moveTo>
                  <a:lnTo>
                    <a:pt x="1732026" y="0"/>
                  </a:lnTo>
                  <a:cubicBezTo>
                    <a:pt x="1837182" y="0"/>
                    <a:pt x="1922526" y="85344"/>
                    <a:pt x="1922526" y="190500"/>
                  </a:cubicBezTo>
                  <a:cubicBezTo>
                    <a:pt x="1922526" y="295656"/>
                    <a:pt x="1837182" y="381000"/>
                    <a:pt x="1732026" y="381000"/>
                  </a:cubicBezTo>
                  <a:lnTo>
                    <a:pt x="190500" y="381000"/>
                  </a:lnTo>
                  <a:cubicBezTo>
                    <a:pt x="85344" y="381000"/>
                    <a:pt x="0" y="295656"/>
                    <a:pt x="0" y="190500"/>
                  </a:cubicBezTo>
                  <a:cubicBezTo>
                    <a:pt x="0" y="85344"/>
                    <a:pt x="85344" y="0"/>
                    <a:pt x="190500" y="0"/>
                  </a:cubicBezTo>
                  <a:close/>
                </a:path>
              </a:pathLst>
            </a:custGeom>
            <a:solidFill>
              <a:srgbClr val="FFFFFF">
                <a:alpha val="1961"/>
              </a:srgbClr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1922526" cy="428625"/>
            </a:xfrm>
            <a:prstGeom prst="rect">
              <a:avLst/>
            </a:prstGeom>
          </p:spPr>
          <p:txBody>
            <a:bodyPr anchor="ctr" rtlCol="false" tIns="101600" lIns="101600" bIns="101600" rIns="101600"/>
            <a:lstStyle/>
            <a:p>
              <a:pPr algn="l">
                <a:lnSpc>
                  <a:spcPts val="1350"/>
                </a:lnSpc>
              </a:pPr>
              <a:r>
                <a:rPr lang="en-US" b="true" sz="900">
                  <a:solidFill>
                    <a:srgbClr val="FFFFFF"/>
                  </a:solidFill>
                  <a:latin typeface="Helvetica Bold"/>
                  <a:ea typeface="Helvetica Bold"/>
                  <a:cs typeface="Helvetica Bold"/>
                  <a:sym typeface="Helvetica Bold"/>
                </a:rPr>
                <a:t>Installable mobile app</a:t>
              </a:r>
            </a:p>
          </p:txBody>
        </p:sp>
      </p:grpSp>
      <p:sp>
        <p:nvSpPr>
          <p:cNvPr name="AutoShape 20" id="20"/>
          <p:cNvSpPr/>
          <p:nvPr/>
        </p:nvSpPr>
        <p:spPr>
          <a:xfrm rot="0">
            <a:off x="609600" y="9065133"/>
            <a:ext cx="6343650" cy="9525"/>
          </a:xfrm>
          <a:prstGeom prst="rect">
            <a:avLst/>
          </a:prstGeom>
          <a:solidFill>
            <a:srgbClr val="FFFFFF">
              <a:alpha val="21961"/>
            </a:srgbClr>
          </a:solidFill>
        </p:spPr>
      </p:sp>
      <p:sp>
        <p:nvSpPr>
          <p:cNvPr name="TextBox 21" id="21"/>
          <p:cNvSpPr txBox="true"/>
          <p:nvPr/>
        </p:nvSpPr>
        <p:spPr>
          <a:xfrm rot="0">
            <a:off x="609600" y="9217533"/>
            <a:ext cx="2009966" cy="2580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57"/>
              </a:lnSpc>
            </a:pPr>
            <a:r>
              <a:rPr lang="en-US" b="true" sz="975">
                <a:solidFill>
                  <a:srgbClr val="FFFFFF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University of Moratuwa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09600" y="9466040"/>
            <a:ext cx="2009966" cy="4685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57"/>
              </a:lnSpc>
            </a:pPr>
            <a:r>
              <a:rPr lang="en-US" sz="975">
                <a:solidFill>
                  <a:srgbClr val="CFE1F7"/>
                </a:solidFill>
                <a:latin typeface="Helvetica"/>
                <a:ea typeface="Helvetica"/>
                <a:cs typeface="Helvetica"/>
                <a:sym typeface="Helvetica"/>
              </a:rPr>
              <a:t>Kusal Pabasara · Pasindu Mihiranga</a:t>
            </a:r>
          </a:p>
          <a:p>
            <a:pPr algn="l">
              <a:lnSpc>
                <a:spcPts val="1657"/>
              </a:lnSpc>
            </a:pPr>
            <a:r>
              <a:rPr lang="en-US" sz="975">
                <a:solidFill>
                  <a:srgbClr val="CFE1F7"/>
                </a:solidFill>
                <a:latin typeface="Helvetica"/>
                <a:ea typeface="Helvetica"/>
                <a:cs typeface="Helvetica"/>
                <a:sym typeface="Helvetica"/>
              </a:rPr>
              <a:t>Thanoj Buddhima · Senuja Dilmith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5195125" y="9544050"/>
            <a:ext cx="1758124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350"/>
              </a:lnSpc>
            </a:pPr>
            <a:r>
              <a:rPr lang="en-US" sz="900">
                <a:solidFill>
                  <a:srgbClr val="9DC4F0"/>
                </a:solidFill>
                <a:latin typeface="Helvetica"/>
                <a:ea typeface="Helvetica"/>
                <a:cs typeface="Helvetica"/>
                <a:sym typeface="Helvetica"/>
              </a:rPr>
              <a:t>Innovative &amp; Affordable Healthcare</a:t>
            </a:r>
          </a:p>
          <a:p>
            <a:pPr algn="r">
              <a:lnSpc>
                <a:spcPts val="1350"/>
              </a:lnSpc>
            </a:pPr>
            <a:r>
              <a:rPr lang="en-US" sz="900">
                <a:solidFill>
                  <a:srgbClr val="9DC4F0"/>
                </a:solidFill>
                <a:latin typeface="Helvetica"/>
                <a:ea typeface="Helvetica"/>
                <a:cs typeface="Helvetica"/>
                <a:sym typeface="Helvetica"/>
              </a:rPr>
              <a:t>Solutions for Local Challenges</a:t>
            </a:r>
          </a:p>
        </p:txBody>
      </p:sp>
      <p:sp>
        <p:nvSpPr>
          <p:cNvPr name="Freeform 24" id="24"/>
          <p:cNvSpPr/>
          <p:nvPr/>
        </p:nvSpPr>
        <p:spPr>
          <a:xfrm flipH="false" flipV="false" rot="0">
            <a:off x="695325" y="847725"/>
            <a:ext cx="323850" cy="323850"/>
          </a:xfrm>
          <a:custGeom>
            <a:avLst/>
            <a:gdLst/>
            <a:ahLst/>
            <a:cxnLst/>
            <a:rect r="r" b="b" t="t" l="l"/>
            <a:pathLst>
              <a:path h="323850" w="323850">
                <a:moveTo>
                  <a:pt x="0" y="0"/>
                </a:moveTo>
                <a:lnTo>
                  <a:pt x="323850" y="0"/>
                </a:lnTo>
                <a:lnTo>
                  <a:pt x="323850" y="323850"/>
                </a:lnTo>
                <a:lnTo>
                  <a:pt x="0" y="32385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0"/>
            <a:ext cx="7562850" cy="10696575"/>
          </a:xfrm>
          <a:prstGeom prst="rect">
            <a:avLst/>
          </a:prstGeom>
          <a:solidFill>
            <a:srgbClr val="FFFFFF"/>
          </a:solidFill>
        </p:spPr>
      </p:sp>
      <p:sp>
        <p:nvSpPr>
          <p:cNvPr name="AutoShape 3" id="3"/>
          <p:cNvSpPr/>
          <p:nvPr/>
        </p:nvSpPr>
        <p:spPr>
          <a:xfrm rot="0">
            <a:off x="571500" y="795338"/>
            <a:ext cx="6419850" cy="19050"/>
          </a:xfrm>
          <a:prstGeom prst="rect">
            <a:avLst/>
          </a:prstGeom>
          <a:solidFill>
            <a:srgbClr val="0066CC"/>
          </a:solidFill>
        </p:spPr>
      </p:sp>
      <p:sp>
        <p:nvSpPr>
          <p:cNvPr name="TextBox 4" id="4"/>
          <p:cNvSpPr txBox="true"/>
          <p:nvPr/>
        </p:nvSpPr>
        <p:spPr>
          <a:xfrm rot="0">
            <a:off x="571500" y="504825"/>
            <a:ext cx="970407" cy="2143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62"/>
              </a:lnSpc>
            </a:pPr>
            <a:r>
              <a:rPr lang="en-US" b="true" sz="975" spc="19">
                <a:solidFill>
                  <a:srgbClr val="0066CC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PneumoScan AI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692235" y="500063"/>
            <a:ext cx="1299115" cy="2047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37"/>
              </a:lnSpc>
            </a:pPr>
            <a:r>
              <a:rPr lang="en-US" sz="825" spc="66">
                <a:solidFill>
                  <a:srgbClr val="6B7A90"/>
                </a:solidFill>
                <a:latin typeface="Helvetica"/>
                <a:ea typeface="Helvetica"/>
                <a:cs typeface="Helvetica"/>
                <a:sym typeface="Helvetica"/>
              </a:rPr>
              <a:t>EXECUTIVE SUMMARY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71500" y="995363"/>
            <a:ext cx="6419850" cy="2047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37"/>
              </a:lnSpc>
            </a:pPr>
            <a:r>
              <a:rPr lang="en-US" b="true" sz="825" spc="115">
                <a:solidFill>
                  <a:srgbClr val="0066CC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AT A GLANCE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71500" y="1190625"/>
            <a:ext cx="6419850" cy="3952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87"/>
              </a:lnSpc>
            </a:pPr>
            <a:r>
              <a:rPr lang="en-US" b="true" sz="1725" spc="-17">
                <a:solidFill>
                  <a:srgbClr val="0A1A2F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From concept to a deployed clinical screening tool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71500" y="1614487"/>
            <a:ext cx="6419850" cy="6691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31"/>
              </a:lnSpc>
            </a:pPr>
            <a:r>
              <a:rPr lang="en-US" sz="1087">
                <a:solidFill>
                  <a:srgbClr val="3F5168"/>
                </a:solidFill>
                <a:latin typeface="Helvetica"/>
                <a:ea typeface="Helvetica"/>
                <a:cs typeface="Helvetica"/>
                <a:sym typeface="Helvetica"/>
              </a:rPr>
              <a:t>Since the initial round, PneumoScan AI has progressed from a proof-of-concept model to a fully working, publicly deployed application — with a substantially stronger, independently validated model and a complete patient-and-clinician workflow.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571500" y="2455069"/>
            <a:ext cx="1533525" cy="845344"/>
            <a:chOff x="0" y="0"/>
            <a:chExt cx="2044700" cy="112712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044700" cy="1127125"/>
            </a:xfrm>
            <a:custGeom>
              <a:avLst/>
              <a:gdLst/>
              <a:ahLst/>
              <a:cxnLst/>
              <a:rect r="r" b="b" t="t" l="l"/>
              <a:pathLst>
                <a:path h="1127125" w="2044700">
                  <a:moveTo>
                    <a:pt x="139700" y="0"/>
                  </a:moveTo>
                  <a:lnTo>
                    <a:pt x="1905000" y="0"/>
                  </a:lnTo>
                  <a:cubicBezTo>
                    <a:pt x="1982216" y="0"/>
                    <a:pt x="2044700" y="62484"/>
                    <a:pt x="2044700" y="139700"/>
                  </a:cubicBezTo>
                  <a:lnTo>
                    <a:pt x="2044700" y="987425"/>
                  </a:lnTo>
                  <a:cubicBezTo>
                    <a:pt x="2044700" y="1064641"/>
                    <a:pt x="1982216" y="1127125"/>
                    <a:pt x="1905000" y="1127125"/>
                  </a:cubicBezTo>
                  <a:lnTo>
                    <a:pt x="139700" y="1127125"/>
                  </a:lnTo>
                  <a:cubicBezTo>
                    <a:pt x="62484" y="1127125"/>
                    <a:pt x="0" y="1064641"/>
                    <a:pt x="0" y="987425"/>
                  </a:cubicBezTo>
                  <a:lnTo>
                    <a:pt x="0" y="139700"/>
                  </a:lnTo>
                  <a:cubicBezTo>
                    <a:pt x="0" y="62484"/>
                    <a:pt x="62484" y="0"/>
                    <a:pt x="139700" y="0"/>
                  </a:cubicBezTo>
                  <a:close/>
                </a:path>
              </a:pathLst>
            </a:custGeom>
            <a:solidFill>
              <a:srgbClr val="FBFCFE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044700" cy="1127125"/>
            </a:xfrm>
            <a:custGeom>
              <a:avLst/>
              <a:gdLst/>
              <a:ahLst/>
              <a:cxnLst/>
              <a:rect r="r" b="b" t="t" l="l"/>
              <a:pathLst>
                <a:path h="1127125" w="2044700">
                  <a:moveTo>
                    <a:pt x="139700" y="0"/>
                  </a:moveTo>
                  <a:lnTo>
                    <a:pt x="1905000" y="0"/>
                  </a:lnTo>
                  <a:cubicBezTo>
                    <a:pt x="1982216" y="0"/>
                    <a:pt x="2044700" y="62484"/>
                    <a:pt x="2044700" y="139700"/>
                  </a:cubicBezTo>
                  <a:lnTo>
                    <a:pt x="2044700" y="987425"/>
                  </a:lnTo>
                  <a:cubicBezTo>
                    <a:pt x="2044700" y="1064641"/>
                    <a:pt x="1982216" y="1127125"/>
                    <a:pt x="1905000" y="1127125"/>
                  </a:cubicBezTo>
                  <a:lnTo>
                    <a:pt x="139700" y="1127125"/>
                  </a:lnTo>
                  <a:cubicBezTo>
                    <a:pt x="62484" y="1127125"/>
                    <a:pt x="0" y="1064641"/>
                    <a:pt x="0" y="987425"/>
                  </a:cubicBezTo>
                  <a:lnTo>
                    <a:pt x="0" y="139700"/>
                  </a:lnTo>
                  <a:cubicBezTo>
                    <a:pt x="0" y="62484"/>
                    <a:pt x="62484" y="0"/>
                    <a:pt x="1397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E2E8F0"/>
              </a:solidFill>
              <a:prstDash val="solid"/>
              <a:miter/>
            </a:ln>
          </p:spPr>
        </p:sp>
      </p:grpSp>
      <p:sp>
        <p:nvSpPr>
          <p:cNvPr name="TextBox 12" id="12"/>
          <p:cNvSpPr txBox="true"/>
          <p:nvPr/>
        </p:nvSpPr>
        <p:spPr>
          <a:xfrm rot="0">
            <a:off x="714375" y="2597944"/>
            <a:ext cx="1247775" cy="20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25"/>
              </a:lnSpc>
            </a:pPr>
            <a:r>
              <a:rPr lang="en-US" b="true" sz="1725" spc="-34">
                <a:solidFill>
                  <a:srgbClr val="0066CC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94.2%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14375" y="2817019"/>
            <a:ext cx="1247775" cy="1881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81"/>
              </a:lnSpc>
            </a:pPr>
            <a:r>
              <a:rPr lang="en-US" b="true" sz="787" spc="31">
                <a:solidFill>
                  <a:srgbClr val="6B7A90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TEST ACCURACY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14375" y="2986088"/>
            <a:ext cx="1247775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25"/>
              </a:lnSpc>
            </a:pPr>
            <a:r>
              <a:rPr lang="en-US" b="true" sz="750">
                <a:solidFill>
                  <a:srgbClr val="059669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▲ from 86.7%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2200275" y="2455069"/>
            <a:ext cx="1533525" cy="845344"/>
            <a:chOff x="0" y="0"/>
            <a:chExt cx="2044700" cy="112712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044700" cy="1127125"/>
            </a:xfrm>
            <a:custGeom>
              <a:avLst/>
              <a:gdLst/>
              <a:ahLst/>
              <a:cxnLst/>
              <a:rect r="r" b="b" t="t" l="l"/>
              <a:pathLst>
                <a:path h="1127125" w="2044700">
                  <a:moveTo>
                    <a:pt x="139700" y="0"/>
                  </a:moveTo>
                  <a:lnTo>
                    <a:pt x="1905000" y="0"/>
                  </a:lnTo>
                  <a:cubicBezTo>
                    <a:pt x="1982216" y="0"/>
                    <a:pt x="2044700" y="62484"/>
                    <a:pt x="2044700" y="139700"/>
                  </a:cubicBezTo>
                  <a:lnTo>
                    <a:pt x="2044700" y="987425"/>
                  </a:lnTo>
                  <a:cubicBezTo>
                    <a:pt x="2044700" y="1064641"/>
                    <a:pt x="1982216" y="1127125"/>
                    <a:pt x="1905000" y="1127125"/>
                  </a:cubicBezTo>
                  <a:lnTo>
                    <a:pt x="139700" y="1127125"/>
                  </a:lnTo>
                  <a:cubicBezTo>
                    <a:pt x="62484" y="1127125"/>
                    <a:pt x="0" y="1064641"/>
                    <a:pt x="0" y="987425"/>
                  </a:cubicBezTo>
                  <a:lnTo>
                    <a:pt x="0" y="139700"/>
                  </a:lnTo>
                  <a:cubicBezTo>
                    <a:pt x="0" y="62484"/>
                    <a:pt x="62484" y="0"/>
                    <a:pt x="139700" y="0"/>
                  </a:cubicBezTo>
                  <a:close/>
                </a:path>
              </a:pathLst>
            </a:custGeom>
            <a:solidFill>
              <a:srgbClr val="FBFCFE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044700" cy="1127125"/>
            </a:xfrm>
            <a:custGeom>
              <a:avLst/>
              <a:gdLst/>
              <a:ahLst/>
              <a:cxnLst/>
              <a:rect r="r" b="b" t="t" l="l"/>
              <a:pathLst>
                <a:path h="1127125" w="2044700">
                  <a:moveTo>
                    <a:pt x="139700" y="0"/>
                  </a:moveTo>
                  <a:lnTo>
                    <a:pt x="1905000" y="0"/>
                  </a:lnTo>
                  <a:cubicBezTo>
                    <a:pt x="1982216" y="0"/>
                    <a:pt x="2044700" y="62484"/>
                    <a:pt x="2044700" y="139700"/>
                  </a:cubicBezTo>
                  <a:lnTo>
                    <a:pt x="2044700" y="987425"/>
                  </a:lnTo>
                  <a:cubicBezTo>
                    <a:pt x="2044700" y="1064641"/>
                    <a:pt x="1982216" y="1127125"/>
                    <a:pt x="1905000" y="1127125"/>
                  </a:cubicBezTo>
                  <a:lnTo>
                    <a:pt x="139700" y="1127125"/>
                  </a:lnTo>
                  <a:cubicBezTo>
                    <a:pt x="62484" y="1127125"/>
                    <a:pt x="0" y="1064641"/>
                    <a:pt x="0" y="987425"/>
                  </a:cubicBezTo>
                  <a:lnTo>
                    <a:pt x="0" y="139700"/>
                  </a:lnTo>
                  <a:cubicBezTo>
                    <a:pt x="0" y="62484"/>
                    <a:pt x="62484" y="0"/>
                    <a:pt x="1397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E2E8F0"/>
              </a:solidFill>
              <a:prstDash val="solid"/>
              <a:miter/>
            </a:ln>
          </p:spPr>
        </p:sp>
      </p:grpSp>
      <p:sp>
        <p:nvSpPr>
          <p:cNvPr name="TextBox 18" id="18"/>
          <p:cNvSpPr txBox="true"/>
          <p:nvPr/>
        </p:nvSpPr>
        <p:spPr>
          <a:xfrm rot="0">
            <a:off x="2343150" y="2597944"/>
            <a:ext cx="1247775" cy="20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25"/>
              </a:lnSpc>
            </a:pPr>
            <a:r>
              <a:rPr lang="en-US" b="true" sz="1725" spc="-34">
                <a:solidFill>
                  <a:srgbClr val="0066CC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0.988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343150" y="2817019"/>
            <a:ext cx="1247775" cy="1881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81"/>
              </a:lnSpc>
            </a:pPr>
            <a:r>
              <a:rPr lang="en-US" b="true" sz="787" spc="31">
                <a:solidFill>
                  <a:srgbClr val="6B7A90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AUC-ROC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2343150" y="2986088"/>
            <a:ext cx="1247775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25"/>
              </a:lnSpc>
            </a:pPr>
            <a:r>
              <a:rPr lang="en-US" b="true" sz="750">
                <a:solidFill>
                  <a:srgbClr val="059669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▲ from 0.943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3829050" y="2455069"/>
            <a:ext cx="1533525" cy="845344"/>
            <a:chOff x="0" y="0"/>
            <a:chExt cx="2044700" cy="1127125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044700" cy="1127125"/>
            </a:xfrm>
            <a:custGeom>
              <a:avLst/>
              <a:gdLst/>
              <a:ahLst/>
              <a:cxnLst/>
              <a:rect r="r" b="b" t="t" l="l"/>
              <a:pathLst>
                <a:path h="1127125" w="2044700">
                  <a:moveTo>
                    <a:pt x="139700" y="0"/>
                  </a:moveTo>
                  <a:lnTo>
                    <a:pt x="1905000" y="0"/>
                  </a:lnTo>
                  <a:cubicBezTo>
                    <a:pt x="1982216" y="0"/>
                    <a:pt x="2044700" y="62484"/>
                    <a:pt x="2044700" y="139700"/>
                  </a:cubicBezTo>
                  <a:lnTo>
                    <a:pt x="2044700" y="987425"/>
                  </a:lnTo>
                  <a:cubicBezTo>
                    <a:pt x="2044700" y="1064641"/>
                    <a:pt x="1982216" y="1127125"/>
                    <a:pt x="1905000" y="1127125"/>
                  </a:cubicBezTo>
                  <a:lnTo>
                    <a:pt x="139700" y="1127125"/>
                  </a:lnTo>
                  <a:cubicBezTo>
                    <a:pt x="62484" y="1127125"/>
                    <a:pt x="0" y="1064641"/>
                    <a:pt x="0" y="987425"/>
                  </a:cubicBezTo>
                  <a:lnTo>
                    <a:pt x="0" y="139700"/>
                  </a:lnTo>
                  <a:cubicBezTo>
                    <a:pt x="0" y="62484"/>
                    <a:pt x="62484" y="0"/>
                    <a:pt x="139700" y="0"/>
                  </a:cubicBezTo>
                  <a:close/>
                </a:path>
              </a:pathLst>
            </a:custGeom>
            <a:solidFill>
              <a:srgbClr val="FBFCFE"/>
            </a:solid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044700" cy="1127125"/>
            </a:xfrm>
            <a:custGeom>
              <a:avLst/>
              <a:gdLst/>
              <a:ahLst/>
              <a:cxnLst/>
              <a:rect r="r" b="b" t="t" l="l"/>
              <a:pathLst>
                <a:path h="1127125" w="2044700">
                  <a:moveTo>
                    <a:pt x="139700" y="0"/>
                  </a:moveTo>
                  <a:lnTo>
                    <a:pt x="1905000" y="0"/>
                  </a:lnTo>
                  <a:cubicBezTo>
                    <a:pt x="1982216" y="0"/>
                    <a:pt x="2044700" y="62484"/>
                    <a:pt x="2044700" y="139700"/>
                  </a:cubicBezTo>
                  <a:lnTo>
                    <a:pt x="2044700" y="987425"/>
                  </a:lnTo>
                  <a:cubicBezTo>
                    <a:pt x="2044700" y="1064641"/>
                    <a:pt x="1982216" y="1127125"/>
                    <a:pt x="1905000" y="1127125"/>
                  </a:cubicBezTo>
                  <a:lnTo>
                    <a:pt x="139700" y="1127125"/>
                  </a:lnTo>
                  <a:cubicBezTo>
                    <a:pt x="62484" y="1127125"/>
                    <a:pt x="0" y="1064641"/>
                    <a:pt x="0" y="987425"/>
                  </a:cubicBezTo>
                  <a:lnTo>
                    <a:pt x="0" y="139700"/>
                  </a:lnTo>
                  <a:cubicBezTo>
                    <a:pt x="0" y="62484"/>
                    <a:pt x="62484" y="0"/>
                    <a:pt x="1397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E2E8F0"/>
              </a:solidFill>
              <a:prstDash val="solid"/>
              <a:miter/>
            </a:ln>
          </p:spPr>
        </p:sp>
      </p:grpSp>
      <p:sp>
        <p:nvSpPr>
          <p:cNvPr name="TextBox 24" id="24"/>
          <p:cNvSpPr txBox="true"/>
          <p:nvPr/>
        </p:nvSpPr>
        <p:spPr>
          <a:xfrm rot="0">
            <a:off x="3971925" y="2597944"/>
            <a:ext cx="1247775" cy="20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25"/>
              </a:lnSpc>
            </a:pPr>
            <a:r>
              <a:rPr lang="en-US" b="true" sz="1725" spc="-34">
                <a:solidFill>
                  <a:srgbClr val="0066CC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94.3%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3971925" y="2817019"/>
            <a:ext cx="1247775" cy="1881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81"/>
              </a:lnSpc>
            </a:pPr>
            <a:r>
              <a:rPr lang="en-US" b="true" sz="787" spc="31">
                <a:solidFill>
                  <a:srgbClr val="6B7A90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SENSITIVITY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3971925" y="2986088"/>
            <a:ext cx="1247775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25"/>
              </a:lnSpc>
            </a:pPr>
            <a:r>
              <a:rPr lang="en-US" b="true" sz="750">
                <a:solidFill>
                  <a:srgbClr val="059669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fail-safe tuned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5457825" y="2455069"/>
            <a:ext cx="1533525" cy="845344"/>
            <a:chOff x="0" y="0"/>
            <a:chExt cx="2044700" cy="1127125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044700" cy="1127125"/>
            </a:xfrm>
            <a:custGeom>
              <a:avLst/>
              <a:gdLst/>
              <a:ahLst/>
              <a:cxnLst/>
              <a:rect r="r" b="b" t="t" l="l"/>
              <a:pathLst>
                <a:path h="1127125" w="2044700">
                  <a:moveTo>
                    <a:pt x="139700" y="0"/>
                  </a:moveTo>
                  <a:lnTo>
                    <a:pt x="1905000" y="0"/>
                  </a:lnTo>
                  <a:cubicBezTo>
                    <a:pt x="1982216" y="0"/>
                    <a:pt x="2044700" y="62484"/>
                    <a:pt x="2044700" y="139700"/>
                  </a:cubicBezTo>
                  <a:lnTo>
                    <a:pt x="2044700" y="987425"/>
                  </a:lnTo>
                  <a:cubicBezTo>
                    <a:pt x="2044700" y="1064641"/>
                    <a:pt x="1982216" y="1127125"/>
                    <a:pt x="1905000" y="1127125"/>
                  </a:cubicBezTo>
                  <a:lnTo>
                    <a:pt x="139700" y="1127125"/>
                  </a:lnTo>
                  <a:cubicBezTo>
                    <a:pt x="62484" y="1127125"/>
                    <a:pt x="0" y="1064641"/>
                    <a:pt x="0" y="987425"/>
                  </a:cubicBezTo>
                  <a:lnTo>
                    <a:pt x="0" y="139700"/>
                  </a:lnTo>
                  <a:cubicBezTo>
                    <a:pt x="0" y="62484"/>
                    <a:pt x="62484" y="0"/>
                    <a:pt x="139700" y="0"/>
                  </a:cubicBezTo>
                  <a:close/>
                </a:path>
              </a:pathLst>
            </a:custGeom>
            <a:solidFill>
              <a:srgbClr val="FBFCFE"/>
            </a:solidFill>
          </p:spPr>
        </p:sp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044700" cy="1127125"/>
            </a:xfrm>
            <a:custGeom>
              <a:avLst/>
              <a:gdLst/>
              <a:ahLst/>
              <a:cxnLst/>
              <a:rect r="r" b="b" t="t" l="l"/>
              <a:pathLst>
                <a:path h="1127125" w="2044700">
                  <a:moveTo>
                    <a:pt x="139700" y="0"/>
                  </a:moveTo>
                  <a:lnTo>
                    <a:pt x="1905000" y="0"/>
                  </a:lnTo>
                  <a:cubicBezTo>
                    <a:pt x="1982216" y="0"/>
                    <a:pt x="2044700" y="62484"/>
                    <a:pt x="2044700" y="139700"/>
                  </a:cubicBezTo>
                  <a:lnTo>
                    <a:pt x="2044700" y="987425"/>
                  </a:lnTo>
                  <a:cubicBezTo>
                    <a:pt x="2044700" y="1064641"/>
                    <a:pt x="1982216" y="1127125"/>
                    <a:pt x="1905000" y="1127125"/>
                  </a:cubicBezTo>
                  <a:lnTo>
                    <a:pt x="139700" y="1127125"/>
                  </a:lnTo>
                  <a:cubicBezTo>
                    <a:pt x="62484" y="1127125"/>
                    <a:pt x="0" y="1064641"/>
                    <a:pt x="0" y="987425"/>
                  </a:cubicBezTo>
                  <a:lnTo>
                    <a:pt x="0" y="139700"/>
                  </a:lnTo>
                  <a:cubicBezTo>
                    <a:pt x="0" y="62484"/>
                    <a:pt x="62484" y="0"/>
                    <a:pt x="1397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E2E8F0"/>
              </a:solidFill>
              <a:prstDash val="solid"/>
              <a:miter/>
            </a:ln>
          </p:spPr>
        </p:sp>
      </p:grpSp>
      <p:sp>
        <p:nvSpPr>
          <p:cNvPr name="TextBox 30" id="30"/>
          <p:cNvSpPr txBox="true"/>
          <p:nvPr/>
        </p:nvSpPr>
        <p:spPr>
          <a:xfrm rot="0">
            <a:off x="5600700" y="2597944"/>
            <a:ext cx="1247775" cy="20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25"/>
              </a:lnSpc>
            </a:pPr>
            <a:r>
              <a:rPr lang="en-US" b="true" sz="1725" spc="-34">
                <a:solidFill>
                  <a:srgbClr val="0066CC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23,405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5600700" y="2817019"/>
            <a:ext cx="1247775" cy="1881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81"/>
              </a:lnSpc>
            </a:pPr>
            <a:r>
              <a:rPr lang="en-US" b="true" sz="787" spc="31">
                <a:solidFill>
                  <a:srgbClr val="6B7A90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TRAINING IMAGES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5600700" y="2986088"/>
            <a:ext cx="1247775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25"/>
              </a:lnSpc>
            </a:pPr>
            <a:r>
              <a:rPr lang="en-US" b="true" sz="750">
                <a:solidFill>
                  <a:srgbClr val="059669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peds + adult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571500" y="3433762"/>
            <a:ext cx="6419850" cy="2524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7"/>
              </a:lnSpc>
            </a:pPr>
            <a:r>
              <a:rPr lang="en-US" b="true" sz="1125" spc="-11">
                <a:solidFill>
                  <a:srgbClr val="003D7A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What has been achieved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571500" y="3705225"/>
            <a:ext cx="6419850" cy="161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71450" indent="-85725" lvl="1">
              <a:lnSpc>
                <a:spcPts val="1406"/>
              </a:lnSpc>
              <a:buFont typeface="Arial"/>
              <a:buChar char="•"/>
            </a:pPr>
            <a:r>
              <a:rPr lang="en-US" b="true" sz="937">
                <a:solidFill>
                  <a:srgbClr val="0A1A2F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A live, installable app</a:t>
            </a:r>
            <a:r>
              <a:rPr lang="en-US" sz="937">
                <a:solidFill>
                  <a:srgbClr val="3F5168"/>
                </a:solidFill>
                <a:latin typeface="Helvetica"/>
                <a:ea typeface="Helvetica"/>
                <a:cs typeface="Helvetica"/>
                <a:sym typeface="Helvetica"/>
              </a:rPr>
              <a:t> at </a:t>
            </a:r>
            <a:r>
              <a:rPr lang="en-US" sz="937" u="sng">
                <a:solidFill>
                  <a:srgbClr val="0066CC"/>
                </a:solidFill>
                <a:latin typeface="Helvetica"/>
                <a:ea typeface="Helvetica"/>
                <a:cs typeface="Helvetica"/>
                <a:sym typeface="Helvetica"/>
                <a:hlinkClick r:id="rId2" tooltip="https://pneu.gmora.dev/"/>
              </a:rPr>
              <a:t>pneu.gmora.dev</a:t>
            </a:r>
            <a:r>
              <a:rPr lang="en-US" sz="937">
                <a:solidFill>
                  <a:srgbClr val="3F5168"/>
                </a:solidFill>
                <a:latin typeface="Helvetica"/>
                <a:ea typeface="Helvetica"/>
                <a:cs typeface="Helvetica"/>
                <a:sym typeface="Helvetica"/>
                <a:hlinkClick r:id="rId3" tooltip="https://pneu.gmora.dev/"/>
              </a:rPr>
              <a:t> — served over HTTPS, installable to a phone home screen (PWA), with in-browser camera capture and file upload.</a:t>
            </a:r>
          </a:p>
          <a:p>
            <a:pPr algn="l" marL="171450" indent="-85725" lvl="1">
              <a:lnSpc>
                <a:spcPts val="1406"/>
              </a:lnSpc>
              <a:buFont typeface="Arial"/>
              <a:buChar char="•"/>
            </a:pPr>
            <a:r>
              <a:rPr lang="en-US" b="true" sz="937">
                <a:solidFill>
                  <a:srgbClr val="0A1A2F"/>
                </a:solidFill>
                <a:latin typeface="Helvetica Bold"/>
                <a:ea typeface="Helvetica Bold"/>
                <a:cs typeface="Helvetica Bold"/>
                <a:sym typeface="Helvetica Bold"/>
                <a:hlinkClick r:id="rId4" tooltip="https://pneu.gmora.dev/"/>
              </a:rPr>
              <a:t>A validated, generalised model</a:t>
            </a:r>
            <a:r>
              <a:rPr lang="en-US" sz="937">
                <a:solidFill>
                  <a:srgbClr val="3F5168"/>
                </a:solidFill>
                <a:latin typeface="Helvetica"/>
                <a:ea typeface="Helvetica"/>
                <a:cs typeface="Helvetica"/>
                <a:sym typeface="Helvetica"/>
                <a:hlinkClick r:id="rId5" tooltip="https://pneu.gmora.dev/"/>
              </a:rPr>
              <a:t> — retrained on a combined </a:t>
            </a:r>
            <a:r>
              <a:rPr lang="en-US" b="true" sz="937">
                <a:solidFill>
                  <a:srgbClr val="0A1A2F"/>
                </a:solidFill>
                <a:latin typeface="Helvetica Bold"/>
                <a:ea typeface="Helvetica Bold"/>
                <a:cs typeface="Helvetica Bold"/>
                <a:sym typeface="Helvetica Bold"/>
                <a:hlinkClick r:id="rId6" tooltip="https://pneu.gmora.dev/"/>
              </a:rPr>
              <a:t>pediatric + adult</a:t>
            </a:r>
            <a:r>
              <a:rPr lang="en-US" sz="937">
                <a:solidFill>
                  <a:srgbClr val="3F5168"/>
                </a:solidFill>
                <a:latin typeface="Helvetica"/>
                <a:ea typeface="Helvetica"/>
                <a:cs typeface="Helvetica"/>
                <a:sym typeface="Helvetica"/>
                <a:hlinkClick r:id="rId7" tooltip="https://pneu.gmora.dev/"/>
              </a:rPr>
              <a:t> corpus (23,405 images) with dedicated phone-photo robustness, verified by 5-fold cross-validation.</a:t>
            </a:r>
          </a:p>
          <a:p>
            <a:pPr algn="l" marL="171450" indent="-85725" lvl="1">
              <a:lnSpc>
                <a:spcPts val="1406"/>
              </a:lnSpc>
              <a:buFont typeface="Arial"/>
              <a:buChar char="•"/>
            </a:pPr>
            <a:r>
              <a:rPr lang="en-US" b="true" sz="937">
                <a:solidFill>
                  <a:srgbClr val="0A1A2F"/>
                </a:solidFill>
                <a:latin typeface="Helvetica Bold"/>
                <a:ea typeface="Helvetica Bold"/>
                <a:cs typeface="Helvetica Bold"/>
                <a:sym typeface="Helvetica Bold"/>
                <a:hlinkClick r:id="rId8" tooltip="https://pneu.gmora.dev/"/>
              </a:rPr>
              <a:t>A fail-safe clinical design</a:t>
            </a:r>
            <a:r>
              <a:rPr lang="en-US" sz="937">
                <a:solidFill>
                  <a:srgbClr val="3F5168"/>
                </a:solidFill>
                <a:latin typeface="Helvetica"/>
                <a:ea typeface="Helvetica"/>
                <a:cs typeface="Helvetica"/>
                <a:sym typeface="Helvetica"/>
                <a:hlinkClick r:id="rId9" tooltip="https://pneu.gmora.dev/"/>
              </a:rPr>
              <a:t> — a sensitivity-first decision threshold, an image-quality gatekeeper, calibrated "uncertain" handling, and Grad-CAM explainability on every prediction.</a:t>
            </a:r>
          </a:p>
          <a:p>
            <a:pPr algn="l" marL="171450" indent="-85725" lvl="1">
              <a:lnSpc>
                <a:spcPts val="1406"/>
              </a:lnSpc>
              <a:buFont typeface="Arial"/>
              <a:buChar char="•"/>
            </a:pPr>
            <a:r>
              <a:rPr lang="en-US" b="true" sz="937">
                <a:solidFill>
                  <a:srgbClr val="0A1A2F"/>
                </a:solidFill>
                <a:latin typeface="Helvetica Bold"/>
                <a:ea typeface="Helvetica Bold"/>
                <a:cs typeface="Helvetica Bold"/>
                <a:sym typeface="Helvetica Bold"/>
                <a:hlinkClick r:id="rId10" tooltip="https://pneu.gmora.dev/"/>
              </a:rPr>
              <a:t>Two audiences, one engine</a:t>
            </a:r>
            <a:r>
              <a:rPr lang="en-US" sz="937">
                <a:solidFill>
                  <a:srgbClr val="3F5168"/>
                </a:solidFill>
                <a:latin typeface="Helvetica"/>
                <a:ea typeface="Helvetica"/>
                <a:cs typeface="Helvetica"/>
                <a:sym typeface="Helvetica"/>
                <a:hlinkClick r:id="rId11" tooltip="https://pneu.gmora.dev/"/>
              </a:rPr>
              <a:t> — tuned plain-language guidance for patients/parents and a full technical read-out for clinicians.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571500" y="5419725"/>
            <a:ext cx="6419850" cy="736378"/>
            <a:chOff x="0" y="0"/>
            <a:chExt cx="8559800" cy="981837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8559800" cy="981837"/>
            </a:xfrm>
            <a:custGeom>
              <a:avLst/>
              <a:gdLst/>
              <a:ahLst/>
              <a:cxnLst/>
              <a:rect r="r" b="b" t="t" l="l"/>
              <a:pathLst>
                <a:path h="981837" w="8559800">
                  <a:moveTo>
                    <a:pt x="0" y="0"/>
                  </a:moveTo>
                  <a:lnTo>
                    <a:pt x="8458200" y="0"/>
                  </a:lnTo>
                  <a:cubicBezTo>
                    <a:pt x="8514334" y="0"/>
                    <a:pt x="8559800" y="45466"/>
                    <a:pt x="8559800" y="101600"/>
                  </a:cubicBezTo>
                  <a:lnTo>
                    <a:pt x="8559800" y="880237"/>
                  </a:lnTo>
                  <a:cubicBezTo>
                    <a:pt x="8559800" y="936371"/>
                    <a:pt x="8514334" y="981837"/>
                    <a:pt x="8458200" y="981837"/>
                  </a:cubicBezTo>
                  <a:lnTo>
                    <a:pt x="0" y="98183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7F6F0"/>
            </a:solidFill>
          </p:spPr>
        </p:sp>
      </p:grpSp>
      <p:sp>
        <p:nvSpPr>
          <p:cNvPr name="AutoShape 37" id="37"/>
          <p:cNvSpPr/>
          <p:nvPr/>
        </p:nvSpPr>
        <p:spPr>
          <a:xfrm rot="0">
            <a:off x="571500" y="5419725"/>
            <a:ext cx="38100" cy="736378"/>
          </a:xfrm>
          <a:prstGeom prst="rect">
            <a:avLst/>
          </a:prstGeom>
          <a:solidFill>
            <a:srgbClr val="059669"/>
          </a:solidFill>
        </p:spPr>
      </p:sp>
      <p:sp>
        <p:nvSpPr>
          <p:cNvPr name="TextBox 38" id="38"/>
          <p:cNvSpPr txBox="true"/>
          <p:nvPr/>
        </p:nvSpPr>
        <p:spPr>
          <a:xfrm rot="0">
            <a:off x="571500" y="5381625"/>
            <a:ext cx="6419850" cy="7744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83"/>
              </a:lnSpc>
            </a:pPr>
            <a:r>
              <a:rPr lang="en-US" b="true" sz="922">
                <a:solidFill>
                  <a:srgbClr val="0A1A2F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Positive result, verified:</a:t>
            </a:r>
            <a:r>
              <a:rPr lang="en-US" sz="922">
                <a:solidFill>
                  <a:srgbClr val="04563D"/>
                </a:solidFill>
                <a:latin typeface="Helvetica"/>
                <a:ea typeface="Helvetica"/>
                <a:cs typeface="Helvetica"/>
                <a:sym typeface="Helvetica"/>
              </a:rPr>
              <a:t> On a real phone photo of an adult pneumonia X-ray from a Moratuwa clinic, the system correctly returns "Signs of pneumonia"; on a healthy adult phone X-ray it returns "No clear signs" — the two cases the earlier pediatric-only model could not handle.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571500" y="6289453"/>
            <a:ext cx="6419850" cy="2524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7"/>
              </a:lnSpc>
            </a:pPr>
            <a:r>
              <a:rPr lang="en-US" b="true" sz="1125" spc="-11">
                <a:solidFill>
                  <a:srgbClr val="003D7A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How this report is organised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571500" y="6560915"/>
            <a:ext cx="6419850" cy="773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28"/>
              </a:lnSpc>
            </a:pPr>
            <a:r>
              <a:rPr lang="en-US" sz="952">
                <a:solidFill>
                  <a:srgbClr val="3F5168"/>
                </a:solidFill>
                <a:latin typeface="Helvetica"/>
                <a:ea typeface="Helvetica"/>
                <a:cs typeface="Helvetica"/>
                <a:sym typeface="Helvetica"/>
              </a:rPr>
              <a:t>Section 1 frames the problem and local need. Section 2 describes the deployed solution and how it works. Section 3 presents the technical implementation, model, and validated results. Section 4 reviews the literature and background research. Sections 5–8 address feasibility, regulatory compliance and IP, data security, and ethics. Sections 9–10 cover impact, sustainability, cost-effectiveness, and the roadmap.</a:t>
            </a:r>
          </a:p>
        </p:txBody>
      </p:sp>
      <p:sp>
        <p:nvSpPr>
          <p:cNvPr name="AutoShape 41" id="41"/>
          <p:cNvSpPr/>
          <p:nvPr/>
        </p:nvSpPr>
        <p:spPr>
          <a:xfrm rot="0">
            <a:off x="571500" y="10213181"/>
            <a:ext cx="6419850" cy="9525"/>
          </a:xfrm>
          <a:prstGeom prst="rect">
            <a:avLst/>
          </a:prstGeom>
          <a:solidFill>
            <a:srgbClr val="E2E8F0"/>
          </a:solidFill>
        </p:spPr>
      </p:sp>
      <p:sp>
        <p:nvSpPr>
          <p:cNvPr name="TextBox 42" id="42"/>
          <p:cNvSpPr txBox="true"/>
          <p:nvPr/>
        </p:nvSpPr>
        <p:spPr>
          <a:xfrm rot="0">
            <a:off x="571500" y="10260806"/>
            <a:ext cx="1684115" cy="1881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81"/>
              </a:lnSpc>
            </a:pPr>
            <a:r>
              <a:rPr lang="en-US" sz="787">
                <a:solidFill>
                  <a:srgbClr val="6B7A90"/>
                </a:solidFill>
                <a:latin typeface="Helvetica"/>
                <a:ea typeface="Helvetica"/>
                <a:cs typeface="Helvetica"/>
                <a:sym typeface="Helvetica"/>
              </a:rPr>
              <a:t>Team GMora · University of Moratuwa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5757291" y="10260806"/>
            <a:ext cx="1234059" cy="1881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81"/>
              </a:lnSpc>
            </a:pPr>
            <a:r>
              <a:rPr lang="en-US" sz="787">
                <a:solidFill>
                  <a:srgbClr val="6B7A90"/>
                </a:solidFill>
                <a:latin typeface="Helvetica"/>
                <a:ea typeface="Helvetica"/>
                <a:cs typeface="Helvetica"/>
                <a:sym typeface="Helvetica"/>
              </a:rPr>
              <a:t>Brainstorm 2026 · Semifinal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0"/>
            <a:ext cx="7562850" cy="10696575"/>
          </a:xfrm>
          <a:prstGeom prst="rect">
            <a:avLst/>
          </a:prstGeom>
          <a:solidFill>
            <a:srgbClr val="FFFFFF"/>
          </a:solidFill>
        </p:spPr>
      </p:sp>
      <p:sp>
        <p:nvSpPr>
          <p:cNvPr name="AutoShape 3" id="3"/>
          <p:cNvSpPr/>
          <p:nvPr/>
        </p:nvSpPr>
        <p:spPr>
          <a:xfrm rot="0">
            <a:off x="571500" y="795338"/>
            <a:ext cx="6419850" cy="19050"/>
          </a:xfrm>
          <a:prstGeom prst="rect">
            <a:avLst/>
          </a:prstGeom>
          <a:solidFill>
            <a:srgbClr val="0066CC"/>
          </a:solidFill>
        </p:spPr>
      </p:sp>
      <p:sp>
        <p:nvSpPr>
          <p:cNvPr name="TextBox 4" id="4"/>
          <p:cNvSpPr txBox="true"/>
          <p:nvPr/>
        </p:nvSpPr>
        <p:spPr>
          <a:xfrm rot="0">
            <a:off x="571500" y="504825"/>
            <a:ext cx="970407" cy="2143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62"/>
              </a:lnSpc>
            </a:pPr>
            <a:r>
              <a:rPr lang="en-US" b="true" sz="975" spc="19">
                <a:solidFill>
                  <a:srgbClr val="0066CC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PneumoScan AI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403247" y="500063"/>
            <a:ext cx="1588103" cy="2047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37"/>
              </a:lnSpc>
            </a:pPr>
            <a:r>
              <a:rPr lang="en-US" sz="825" spc="66">
                <a:solidFill>
                  <a:srgbClr val="6B7A90"/>
                </a:solidFill>
                <a:latin typeface="Helvetica"/>
                <a:ea typeface="Helvetica"/>
                <a:cs typeface="Helvetica"/>
                <a:sym typeface="Helvetica"/>
              </a:rPr>
              <a:t>SECTION 1 · THE PROBLEM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71500" y="995363"/>
            <a:ext cx="6419850" cy="2047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37"/>
              </a:lnSpc>
            </a:pPr>
            <a:r>
              <a:rPr lang="en-US" b="true" sz="825" spc="115">
                <a:solidFill>
                  <a:srgbClr val="0066CC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SECTION 1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71500" y="1190625"/>
            <a:ext cx="6419850" cy="3952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87"/>
              </a:lnSpc>
            </a:pPr>
            <a:r>
              <a:rPr lang="en-US" b="true" sz="1725" spc="-17">
                <a:solidFill>
                  <a:srgbClr val="0066CC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1.</a:t>
            </a:r>
            <a:r>
              <a:rPr lang="en-US" b="true" sz="1725" spc="-17">
                <a:solidFill>
                  <a:srgbClr val="0A1A2F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 The problem and why it matters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71500" y="1614487"/>
            <a:ext cx="6419850" cy="4619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31"/>
              </a:lnSpc>
            </a:pPr>
            <a:r>
              <a:rPr lang="en-US" sz="1087">
                <a:solidFill>
                  <a:srgbClr val="3F5168"/>
                </a:solidFill>
                <a:latin typeface="Helvetica"/>
                <a:ea typeface="Helvetica"/>
                <a:cs typeface="Helvetica"/>
                <a:sym typeface="Helvetica"/>
              </a:rPr>
              <a:t>Pneumonia is a leading cause of mortality worldwide, and in Sri Lanka timely diagnosis is blocked by a critical shortage of radiologists — especially in rural and district facilities.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71500" y="2200275"/>
            <a:ext cx="6419850" cy="2262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6"/>
              </a:lnSpc>
            </a:pPr>
            <a:r>
              <a:rPr lang="en-US" b="true" sz="937" spc="46">
                <a:solidFill>
                  <a:srgbClr val="3F5168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GLOBAL &amp; LOCAL BURDEN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71500" y="2436019"/>
            <a:ext cx="6419850" cy="13096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71450" indent="-85725" lvl="1">
              <a:lnSpc>
                <a:spcPts val="1406"/>
              </a:lnSpc>
              <a:buFont typeface="Arial"/>
              <a:buChar char="•"/>
            </a:pPr>
            <a:r>
              <a:rPr lang="en-US" b="true" sz="937">
                <a:solidFill>
                  <a:srgbClr val="0A1A2F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~450 million</a:t>
            </a:r>
            <a:r>
              <a:rPr lang="en-US" sz="937">
                <a:solidFill>
                  <a:srgbClr val="3F5168"/>
                </a:solidFill>
                <a:latin typeface="Helvetica"/>
                <a:ea typeface="Helvetica"/>
                <a:cs typeface="Helvetica"/>
                <a:sym typeface="Helvetica"/>
              </a:rPr>
              <a:t> pneumonia cases occur globally each year (WHO).</a:t>
            </a:r>
          </a:p>
          <a:p>
            <a:pPr algn="l" marL="171450" indent="-85725" lvl="1">
              <a:lnSpc>
                <a:spcPts val="1406"/>
              </a:lnSpc>
              <a:buFont typeface="Arial"/>
              <a:buChar char="•"/>
            </a:pPr>
            <a:r>
              <a:rPr lang="en-US" b="true" sz="937">
                <a:solidFill>
                  <a:srgbClr val="0A1A2F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~2.5 million</a:t>
            </a:r>
            <a:r>
              <a:rPr lang="en-US" sz="937">
                <a:solidFill>
                  <a:srgbClr val="3F5168"/>
                </a:solidFill>
                <a:latin typeface="Helvetica"/>
                <a:ea typeface="Helvetica"/>
                <a:cs typeface="Helvetica"/>
                <a:sym typeface="Helvetica"/>
              </a:rPr>
              <a:t> deaths annually — the leading infectious killer of children under five.</a:t>
            </a:r>
          </a:p>
          <a:p>
            <a:pPr algn="l" marL="171450" indent="-85725" lvl="1">
              <a:lnSpc>
                <a:spcPts val="1406"/>
              </a:lnSpc>
              <a:buFont typeface="Arial"/>
              <a:buChar char="•"/>
            </a:pPr>
            <a:r>
              <a:rPr lang="en-US" sz="937">
                <a:solidFill>
                  <a:srgbClr val="3F5168"/>
                </a:solidFill>
                <a:latin typeface="Helvetica"/>
                <a:ea typeface="Helvetica"/>
                <a:cs typeface="Helvetica"/>
                <a:sym typeface="Helvetica"/>
              </a:rPr>
              <a:t>Pneumonia accounts for roughly </a:t>
            </a:r>
            <a:r>
              <a:rPr lang="en-US" b="true" sz="937">
                <a:solidFill>
                  <a:srgbClr val="0A1A2F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15%</a:t>
            </a:r>
            <a:r>
              <a:rPr lang="en-US" sz="937">
                <a:solidFill>
                  <a:srgbClr val="3F5168"/>
                </a:solidFill>
                <a:latin typeface="Helvetica"/>
                <a:ea typeface="Helvetica"/>
                <a:cs typeface="Helvetica"/>
                <a:sym typeface="Helvetica"/>
              </a:rPr>
              <a:t> of all deaths in children under five.</a:t>
            </a:r>
          </a:p>
          <a:p>
            <a:pPr algn="l" marL="171450" indent="-85725" lvl="1">
              <a:lnSpc>
                <a:spcPts val="1406"/>
              </a:lnSpc>
              <a:buFont typeface="Arial"/>
              <a:buChar char="•"/>
            </a:pPr>
            <a:r>
              <a:rPr lang="en-US" sz="937">
                <a:solidFill>
                  <a:srgbClr val="3F5168"/>
                </a:solidFill>
                <a:latin typeface="Helvetica"/>
                <a:ea typeface="Helvetica"/>
                <a:cs typeface="Helvetica"/>
                <a:sym typeface="Helvetica"/>
              </a:rPr>
              <a:t>In Sri Lanka, respiratory infections are among the top causes of hospital admission; rural centres face diagnostic delays of </a:t>
            </a:r>
            <a:r>
              <a:rPr lang="en-US" b="true" sz="937">
                <a:solidFill>
                  <a:srgbClr val="0A1A2F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24–72 hours</a:t>
            </a:r>
            <a:r>
              <a:rPr lang="en-US" sz="937">
                <a:solidFill>
                  <a:srgbClr val="3F5168"/>
                </a:solidFill>
                <a:latin typeface="Helvetica"/>
                <a:ea typeface="Helvetica"/>
                <a:cs typeface="Helvetica"/>
                <a:sym typeface="Helvetica"/>
              </a:rPr>
              <a:t> awaiting radiologist review.</a:t>
            </a:r>
          </a:p>
          <a:p>
            <a:pPr algn="l" marL="171450" indent="-85725" lvl="1">
              <a:lnSpc>
                <a:spcPts val="1406"/>
              </a:lnSpc>
              <a:buFont typeface="Arial"/>
              <a:buChar char="•"/>
            </a:pPr>
            <a:r>
              <a:rPr lang="en-US" sz="937">
                <a:solidFill>
                  <a:srgbClr val="3F5168"/>
                </a:solidFill>
                <a:latin typeface="Helvetica"/>
                <a:ea typeface="Helvetica"/>
                <a:cs typeface="Helvetica"/>
                <a:sym typeface="Helvetica"/>
              </a:rPr>
              <a:t>Radiology is rarely available around the clock, leaving nights and weekends inadequately covered.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71500" y="3831431"/>
            <a:ext cx="6419850" cy="2262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6"/>
              </a:lnSpc>
            </a:pPr>
            <a:r>
              <a:rPr lang="en-US" b="true" sz="937" spc="46">
                <a:solidFill>
                  <a:srgbClr val="3F5168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UNMET CLINICAL NEEDS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571500" y="4105275"/>
            <a:ext cx="3133725" cy="890588"/>
            <a:chOff x="0" y="0"/>
            <a:chExt cx="4178300" cy="118745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178300" cy="1187450"/>
            </a:xfrm>
            <a:custGeom>
              <a:avLst/>
              <a:gdLst/>
              <a:ahLst/>
              <a:cxnLst/>
              <a:rect r="r" b="b" t="t" l="l"/>
              <a:pathLst>
                <a:path h="1187450" w="4178300">
                  <a:moveTo>
                    <a:pt x="152400" y="0"/>
                  </a:moveTo>
                  <a:lnTo>
                    <a:pt x="4025900" y="0"/>
                  </a:lnTo>
                  <a:cubicBezTo>
                    <a:pt x="4110101" y="0"/>
                    <a:pt x="4178300" y="68199"/>
                    <a:pt x="4178300" y="152400"/>
                  </a:cubicBezTo>
                  <a:lnTo>
                    <a:pt x="4178300" y="1035050"/>
                  </a:lnTo>
                  <a:cubicBezTo>
                    <a:pt x="4178300" y="1119251"/>
                    <a:pt x="4110101" y="1187450"/>
                    <a:pt x="4025900" y="1187450"/>
                  </a:cubicBezTo>
                  <a:lnTo>
                    <a:pt x="152400" y="1187450"/>
                  </a:lnTo>
                  <a:cubicBezTo>
                    <a:pt x="68199" y="1187450"/>
                    <a:pt x="0" y="1119251"/>
                    <a:pt x="0" y="1035050"/>
                  </a:cubicBezTo>
                  <a:lnTo>
                    <a:pt x="0" y="152400"/>
                  </a:lnTo>
                  <a:cubicBezTo>
                    <a:pt x="0" y="68199"/>
                    <a:pt x="68199" y="0"/>
                    <a:pt x="152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178300" cy="1187450"/>
            </a:xfrm>
            <a:custGeom>
              <a:avLst/>
              <a:gdLst/>
              <a:ahLst/>
              <a:cxnLst/>
              <a:rect r="r" b="b" t="t" l="l"/>
              <a:pathLst>
                <a:path h="1187450" w="4178300">
                  <a:moveTo>
                    <a:pt x="152400" y="0"/>
                  </a:moveTo>
                  <a:lnTo>
                    <a:pt x="4025900" y="0"/>
                  </a:lnTo>
                  <a:cubicBezTo>
                    <a:pt x="4110101" y="0"/>
                    <a:pt x="4178300" y="68199"/>
                    <a:pt x="4178300" y="152400"/>
                  </a:cubicBezTo>
                  <a:lnTo>
                    <a:pt x="4178300" y="1035050"/>
                  </a:lnTo>
                  <a:cubicBezTo>
                    <a:pt x="4178300" y="1119251"/>
                    <a:pt x="4110101" y="1187450"/>
                    <a:pt x="4025900" y="1187450"/>
                  </a:cubicBezTo>
                  <a:lnTo>
                    <a:pt x="152400" y="1187450"/>
                  </a:lnTo>
                  <a:cubicBezTo>
                    <a:pt x="68199" y="1187450"/>
                    <a:pt x="0" y="1119251"/>
                    <a:pt x="0" y="1035050"/>
                  </a:cubicBezTo>
                  <a:lnTo>
                    <a:pt x="0" y="152400"/>
                  </a:lnTo>
                  <a:cubicBezTo>
                    <a:pt x="0" y="68199"/>
                    <a:pt x="68199" y="0"/>
                    <a:pt x="152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E2E8F0"/>
              </a:solidFill>
              <a:prstDash val="solid"/>
              <a:miter/>
            </a:ln>
          </p:spPr>
        </p:sp>
      </p:grpSp>
      <p:sp>
        <p:nvSpPr>
          <p:cNvPr name="TextBox 15" id="15"/>
          <p:cNvSpPr txBox="true"/>
          <p:nvPr/>
        </p:nvSpPr>
        <p:spPr>
          <a:xfrm rot="0">
            <a:off x="733425" y="4229100"/>
            <a:ext cx="2809875" cy="2143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62"/>
              </a:lnSpc>
            </a:pPr>
            <a:r>
              <a:rPr lang="en-US" b="true" sz="975" spc="-9">
                <a:solidFill>
                  <a:srgbClr val="003D7A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Radiologist shortage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33425" y="4452937"/>
            <a:ext cx="2809875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0"/>
              </a:lnSpc>
            </a:pPr>
            <a:r>
              <a:rPr lang="en-US" sz="900">
                <a:solidFill>
                  <a:srgbClr val="3F5168"/>
                </a:solidFill>
                <a:latin typeface="Helvetica"/>
                <a:ea typeface="Helvetica"/>
                <a:cs typeface="Helvetica"/>
                <a:sym typeface="Helvetica"/>
              </a:rPr>
              <a:t>Chest X-rays go unread or delayed in rural Sri Lanka where trained radiologists are scarce.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3857625" y="4105275"/>
            <a:ext cx="3133725" cy="890588"/>
            <a:chOff x="0" y="0"/>
            <a:chExt cx="4178300" cy="118745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178300" cy="1187450"/>
            </a:xfrm>
            <a:custGeom>
              <a:avLst/>
              <a:gdLst/>
              <a:ahLst/>
              <a:cxnLst/>
              <a:rect r="r" b="b" t="t" l="l"/>
              <a:pathLst>
                <a:path h="1187450" w="4178300">
                  <a:moveTo>
                    <a:pt x="152400" y="0"/>
                  </a:moveTo>
                  <a:lnTo>
                    <a:pt x="4025900" y="0"/>
                  </a:lnTo>
                  <a:cubicBezTo>
                    <a:pt x="4110101" y="0"/>
                    <a:pt x="4178300" y="68199"/>
                    <a:pt x="4178300" y="152400"/>
                  </a:cubicBezTo>
                  <a:lnTo>
                    <a:pt x="4178300" y="1035050"/>
                  </a:lnTo>
                  <a:cubicBezTo>
                    <a:pt x="4178300" y="1119251"/>
                    <a:pt x="4110101" y="1187450"/>
                    <a:pt x="4025900" y="1187450"/>
                  </a:cubicBezTo>
                  <a:lnTo>
                    <a:pt x="152400" y="1187450"/>
                  </a:lnTo>
                  <a:cubicBezTo>
                    <a:pt x="68199" y="1187450"/>
                    <a:pt x="0" y="1119251"/>
                    <a:pt x="0" y="1035050"/>
                  </a:cubicBezTo>
                  <a:lnTo>
                    <a:pt x="0" y="152400"/>
                  </a:lnTo>
                  <a:cubicBezTo>
                    <a:pt x="0" y="68199"/>
                    <a:pt x="68199" y="0"/>
                    <a:pt x="152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178300" cy="1187450"/>
            </a:xfrm>
            <a:custGeom>
              <a:avLst/>
              <a:gdLst/>
              <a:ahLst/>
              <a:cxnLst/>
              <a:rect r="r" b="b" t="t" l="l"/>
              <a:pathLst>
                <a:path h="1187450" w="4178300">
                  <a:moveTo>
                    <a:pt x="152400" y="0"/>
                  </a:moveTo>
                  <a:lnTo>
                    <a:pt x="4025900" y="0"/>
                  </a:lnTo>
                  <a:cubicBezTo>
                    <a:pt x="4110101" y="0"/>
                    <a:pt x="4178300" y="68199"/>
                    <a:pt x="4178300" y="152400"/>
                  </a:cubicBezTo>
                  <a:lnTo>
                    <a:pt x="4178300" y="1035050"/>
                  </a:lnTo>
                  <a:cubicBezTo>
                    <a:pt x="4178300" y="1119251"/>
                    <a:pt x="4110101" y="1187450"/>
                    <a:pt x="4025900" y="1187450"/>
                  </a:cubicBezTo>
                  <a:lnTo>
                    <a:pt x="152400" y="1187450"/>
                  </a:lnTo>
                  <a:cubicBezTo>
                    <a:pt x="68199" y="1187450"/>
                    <a:pt x="0" y="1119251"/>
                    <a:pt x="0" y="1035050"/>
                  </a:cubicBezTo>
                  <a:lnTo>
                    <a:pt x="0" y="152400"/>
                  </a:lnTo>
                  <a:cubicBezTo>
                    <a:pt x="0" y="68199"/>
                    <a:pt x="68199" y="0"/>
                    <a:pt x="152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E2E8F0"/>
              </a:solidFill>
              <a:prstDash val="solid"/>
              <a:miter/>
            </a:ln>
          </p:spPr>
        </p:sp>
      </p:grpSp>
      <p:sp>
        <p:nvSpPr>
          <p:cNvPr name="TextBox 20" id="20"/>
          <p:cNvSpPr txBox="true"/>
          <p:nvPr/>
        </p:nvSpPr>
        <p:spPr>
          <a:xfrm rot="0">
            <a:off x="4019550" y="4229100"/>
            <a:ext cx="2809875" cy="2143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62"/>
              </a:lnSpc>
            </a:pPr>
            <a:r>
              <a:rPr lang="en-US" b="true" sz="975" spc="-9">
                <a:solidFill>
                  <a:srgbClr val="003D7A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Diagnostic variability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4019550" y="4452937"/>
            <a:ext cx="2809875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0"/>
              </a:lnSpc>
            </a:pPr>
            <a:r>
              <a:rPr lang="en-US" sz="900">
                <a:solidFill>
                  <a:srgbClr val="3F5168"/>
                </a:solidFill>
                <a:latin typeface="Helvetica"/>
                <a:ea typeface="Helvetica"/>
                <a:cs typeface="Helvetica"/>
                <a:sym typeface="Helvetica"/>
              </a:rPr>
              <a:t>Manual interpretation carries inter-observer variability, particularly for subtle or early pneumonia.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571500" y="5148262"/>
            <a:ext cx="3133725" cy="890588"/>
            <a:chOff x="0" y="0"/>
            <a:chExt cx="4178300" cy="118745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4178300" cy="1187450"/>
            </a:xfrm>
            <a:custGeom>
              <a:avLst/>
              <a:gdLst/>
              <a:ahLst/>
              <a:cxnLst/>
              <a:rect r="r" b="b" t="t" l="l"/>
              <a:pathLst>
                <a:path h="1187450" w="4178300">
                  <a:moveTo>
                    <a:pt x="152400" y="0"/>
                  </a:moveTo>
                  <a:lnTo>
                    <a:pt x="4025900" y="0"/>
                  </a:lnTo>
                  <a:cubicBezTo>
                    <a:pt x="4110101" y="0"/>
                    <a:pt x="4178300" y="68199"/>
                    <a:pt x="4178300" y="152400"/>
                  </a:cubicBezTo>
                  <a:lnTo>
                    <a:pt x="4178300" y="1035050"/>
                  </a:lnTo>
                  <a:cubicBezTo>
                    <a:pt x="4178300" y="1119251"/>
                    <a:pt x="4110101" y="1187450"/>
                    <a:pt x="4025900" y="1187450"/>
                  </a:cubicBezTo>
                  <a:lnTo>
                    <a:pt x="152400" y="1187450"/>
                  </a:lnTo>
                  <a:cubicBezTo>
                    <a:pt x="68199" y="1187450"/>
                    <a:pt x="0" y="1119251"/>
                    <a:pt x="0" y="1035050"/>
                  </a:cubicBezTo>
                  <a:lnTo>
                    <a:pt x="0" y="152400"/>
                  </a:lnTo>
                  <a:cubicBezTo>
                    <a:pt x="0" y="68199"/>
                    <a:pt x="68199" y="0"/>
                    <a:pt x="152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4178300" cy="1187450"/>
            </a:xfrm>
            <a:custGeom>
              <a:avLst/>
              <a:gdLst/>
              <a:ahLst/>
              <a:cxnLst/>
              <a:rect r="r" b="b" t="t" l="l"/>
              <a:pathLst>
                <a:path h="1187450" w="4178300">
                  <a:moveTo>
                    <a:pt x="152400" y="0"/>
                  </a:moveTo>
                  <a:lnTo>
                    <a:pt x="4025900" y="0"/>
                  </a:lnTo>
                  <a:cubicBezTo>
                    <a:pt x="4110101" y="0"/>
                    <a:pt x="4178300" y="68199"/>
                    <a:pt x="4178300" y="152400"/>
                  </a:cubicBezTo>
                  <a:lnTo>
                    <a:pt x="4178300" y="1035050"/>
                  </a:lnTo>
                  <a:cubicBezTo>
                    <a:pt x="4178300" y="1119251"/>
                    <a:pt x="4110101" y="1187450"/>
                    <a:pt x="4025900" y="1187450"/>
                  </a:cubicBezTo>
                  <a:lnTo>
                    <a:pt x="152400" y="1187450"/>
                  </a:lnTo>
                  <a:cubicBezTo>
                    <a:pt x="68199" y="1187450"/>
                    <a:pt x="0" y="1119251"/>
                    <a:pt x="0" y="1035050"/>
                  </a:cubicBezTo>
                  <a:lnTo>
                    <a:pt x="0" y="152400"/>
                  </a:lnTo>
                  <a:cubicBezTo>
                    <a:pt x="0" y="68199"/>
                    <a:pt x="68199" y="0"/>
                    <a:pt x="152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E2E8F0"/>
              </a:solidFill>
              <a:prstDash val="solid"/>
              <a:miter/>
            </a:ln>
          </p:spPr>
        </p:sp>
      </p:grpSp>
      <p:sp>
        <p:nvSpPr>
          <p:cNvPr name="TextBox 25" id="25"/>
          <p:cNvSpPr txBox="true"/>
          <p:nvPr/>
        </p:nvSpPr>
        <p:spPr>
          <a:xfrm rot="0">
            <a:off x="733425" y="5272087"/>
            <a:ext cx="2809875" cy="2143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62"/>
              </a:lnSpc>
            </a:pPr>
            <a:r>
              <a:rPr lang="en-US" b="true" sz="975" spc="-9">
                <a:solidFill>
                  <a:srgbClr val="003D7A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No affordable pre-screening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733425" y="5495925"/>
            <a:ext cx="2809875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0"/>
              </a:lnSpc>
            </a:pPr>
            <a:r>
              <a:rPr lang="en-US" sz="900">
                <a:solidFill>
                  <a:srgbClr val="3F5168"/>
                </a:solidFill>
                <a:latin typeface="Helvetica"/>
                <a:ea typeface="Helvetica"/>
                <a:cs typeface="Helvetica"/>
                <a:sym typeface="Helvetica"/>
              </a:rPr>
              <a:t>No low-cost, AI-assisted triage tool is widely deployed in Sri Lankan hospitals.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3857625" y="5148262"/>
            <a:ext cx="3133725" cy="890588"/>
            <a:chOff x="0" y="0"/>
            <a:chExt cx="4178300" cy="118745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4178300" cy="1187450"/>
            </a:xfrm>
            <a:custGeom>
              <a:avLst/>
              <a:gdLst/>
              <a:ahLst/>
              <a:cxnLst/>
              <a:rect r="r" b="b" t="t" l="l"/>
              <a:pathLst>
                <a:path h="1187450" w="4178300">
                  <a:moveTo>
                    <a:pt x="152400" y="0"/>
                  </a:moveTo>
                  <a:lnTo>
                    <a:pt x="4025900" y="0"/>
                  </a:lnTo>
                  <a:cubicBezTo>
                    <a:pt x="4110101" y="0"/>
                    <a:pt x="4178300" y="68199"/>
                    <a:pt x="4178300" y="152400"/>
                  </a:cubicBezTo>
                  <a:lnTo>
                    <a:pt x="4178300" y="1035050"/>
                  </a:lnTo>
                  <a:cubicBezTo>
                    <a:pt x="4178300" y="1119251"/>
                    <a:pt x="4110101" y="1187450"/>
                    <a:pt x="4025900" y="1187450"/>
                  </a:cubicBezTo>
                  <a:lnTo>
                    <a:pt x="152400" y="1187450"/>
                  </a:lnTo>
                  <a:cubicBezTo>
                    <a:pt x="68199" y="1187450"/>
                    <a:pt x="0" y="1119251"/>
                    <a:pt x="0" y="1035050"/>
                  </a:cubicBezTo>
                  <a:lnTo>
                    <a:pt x="0" y="152400"/>
                  </a:lnTo>
                  <a:cubicBezTo>
                    <a:pt x="0" y="68199"/>
                    <a:pt x="68199" y="0"/>
                    <a:pt x="152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4178300" cy="1187450"/>
            </a:xfrm>
            <a:custGeom>
              <a:avLst/>
              <a:gdLst/>
              <a:ahLst/>
              <a:cxnLst/>
              <a:rect r="r" b="b" t="t" l="l"/>
              <a:pathLst>
                <a:path h="1187450" w="4178300">
                  <a:moveTo>
                    <a:pt x="152400" y="0"/>
                  </a:moveTo>
                  <a:lnTo>
                    <a:pt x="4025900" y="0"/>
                  </a:lnTo>
                  <a:cubicBezTo>
                    <a:pt x="4110101" y="0"/>
                    <a:pt x="4178300" y="68199"/>
                    <a:pt x="4178300" y="152400"/>
                  </a:cubicBezTo>
                  <a:lnTo>
                    <a:pt x="4178300" y="1035050"/>
                  </a:lnTo>
                  <a:cubicBezTo>
                    <a:pt x="4178300" y="1119251"/>
                    <a:pt x="4110101" y="1187450"/>
                    <a:pt x="4025900" y="1187450"/>
                  </a:cubicBezTo>
                  <a:lnTo>
                    <a:pt x="152400" y="1187450"/>
                  </a:lnTo>
                  <a:cubicBezTo>
                    <a:pt x="68199" y="1187450"/>
                    <a:pt x="0" y="1119251"/>
                    <a:pt x="0" y="1035050"/>
                  </a:cubicBezTo>
                  <a:lnTo>
                    <a:pt x="0" y="152400"/>
                  </a:lnTo>
                  <a:cubicBezTo>
                    <a:pt x="0" y="68199"/>
                    <a:pt x="68199" y="0"/>
                    <a:pt x="152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E2E8F0"/>
              </a:solidFill>
              <a:prstDash val="solid"/>
              <a:miter/>
            </a:ln>
          </p:spPr>
        </p:sp>
      </p:grpSp>
      <p:sp>
        <p:nvSpPr>
          <p:cNvPr name="TextBox 30" id="30"/>
          <p:cNvSpPr txBox="true"/>
          <p:nvPr/>
        </p:nvSpPr>
        <p:spPr>
          <a:xfrm rot="0">
            <a:off x="4019550" y="5272087"/>
            <a:ext cx="2809875" cy="2143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62"/>
              </a:lnSpc>
            </a:pPr>
            <a:r>
              <a:rPr lang="en-US" b="true" sz="975" spc="-9">
                <a:solidFill>
                  <a:srgbClr val="003D7A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24/7 unavailability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4019550" y="5495925"/>
            <a:ext cx="2809875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0"/>
              </a:lnSpc>
            </a:pPr>
            <a:r>
              <a:rPr lang="en-US" sz="900">
                <a:solidFill>
                  <a:srgbClr val="3F5168"/>
                </a:solidFill>
                <a:latin typeface="Helvetica"/>
                <a:ea typeface="Helvetica"/>
                <a:cs typeface="Helvetica"/>
                <a:sym typeface="Helvetica"/>
              </a:rPr>
              <a:t>Specialist services are rarely continuous, leaving critical gaps in emergency care.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571500" y="6134100"/>
            <a:ext cx="6419850" cy="736378"/>
            <a:chOff x="0" y="0"/>
            <a:chExt cx="8559800" cy="981837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8559800" cy="981837"/>
            </a:xfrm>
            <a:custGeom>
              <a:avLst/>
              <a:gdLst/>
              <a:ahLst/>
              <a:cxnLst/>
              <a:rect r="r" b="b" t="t" l="l"/>
              <a:pathLst>
                <a:path h="981837" w="8559800">
                  <a:moveTo>
                    <a:pt x="0" y="0"/>
                  </a:moveTo>
                  <a:lnTo>
                    <a:pt x="8458200" y="0"/>
                  </a:lnTo>
                  <a:cubicBezTo>
                    <a:pt x="8514334" y="0"/>
                    <a:pt x="8559800" y="45466"/>
                    <a:pt x="8559800" y="101600"/>
                  </a:cubicBezTo>
                  <a:lnTo>
                    <a:pt x="8559800" y="880237"/>
                  </a:lnTo>
                  <a:cubicBezTo>
                    <a:pt x="8559800" y="936371"/>
                    <a:pt x="8514334" y="981837"/>
                    <a:pt x="8458200" y="981837"/>
                  </a:cubicBezTo>
                  <a:lnTo>
                    <a:pt x="0" y="98183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AF2FC"/>
            </a:solidFill>
          </p:spPr>
        </p:sp>
      </p:grpSp>
      <p:sp>
        <p:nvSpPr>
          <p:cNvPr name="AutoShape 34" id="34"/>
          <p:cNvSpPr/>
          <p:nvPr/>
        </p:nvSpPr>
        <p:spPr>
          <a:xfrm rot="0">
            <a:off x="571500" y="6134100"/>
            <a:ext cx="38100" cy="736378"/>
          </a:xfrm>
          <a:prstGeom prst="rect">
            <a:avLst/>
          </a:prstGeom>
          <a:solidFill>
            <a:srgbClr val="0066CC"/>
          </a:solidFill>
        </p:spPr>
      </p:sp>
      <p:sp>
        <p:nvSpPr>
          <p:cNvPr name="TextBox 35" id="35"/>
          <p:cNvSpPr txBox="true"/>
          <p:nvPr/>
        </p:nvSpPr>
        <p:spPr>
          <a:xfrm rot="0">
            <a:off x="571500" y="6096000"/>
            <a:ext cx="6419850" cy="7744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83"/>
              </a:lnSpc>
            </a:pPr>
            <a:r>
              <a:rPr lang="en-US" sz="922">
                <a:solidFill>
                  <a:srgbClr val="003D7A"/>
                </a:solidFill>
                <a:latin typeface="Helvetica"/>
                <a:ea typeface="Helvetica"/>
                <a:cs typeface="Helvetica"/>
                <a:sym typeface="Helvetica"/>
              </a:rPr>
              <a:t>This directly aligns with the Brainstorm 2026 theme — </a:t>
            </a:r>
            <a:r>
              <a:rPr lang="en-US" b="true" sz="922">
                <a:solidFill>
                  <a:srgbClr val="0A1A2F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"Innovative and Affordable Healthcare Solutions for Local Challenges."</a:t>
            </a:r>
            <a:r>
              <a:rPr lang="en-US" sz="922">
                <a:solidFill>
                  <a:srgbClr val="003D7A"/>
                </a:solidFill>
                <a:latin typeface="Helvetica"/>
                <a:ea typeface="Helvetica"/>
                <a:cs typeface="Helvetica"/>
                <a:sym typeface="Helvetica"/>
              </a:rPr>
              <a:t> An affordable, AI-assisted screen deployed in rural clinics and district hospitals can shorten dangerous diagnostic delays and prevent avoidable deaths.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571500" y="6956203"/>
            <a:ext cx="6419850" cy="2262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6"/>
              </a:lnSpc>
            </a:pPr>
            <a:r>
              <a:rPr lang="en-US" b="true" sz="937" spc="46">
                <a:solidFill>
                  <a:srgbClr val="3F5168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HOW WE RESEARCHED THE PROBLEM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571500" y="7191946"/>
            <a:ext cx="6419850" cy="857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71450" indent="-85725" lvl="1">
              <a:lnSpc>
                <a:spcPts val="1406"/>
              </a:lnSpc>
              <a:buFont typeface="Arial"/>
              <a:buChar char="•"/>
            </a:pPr>
            <a:r>
              <a:rPr lang="en-US" b="true" sz="937">
                <a:solidFill>
                  <a:srgbClr val="0A1A2F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WHO &amp; global health data</a:t>
            </a:r>
            <a:r>
              <a:rPr lang="en-US" sz="937">
                <a:solidFill>
                  <a:srgbClr val="3F5168"/>
                </a:solidFill>
                <a:latin typeface="Helvetica"/>
                <a:ea typeface="Helvetica"/>
                <a:cs typeface="Helvetica"/>
                <a:sym typeface="Helvetica"/>
              </a:rPr>
              <a:t> to quantify the burden of pneumonia in South Asia.</a:t>
            </a:r>
          </a:p>
          <a:p>
            <a:pPr algn="l" marL="171450" indent="-85725" lvl="1">
              <a:lnSpc>
                <a:spcPts val="1406"/>
              </a:lnSpc>
              <a:buFont typeface="Arial"/>
              <a:buChar char="•"/>
            </a:pPr>
            <a:r>
              <a:rPr lang="en-US" b="true" sz="937">
                <a:solidFill>
                  <a:srgbClr val="0A1A2F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Peer-reviewed clinical dataset</a:t>
            </a:r>
            <a:r>
              <a:rPr lang="en-US" sz="937">
                <a:solidFill>
                  <a:srgbClr val="3F5168"/>
                </a:solidFill>
                <a:latin typeface="Helvetica"/>
                <a:ea typeface="Helvetica"/>
                <a:cs typeface="Helvetica"/>
                <a:sym typeface="Helvetica"/>
              </a:rPr>
              <a:t> (Kermany et al., 2018; </a:t>
            </a:r>
            <a:r>
              <a:rPr lang="en-US" sz="937" i="true">
                <a:solidFill>
                  <a:srgbClr val="3F5168"/>
                </a:solidFill>
                <a:latin typeface="Helvetica Italics"/>
                <a:ea typeface="Helvetica Italics"/>
                <a:cs typeface="Helvetica Italics"/>
                <a:sym typeface="Helvetica Italics"/>
              </a:rPr>
              <a:t>Cell</a:t>
            </a:r>
            <a:r>
              <a:rPr lang="en-US" sz="937">
                <a:solidFill>
                  <a:srgbClr val="3F5168"/>
                </a:solidFill>
                <a:latin typeface="Helvetica"/>
                <a:ea typeface="Helvetica"/>
                <a:cs typeface="Helvetica"/>
                <a:sym typeface="Helvetica"/>
              </a:rPr>
              <a:t>) validating the authenticity of the pediatric training data.</a:t>
            </a:r>
          </a:p>
          <a:p>
            <a:pPr algn="l" marL="171450" indent="-85725" lvl="1">
              <a:lnSpc>
                <a:spcPts val="1406"/>
              </a:lnSpc>
              <a:buFont typeface="Arial"/>
              <a:buChar char="•"/>
            </a:pPr>
            <a:r>
              <a:rPr lang="en-US" b="true" sz="937">
                <a:solidFill>
                  <a:srgbClr val="0A1A2F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Expert feedback</a:t>
            </a:r>
            <a:r>
              <a:rPr lang="en-US" sz="937">
                <a:solidFill>
                  <a:srgbClr val="3F5168"/>
                </a:solidFill>
                <a:latin typeface="Helvetica"/>
                <a:ea typeface="Helvetica"/>
                <a:cs typeface="Helvetica"/>
                <a:sym typeface="Helvetica"/>
              </a:rPr>
              <a:t> from the IEEE EMBS BioFusion Hackathon 2026, where domain experts reviewed the project and guided refinement of the model and app design.</a:t>
            </a:r>
          </a:p>
        </p:txBody>
      </p:sp>
      <p:sp>
        <p:nvSpPr>
          <p:cNvPr name="AutoShape 38" id="38"/>
          <p:cNvSpPr/>
          <p:nvPr/>
        </p:nvSpPr>
        <p:spPr>
          <a:xfrm rot="0">
            <a:off x="571500" y="10213181"/>
            <a:ext cx="6419850" cy="9525"/>
          </a:xfrm>
          <a:prstGeom prst="rect">
            <a:avLst/>
          </a:prstGeom>
          <a:solidFill>
            <a:srgbClr val="E2E8F0"/>
          </a:solidFill>
        </p:spPr>
      </p:sp>
      <p:sp>
        <p:nvSpPr>
          <p:cNvPr name="TextBox 39" id="39"/>
          <p:cNvSpPr txBox="true"/>
          <p:nvPr/>
        </p:nvSpPr>
        <p:spPr>
          <a:xfrm rot="0">
            <a:off x="571500" y="10260806"/>
            <a:ext cx="1684115" cy="1881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81"/>
              </a:lnSpc>
            </a:pPr>
            <a:r>
              <a:rPr lang="en-US" sz="787">
                <a:solidFill>
                  <a:srgbClr val="6B7A90"/>
                </a:solidFill>
                <a:latin typeface="Helvetica"/>
                <a:ea typeface="Helvetica"/>
                <a:cs typeface="Helvetica"/>
                <a:sym typeface="Helvetica"/>
              </a:rPr>
              <a:t>Team GMora · University of Moratuwa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5914739" y="10260806"/>
            <a:ext cx="1076611" cy="1881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81"/>
              </a:lnSpc>
            </a:pPr>
            <a:r>
              <a:rPr lang="en-US" sz="787">
                <a:solidFill>
                  <a:srgbClr val="6B7A90"/>
                </a:solidFill>
                <a:latin typeface="Helvetica"/>
                <a:ea typeface="Helvetica"/>
                <a:cs typeface="Helvetica"/>
                <a:sym typeface="Helvetica"/>
              </a:rPr>
              <a:t>Section 1 · The Problem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0"/>
            <a:ext cx="7562850" cy="10696575"/>
          </a:xfrm>
          <a:prstGeom prst="rect">
            <a:avLst/>
          </a:prstGeom>
          <a:solidFill>
            <a:srgbClr val="FFFFFF"/>
          </a:solidFill>
        </p:spPr>
      </p:sp>
      <p:sp>
        <p:nvSpPr>
          <p:cNvPr name="AutoShape 3" id="3"/>
          <p:cNvSpPr/>
          <p:nvPr/>
        </p:nvSpPr>
        <p:spPr>
          <a:xfrm rot="0">
            <a:off x="571500" y="795338"/>
            <a:ext cx="6419850" cy="19050"/>
          </a:xfrm>
          <a:prstGeom prst="rect">
            <a:avLst/>
          </a:prstGeom>
          <a:solidFill>
            <a:srgbClr val="0066CC"/>
          </a:solidFill>
        </p:spPr>
      </p:sp>
      <p:sp>
        <p:nvSpPr>
          <p:cNvPr name="TextBox 4" id="4"/>
          <p:cNvSpPr txBox="true"/>
          <p:nvPr/>
        </p:nvSpPr>
        <p:spPr>
          <a:xfrm rot="0">
            <a:off x="571500" y="504825"/>
            <a:ext cx="970407" cy="2143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62"/>
              </a:lnSpc>
            </a:pPr>
            <a:r>
              <a:rPr lang="en-US" b="true" sz="975" spc="19">
                <a:solidFill>
                  <a:srgbClr val="0066CC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PneumoScan AI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371529" y="500063"/>
            <a:ext cx="1619822" cy="2047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37"/>
              </a:lnSpc>
            </a:pPr>
            <a:r>
              <a:rPr lang="en-US" sz="825" spc="66">
                <a:solidFill>
                  <a:srgbClr val="6B7A90"/>
                </a:solidFill>
                <a:latin typeface="Helvetica"/>
                <a:ea typeface="Helvetica"/>
                <a:cs typeface="Helvetica"/>
                <a:sym typeface="Helvetica"/>
              </a:rPr>
              <a:t>SECTION 2 · THE SOLUTION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71500" y="995363"/>
            <a:ext cx="6419850" cy="2047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37"/>
              </a:lnSpc>
            </a:pPr>
            <a:r>
              <a:rPr lang="en-US" b="true" sz="825" spc="115">
                <a:solidFill>
                  <a:srgbClr val="0066CC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SECTION 2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71500" y="1190625"/>
            <a:ext cx="6419850" cy="3952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87"/>
              </a:lnSpc>
            </a:pPr>
            <a:r>
              <a:rPr lang="en-US" b="true" sz="1725" spc="-17">
                <a:solidFill>
                  <a:srgbClr val="0066CC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2.</a:t>
            </a:r>
            <a:r>
              <a:rPr lang="en-US" b="true" sz="1725" spc="-17">
                <a:solidFill>
                  <a:srgbClr val="0A1A2F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 The solution — a deployed screening app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71500" y="1614487"/>
            <a:ext cx="6419850" cy="4619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31"/>
              </a:lnSpc>
            </a:pPr>
            <a:r>
              <a:rPr lang="en-US" sz="1087">
                <a:solidFill>
                  <a:srgbClr val="3F5168"/>
                </a:solidFill>
                <a:latin typeface="Helvetica"/>
                <a:ea typeface="Helvetica"/>
                <a:cs typeface="Helvetica"/>
                <a:sym typeface="Helvetica"/>
              </a:rPr>
              <a:t>PneumoScan AI is a live web and mobile application. A health worker — or a patient — captures or uploads a chest X-ray and receives an instant, explainable, fail-safe screening result.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571500" y="2247900"/>
            <a:ext cx="6419850" cy="385191"/>
            <a:chOff x="0" y="0"/>
            <a:chExt cx="8559800" cy="51358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559800" cy="513588"/>
            </a:xfrm>
            <a:custGeom>
              <a:avLst/>
              <a:gdLst/>
              <a:ahLst/>
              <a:cxnLst/>
              <a:rect r="r" b="b" t="t" l="l"/>
              <a:pathLst>
                <a:path h="513588" w="8559800">
                  <a:moveTo>
                    <a:pt x="0" y="0"/>
                  </a:moveTo>
                  <a:lnTo>
                    <a:pt x="8458200" y="0"/>
                  </a:lnTo>
                  <a:cubicBezTo>
                    <a:pt x="8514334" y="0"/>
                    <a:pt x="8559800" y="45466"/>
                    <a:pt x="8559800" y="101600"/>
                  </a:cubicBezTo>
                  <a:lnTo>
                    <a:pt x="8559800" y="411988"/>
                  </a:lnTo>
                  <a:cubicBezTo>
                    <a:pt x="8559800" y="468122"/>
                    <a:pt x="8514334" y="513588"/>
                    <a:pt x="8458200" y="513588"/>
                  </a:cubicBezTo>
                  <a:lnTo>
                    <a:pt x="0" y="51358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7F6F0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8559800" cy="551688"/>
            </a:xfrm>
            <a:prstGeom prst="rect">
              <a:avLst/>
            </a:prstGeom>
          </p:spPr>
          <p:txBody>
            <a:bodyPr anchor="ctr" rtlCol="false" tIns="167894" lIns="167894" bIns="167894" rIns="167894"/>
            <a:lstStyle/>
            <a:p>
              <a:pPr algn="l">
                <a:lnSpc>
                  <a:spcPts val="1383"/>
                </a:lnSpc>
              </a:pPr>
              <a:r>
                <a:rPr lang="en-US" b="true" sz="922">
                  <a:solidFill>
                    <a:srgbClr val="0A1A2F"/>
                  </a:solidFill>
                  <a:latin typeface="Helvetica Bold"/>
                  <a:ea typeface="Helvetica Bold"/>
                  <a:cs typeface="Helvetica Bold"/>
                  <a:sym typeface="Helvetica Bold"/>
                </a:rPr>
                <a:t>Now live:</a:t>
              </a:r>
              <a:r>
                <a:rPr lang="en-US" sz="922">
                  <a:solidFill>
                    <a:srgbClr val="04563D"/>
                  </a:solidFill>
                  <a:latin typeface="Helvetica"/>
                  <a:ea typeface="Helvetica"/>
                  <a:cs typeface="Helvetica"/>
                  <a:sym typeface="Helvetica"/>
                </a:rPr>
                <a:t> </a:t>
              </a:r>
              <a:r>
                <a:rPr lang="en-US" sz="922" u="sng">
                  <a:solidFill>
                    <a:srgbClr val="0066CC"/>
                  </a:solidFill>
                  <a:latin typeface="Helvetica"/>
                  <a:ea typeface="Helvetica"/>
                  <a:cs typeface="Helvetica"/>
                  <a:sym typeface="Helvetica"/>
                  <a:hlinkClick r:id="rId2" tooltip="https://pneu.gmora.dev/"/>
                </a:rPr>
                <a:t>https://pneu.gmora.dev</a:t>
              </a:r>
              <a:r>
                <a:rPr lang="en-US" sz="922">
                  <a:solidFill>
                    <a:srgbClr val="04563D"/>
                  </a:solidFill>
                  <a:latin typeface="Helvetica"/>
                  <a:ea typeface="Helvetica"/>
                  <a:cs typeface="Helvetica"/>
                  <a:sym typeface="Helvetica"/>
                  <a:hlinkClick r:id="rId3" tooltip="https://pneu.gmora.dev/"/>
                </a:rPr>
                <a:t> — HTTPS-secured, installable to a phone home screen, no app store required.</a:t>
              </a:r>
            </a:p>
          </p:txBody>
        </p:sp>
      </p:grpSp>
      <p:sp>
        <p:nvSpPr>
          <p:cNvPr name="AutoShape 12" id="12"/>
          <p:cNvSpPr/>
          <p:nvPr/>
        </p:nvSpPr>
        <p:spPr>
          <a:xfrm rot="0">
            <a:off x="571500" y="2247900"/>
            <a:ext cx="38100" cy="385191"/>
          </a:xfrm>
          <a:prstGeom prst="rect">
            <a:avLst/>
          </a:prstGeom>
          <a:solidFill>
            <a:srgbClr val="059669"/>
          </a:solidFill>
        </p:spPr>
      </p:sp>
      <p:sp>
        <p:nvSpPr>
          <p:cNvPr name="TextBox 13" id="13"/>
          <p:cNvSpPr txBox="true"/>
          <p:nvPr/>
        </p:nvSpPr>
        <p:spPr>
          <a:xfrm rot="0">
            <a:off x="571500" y="2766441"/>
            <a:ext cx="6419850" cy="2524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7"/>
              </a:lnSpc>
            </a:pPr>
            <a:r>
              <a:rPr lang="en-US" b="true" sz="1125" spc="-11">
                <a:solidFill>
                  <a:srgbClr val="003D7A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How the app works — end to end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571500" y="3114104"/>
            <a:ext cx="285750" cy="285750"/>
            <a:chOff x="0" y="0"/>
            <a:chExt cx="381000" cy="381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81000" cy="381000"/>
            </a:xfrm>
            <a:custGeom>
              <a:avLst/>
              <a:gdLst/>
              <a:ahLst/>
              <a:cxnLst/>
              <a:rect r="r" b="b" t="t" l="l"/>
              <a:pathLst>
                <a:path h="381000" w="381000">
                  <a:moveTo>
                    <a:pt x="101600" y="0"/>
                  </a:moveTo>
                  <a:lnTo>
                    <a:pt x="279400" y="0"/>
                  </a:lnTo>
                  <a:cubicBezTo>
                    <a:pt x="335534" y="0"/>
                    <a:pt x="381000" y="45466"/>
                    <a:pt x="381000" y="101600"/>
                  </a:cubicBezTo>
                  <a:lnTo>
                    <a:pt x="381000" y="279400"/>
                  </a:lnTo>
                  <a:cubicBezTo>
                    <a:pt x="381000" y="335534"/>
                    <a:pt x="335534" y="381000"/>
                    <a:pt x="279400" y="381000"/>
                  </a:cubicBezTo>
                  <a:lnTo>
                    <a:pt x="101600" y="381000"/>
                  </a:lnTo>
                  <a:cubicBezTo>
                    <a:pt x="45466" y="381000"/>
                    <a:pt x="0" y="335534"/>
                    <a:pt x="0" y="279400"/>
                  </a:cubicBezTo>
                  <a:lnTo>
                    <a:pt x="0" y="101600"/>
                  </a:lnTo>
                  <a:cubicBezTo>
                    <a:pt x="0" y="45466"/>
                    <a:pt x="45466" y="0"/>
                    <a:pt x="101600" y="0"/>
                  </a:cubicBezTo>
                  <a:close/>
                </a:path>
              </a:pathLst>
            </a:custGeom>
            <a:solidFill>
              <a:srgbClr val="EAF2FC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28575"/>
              <a:ext cx="381000" cy="409575"/>
            </a:xfrm>
            <a:prstGeom prst="rect">
              <a:avLst/>
            </a:prstGeom>
          </p:spPr>
          <p:txBody>
            <a:bodyPr anchor="ctr" rtlCol="false" tIns="95250" lIns="95250" bIns="95250" rIns="95250"/>
            <a:lstStyle/>
            <a:p>
              <a:pPr algn="l">
                <a:lnSpc>
                  <a:spcPts val="1462"/>
                </a:lnSpc>
              </a:pPr>
              <a:r>
                <a:rPr lang="en-US" b="true" sz="975">
                  <a:solidFill>
                    <a:srgbClr val="0066CC"/>
                  </a:solidFill>
                  <a:latin typeface="Helvetica Bold"/>
                  <a:ea typeface="Helvetica Bold"/>
                  <a:cs typeface="Helvetica Bold"/>
                  <a:sym typeface="Helvetica Bold"/>
                </a:rPr>
                <a:t>1</a:t>
              </a: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971550" y="3076004"/>
            <a:ext cx="6019800" cy="4274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83"/>
              </a:lnSpc>
            </a:pPr>
            <a:r>
              <a:rPr lang="en-US" b="true" sz="922">
                <a:solidFill>
                  <a:srgbClr val="0A1A2F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Capture or upload.</a:t>
            </a:r>
            <a:r>
              <a:rPr lang="en-US" sz="922">
                <a:solidFill>
                  <a:srgbClr val="3F5168"/>
                </a:solidFill>
                <a:latin typeface="Helvetica"/>
                <a:ea typeface="Helvetica"/>
                <a:cs typeface="Helvetica"/>
                <a:sym typeface="Helvetica"/>
              </a:rPr>
              <a:t> Take a photo of the X-ray with a phone camera, or upload a digital file (JPEG/PNG). A role selector tailors the experience for a </a:t>
            </a:r>
            <a:r>
              <a:rPr lang="en-US" b="true" sz="922">
                <a:solidFill>
                  <a:srgbClr val="0A1A2F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patient/parent</a:t>
            </a:r>
            <a:r>
              <a:rPr lang="en-US" sz="922">
                <a:solidFill>
                  <a:srgbClr val="3F5168"/>
                </a:solidFill>
                <a:latin typeface="Helvetica"/>
                <a:ea typeface="Helvetica"/>
                <a:cs typeface="Helvetica"/>
                <a:sym typeface="Helvetica"/>
              </a:rPr>
              <a:t> or a </a:t>
            </a:r>
            <a:r>
              <a:rPr lang="en-US" b="true" sz="922">
                <a:solidFill>
                  <a:srgbClr val="0A1A2F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clinician</a:t>
            </a:r>
            <a:r>
              <a:rPr lang="en-US" sz="922">
                <a:solidFill>
                  <a:srgbClr val="3F5168"/>
                </a:solidFill>
                <a:latin typeface="Helvetica"/>
                <a:ea typeface="Helvetica"/>
                <a:cs typeface="Helvetica"/>
                <a:sym typeface="Helvetica"/>
              </a:rPr>
              <a:t>.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571500" y="3579590"/>
            <a:ext cx="285750" cy="285750"/>
            <a:chOff x="0" y="0"/>
            <a:chExt cx="381000" cy="3810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81000" cy="381000"/>
            </a:xfrm>
            <a:custGeom>
              <a:avLst/>
              <a:gdLst/>
              <a:ahLst/>
              <a:cxnLst/>
              <a:rect r="r" b="b" t="t" l="l"/>
              <a:pathLst>
                <a:path h="381000" w="381000">
                  <a:moveTo>
                    <a:pt x="101600" y="0"/>
                  </a:moveTo>
                  <a:lnTo>
                    <a:pt x="279400" y="0"/>
                  </a:lnTo>
                  <a:cubicBezTo>
                    <a:pt x="335534" y="0"/>
                    <a:pt x="381000" y="45466"/>
                    <a:pt x="381000" y="101600"/>
                  </a:cubicBezTo>
                  <a:lnTo>
                    <a:pt x="381000" y="279400"/>
                  </a:lnTo>
                  <a:cubicBezTo>
                    <a:pt x="381000" y="335534"/>
                    <a:pt x="335534" y="381000"/>
                    <a:pt x="279400" y="381000"/>
                  </a:cubicBezTo>
                  <a:lnTo>
                    <a:pt x="101600" y="381000"/>
                  </a:lnTo>
                  <a:cubicBezTo>
                    <a:pt x="45466" y="381000"/>
                    <a:pt x="0" y="335534"/>
                    <a:pt x="0" y="279400"/>
                  </a:cubicBezTo>
                  <a:lnTo>
                    <a:pt x="0" y="101600"/>
                  </a:lnTo>
                  <a:cubicBezTo>
                    <a:pt x="0" y="45466"/>
                    <a:pt x="45466" y="0"/>
                    <a:pt x="101600" y="0"/>
                  </a:cubicBezTo>
                  <a:close/>
                </a:path>
              </a:pathLst>
            </a:custGeom>
            <a:solidFill>
              <a:srgbClr val="EAF2FC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28575"/>
              <a:ext cx="381000" cy="409575"/>
            </a:xfrm>
            <a:prstGeom prst="rect">
              <a:avLst/>
            </a:prstGeom>
          </p:spPr>
          <p:txBody>
            <a:bodyPr anchor="ctr" rtlCol="false" tIns="95250" lIns="95250" bIns="95250" rIns="95250"/>
            <a:lstStyle/>
            <a:p>
              <a:pPr algn="l">
                <a:lnSpc>
                  <a:spcPts val="1462"/>
                </a:lnSpc>
              </a:pPr>
              <a:r>
                <a:rPr lang="en-US" b="true" sz="975">
                  <a:solidFill>
                    <a:srgbClr val="0066CC"/>
                  </a:solidFill>
                  <a:latin typeface="Helvetica Bold"/>
                  <a:ea typeface="Helvetica Bold"/>
                  <a:cs typeface="Helvetica Bold"/>
                  <a:sym typeface="Helvetica Bold"/>
                </a:rPr>
                <a:t>2</a:t>
              </a: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971550" y="3541490"/>
            <a:ext cx="6019800" cy="4274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83"/>
              </a:lnSpc>
            </a:pPr>
            <a:r>
              <a:rPr lang="en-US" b="true" sz="922">
                <a:solidFill>
                  <a:srgbClr val="0A1A2F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Quality gate.</a:t>
            </a:r>
            <a:r>
              <a:rPr lang="en-US" sz="922">
                <a:solidFill>
                  <a:srgbClr val="3F5168"/>
                </a:solidFill>
                <a:latin typeface="Helvetica"/>
                <a:ea typeface="Helvetica"/>
                <a:cs typeface="Helvetica"/>
                <a:sym typeface="Helvetica"/>
              </a:rPr>
              <a:t> An automatic check rejects unusable images (too small, no detail) and — for phone photos — tolerates the soft focus and warm colour cast that are normal for a snapshot of a film.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571500" y="4045172"/>
            <a:ext cx="285750" cy="285750"/>
            <a:chOff x="0" y="0"/>
            <a:chExt cx="381000" cy="3810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81000" cy="381000"/>
            </a:xfrm>
            <a:custGeom>
              <a:avLst/>
              <a:gdLst/>
              <a:ahLst/>
              <a:cxnLst/>
              <a:rect r="r" b="b" t="t" l="l"/>
              <a:pathLst>
                <a:path h="381000" w="381000">
                  <a:moveTo>
                    <a:pt x="101600" y="0"/>
                  </a:moveTo>
                  <a:lnTo>
                    <a:pt x="279400" y="0"/>
                  </a:lnTo>
                  <a:cubicBezTo>
                    <a:pt x="335534" y="0"/>
                    <a:pt x="381000" y="45466"/>
                    <a:pt x="381000" y="101600"/>
                  </a:cubicBezTo>
                  <a:lnTo>
                    <a:pt x="381000" y="279400"/>
                  </a:lnTo>
                  <a:cubicBezTo>
                    <a:pt x="381000" y="335534"/>
                    <a:pt x="335534" y="381000"/>
                    <a:pt x="279400" y="381000"/>
                  </a:cubicBezTo>
                  <a:lnTo>
                    <a:pt x="101600" y="381000"/>
                  </a:lnTo>
                  <a:cubicBezTo>
                    <a:pt x="45466" y="381000"/>
                    <a:pt x="0" y="335534"/>
                    <a:pt x="0" y="279400"/>
                  </a:cubicBezTo>
                  <a:lnTo>
                    <a:pt x="0" y="101600"/>
                  </a:lnTo>
                  <a:cubicBezTo>
                    <a:pt x="0" y="45466"/>
                    <a:pt x="45466" y="0"/>
                    <a:pt x="101600" y="0"/>
                  </a:cubicBezTo>
                  <a:close/>
                </a:path>
              </a:pathLst>
            </a:custGeom>
            <a:solidFill>
              <a:srgbClr val="EAF2FC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28575"/>
              <a:ext cx="381000" cy="409575"/>
            </a:xfrm>
            <a:prstGeom prst="rect">
              <a:avLst/>
            </a:prstGeom>
          </p:spPr>
          <p:txBody>
            <a:bodyPr anchor="ctr" rtlCol="false" tIns="95250" lIns="95250" bIns="95250" rIns="95250"/>
            <a:lstStyle/>
            <a:p>
              <a:pPr algn="l">
                <a:lnSpc>
                  <a:spcPts val="1462"/>
                </a:lnSpc>
              </a:pPr>
              <a:r>
                <a:rPr lang="en-US" b="true" sz="975">
                  <a:solidFill>
                    <a:srgbClr val="0066CC"/>
                  </a:solidFill>
                  <a:latin typeface="Helvetica Bold"/>
                  <a:ea typeface="Helvetica Bold"/>
                  <a:cs typeface="Helvetica Bold"/>
                  <a:sym typeface="Helvetica Bold"/>
                </a:rPr>
                <a:t>3</a:t>
              </a: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971550" y="4007072"/>
            <a:ext cx="6019800" cy="4274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83"/>
              </a:lnSpc>
            </a:pPr>
            <a:r>
              <a:rPr lang="en-US" b="true" sz="922">
                <a:solidFill>
                  <a:srgbClr val="0A1A2F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Phone-photo rectification.</a:t>
            </a:r>
            <a:r>
              <a:rPr lang="en-US" sz="922">
                <a:solidFill>
                  <a:srgbClr val="3F5168"/>
                </a:solidFill>
                <a:latin typeface="Helvetica"/>
                <a:ea typeface="Helvetica"/>
                <a:cs typeface="Helvetica"/>
                <a:sym typeface="Helvetica"/>
              </a:rPr>
              <a:t> For photos of physical films, OpenCV detects the film boundary and corrects the camera-angle perspective.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571500" y="4510659"/>
            <a:ext cx="285750" cy="285750"/>
            <a:chOff x="0" y="0"/>
            <a:chExt cx="381000" cy="3810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381000" cy="381000"/>
            </a:xfrm>
            <a:custGeom>
              <a:avLst/>
              <a:gdLst/>
              <a:ahLst/>
              <a:cxnLst/>
              <a:rect r="r" b="b" t="t" l="l"/>
              <a:pathLst>
                <a:path h="381000" w="381000">
                  <a:moveTo>
                    <a:pt x="101600" y="0"/>
                  </a:moveTo>
                  <a:lnTo>
                    <a:pt x="279400" y="0"/>
                  </a:lnTo>
                  <a:cubicBezTo>
                    <a:pt x="335534" y="0"/>
                    <a:pt x="381000" y="45466"/>
                    <a:pt x="381000" y="101600"/>
                  </a:cubicBezTo>
                  <a:lnTo>
                    <a:pt x="381000" y="279400"/>
                  </a:lnTo>
                  <a:cubicBezTo>
                    <a:pt x="381000" y="335534"/>
                    <a:pt x="335534" y="381000"/>
                    <a:pt x="279400" y="381000"/>
                  </a:cubicBezTo>
                  <a:lnTo>
                    <a:pt x="101600" y="381000"/>
                  </a:lnTo>
                  <a:cubicBezTo>
                    <a:pt x="45466" y="381000"/>
                    <a:pt x="0" y="335534"/>
                    <a:pt x="0" y="279400"/>
                  </a:cubicBezTo>
                  <a:lnTo>
                    <a:pt x="0" y="101600"/>
                  </a:lnTo>
                  <a:cubicBezTo>
                    <a:pt x="0" y="45466"/>
                    <a:pt x="45466" y="0"/>
                    <a:pt x="101600" y="0"/>
                  </a:cubicBezTo>
                  <a:close/>
                </a:path>
              </a:pathLst>
            </a:custGeom>
            <a:solidFill>
              <a:srgbClr val="EAF2FC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28575"/>
              <a:ext cx="381000" cy="409575"/>
            </a:xfrm>
            <a:prstGeom prst="rect">
              <a:avLst/>
            </a:prstGeom>
          </p:spPr>
          <p:txBody>
            <a:bodyPr anchor="ctr" rtlCol="false" tIns="95250" lIns="95250" bIns="95250" rIns="95250"/>
            <a:lstStyle/>
            <a:p>
              <a:pPr algn="l">
                <a:lnSpc>
                  <a:spcPts val="1462"/>
                </a:lnSpc>
              </a:pPr>
              <a:r>
                <a:rPr lang="en-US" b="true" sz="975">
                  <a:solidFill>
                    <a:srgbClr val="0066CC"/>
                  </a:solidFill>
                  <a:latin typeface="Helvetica Bold"/>
                  <a:ea typeface="Helvetica Bold"/>
                  <a:cs typeface="Helvetica Bold"/>
                  <a:sym typeface="Helvetica Bold"/>
                </a:rPr>
                <a:t>4</a:t>
              </a: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971550" y="4472559"/>
            <a:ext cx="6019800" cy="4274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83"/>
              </a:lnSpc>
            </a:pPr>
            <a:r>
              <a:rPr lang="en-US" b="true" sz="922">
                <a:solidFill>
                  <a:srgbClr val="0A1A2F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AI screening.</a:t>
            </a:r>
            <a:r>
              <a:rPr lang="en-US" sz="922">
                <a:solidFill>
                  <a:srgbClr val="3F5168"/>
                </a:solidFill>
                <a:latin typeface="Helvetica"/>
                <a:ea typeface="Helvetica"/>
                <a:cs typeface="Helvetica"/>
                <a:sym typeface="Helvetica"/>
              </a:rPr>
              <a:t> A fine-tuned ResNet-50 outputs a calibrated pneumonia probability; a fail-safe decision threshold converts it into a triage band.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571500" y="4976241"/>
            <a:ext cx="285750" cy="285750"/>
            <a:chOff x="0" y="0"/>
            <a:chExt cx="381000" cy="3810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381000" cy="381000"/>
            </a:xfrm>
            <a:custGeom>
              <a:avLst/>
              <a:gdLst/>
              <a:ahLst/>
              <a:cxnLst/>
              <a:rect r="r" b="b" t="t" l="l"/>
              <a:pathLst>
                <a:path h="381000" w="381000">
                  <a:moveTo>
                    <a:pt x="101600" y="0"/>
                  </a:moveTo>
                  <a:lnTo>
                    <a:pt x="279400" y="0"/>
                  </a:lnTo>
                  <a:cubicBezTo>
                    <a:pt x="335534" y="0"/>
                    <a:pt x="381000" y="45466"/>
                    <a:pt x="381000" y="101600"/>
                  </a:cubicBezTo>
                  <a:lnTo>
                    <a:pt x="381000" y="279400"/>
                  </a:lnTo>
                  <a:cubicBezTo>
                    <a:pt x="381000" y="335534"/>
                    <a:pt x="335534" y="381000"/>
                    <a:pt x="279400" y="381000"/>
                  </a:cubicBezTo>
                  <a:lnTo>
                    <a:pt x="101600" y="381000"/>
                  </a:lnTo>
                  <a:cubicBezTo>
                    <a:pt x="45466" y="381000"/>
                    <a:pt x="0" y="335534"/>
                    <a:pt x="0" y="279400"/>
                  </a:cubicBezTo>
                  <a:lnTo>
                    <a:pt x="0" y="101600"/>
                  </a:lnTo>
                  <a:cubicBezTo>
                    <a:pt x="0" y="45466"/>
                    <a:pt x="45466" y="0"/>
                    <a:pt x="101600" y="0"/>
                  </a:cubicBezTo>
                  <a:close/>
                </a:path>
              </a:pathLst>
            </a:custGeom>
            <a:solidFill>
              <a:srgbClr val="EAF2FC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28575"/>
              <a:ext cx="381000" cy="409575"/>
            </a:xfrm>
            <a:prstGeom prst="rect">
              <a:avLst/>
            </a:prstGeom>
          </p:spPr>
          <p:txBody>
            <a:bodyPr anchor="ctr" rtlCol="false" tIns="95250" lIns="95250" bIns="95250" rIns="95250"/>
            <a:lstStyle/>
            <a:p>
              <a:pPr algn="l">
                <a:lnSpc>
                  <a:spcPts val="1462"/>
                </a:lnSpc>
              </a:pPr>
              <a:r>
                <a:rPr lang="en-US" b="true" sz="975">
                  <a:solidFill>
                    <a:srgbClr val="0066CC"/>
                  </a:solidFill>
                  <a:latin typeface="Helvetica Bold"/>
                  <a:ea typeface="Helvetica Bold"/>
                  <a:cs typeface="Helvetica Bold"/>
                  <a:sym typeface="Helvetica Bold"/>
                </a:rPr>
                <a:t>5</a:t>
              </a:r>
            </a:p>
          </p:txBody>
        </p:sp>
      </p:grpSp>
      <p:sp>
        <p:nvSpPr>
          <p:cNvPr name="TextBox 33" id="33"/>
          <p:cNvSpPr txBox="true"/>
          <p:nvPr/>
        </p:nvSpPr>
        <p:spPr>
          <a:xfrm rot="0">
            <a:off x="971550" y="4938141"/>
            <a:ext cx="6019800" cy="4274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83"/>
              </a:lnSpc>
            </a:pPr>
            <a:r>
              <a:rPr lang="en-US" b="true" sz="922">
                <a:solidFill>
                  <a:srgbClr val="0A1A2F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Explainable result.</a:t>
            </a:r>
            <a:r>
              <a:rPr lang="en-US" sz="922">
                <a:solidFill>
                  <a:srgbClr val="3F5168"/>
                </a:solidFill>
                <a:latin typeface="Helvetica"/>
                <a:ea typeface="Helvetica"/>
                <a:cs typeface="Helvetica"/>
                <a:sym typeface="Helvetica"/>
              </a:rPr>
              <a:t> A Grad-CAM heatmap shows which lung regions drove the prediction, alongside plain-language guidance and an explicit "screening aid, not a diagnosis" disclaimer.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571500" y="5498878"/>
            <a:ext cx="6419850" cy="2524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7"/>
              </a:lnSpc>
            </a:pPr>
            <a:r>
              <a:rPr lang="en-US" b="true" sz="1125" spc="-11">
                <a:solidFill>
                  <a:srgbClr val="003D7A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Result communication — safe by design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571500" y="5846540"/>
            <a:ext cx="1491139" cy="266700"/>
            <a:chOff x="0" y="0"/>
            <a:chExt cx="1988185" cy="3556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988185" cy="355600"/>
            </a:xfrm>
            <a:custGeom>
              <a:avLst/>
              <a:gdLst/>
              <a:ahLst/>
              <a:cxnLst/>
              <a:rect r="r" b="b" t="t" l="l"/>
              <a:pathLst>
                <a:path h="355600" w="1988185">
                  <a:moveTo>
                    <a:pt x="0" y="0"/>
                  </a:moveTo>
                  <a:lnTo>
                    <a:pt x="1988185" y="0"/>
                  </a:lnTo>
                  <a:lnTo>
                    <a:pt x="1988185" y="355600"/>
                  </a:lnTo>
                  <a:lnTo>
                    <a:pt x="0" y="355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66CC"/>
            </a:solid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1988185" cy="393700"/>
            </a:xfrm>
            <a:prstGeom prst="rect">
              <a:avLst/>
            </a:prstGeom>
          </p:spPr>
          <p:txBody>
            <a:bodyPr anchor="ctr" rtlCol="false" tIns="101600" lIns="101600" bIns="101600" rIns="101600"/>
            <a:lstStyle/>
            <a:p>
              <a:pPr algn="l">
                <a:lnSpc>
                  <a:spcPts val="1207"/>
                </a:lnSpc>
              </a:pPr>
              <a:r>
                <a:rPr lang="en-US" b="true" sz="862">
                  <a:solidFill>
                    <a:srgbClr val="FFFFFF"/>
                  </a:solidFill>
                  <a:latin typeface="Helvetica Bold"/>
                  <a:ea typeface="Helvetica Bold"/>
                  <a:cs typeface="Helvetica Bold"/>
                  <a:sym typeface="Helvetica Bold"/>
                </a:rPr>
                <a:t>Band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2062639" y="5846540"/>
            <a:ext cx="1797558" cy="266700"/>
            <a:chOff x="0" y="0"/>
            <a:chExt cx="2396744" cy="3556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2396744" cy="355600"/>
            </a:xfrm>
            <a:custGeom>
              <a:avLst/>
              <a:gdLst/>
              <a:ahLst/>
              <a:cxnLst/>
              <a:rect r="r" b="b" t="t" l="l"/>
              <a:pathLst>
                <a:path h="355600" w="2396744">
                  <a:moveTo>
                    <a:pt x="0" y="0"/>
                  </a:moveTo>
                  <a:lnTo>
                    <a:pt x="2396744" y="0"/>
                  </a:lnTo>
                  <a:lnTo>
                    <a:pt x="2396744" y="355600"/>
                  </a:lnTo>
                  <a:lnTo>
                    <a:pt x="0" y="355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66CC"/>
            </a:solid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38100"/>
              <a:ext cx="2396744" cy="393700"/>
            </a:xfrm>
            <a:prstGeom prst="rect">
              <a:avLst/>
            </a:prstGeom>
          </p:spPr>
          <p:txBody>
            <a:bodyPr anchor="ctr" rtlCol="false" tIns="101600" lIns="101600" bIns="101600" rIns="101600"/>
            <a:lstStyle/>
            <a:p>
              <a:pPr algn="l">
                <a:lnSpc>
                  <a:spcPts val="1207"/>
                </a:lnSpc>
              </a:pPr>
              <a:r>
                <a:rPr lang="en-US" b="true" sz="862">
                  <a:solidFill>
                    <a:srgbClr val="FFFFFF"/>
                  </a:solidFill>
                  <a:latin typeface="Helvetica Bold"/>
                  <a:ea typeface="Helvetica Bold"/>
                  <a:cs typeface="Helvetica Bold"/>
                  <a:sym typeface="Helvetica Bold"/>
                </a:rPr>
                <a:t>Meaning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3860197" y="5846540"/>
            <a:ext cx="3131153" cy="266700"/>
            <a:chOff x="0" y="0"/>
            <a:chExt cx="4174871" cy="35560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4174871" cy="355600"/>
            </a:xfrm>
            <a:custGeom>
              <a:avLst/>
              <a:gdLst/>
              <a:ahLst/>
              <a:cxnLst/>
              <a:rect r="r" b="b" t="t" l="l"/>
              <a:pathLst>
                <a:path h="355600" w="4174871">
                  <a:moveTo>
                    <a:pt x="0" y="0"/>
                  </a:moveTo>
                  <a:lnTo>
                    <a:pt x="4174871" y="0"/>
                  </a:lnTo>
                  <a:lnTo>
                    <a:pt x="4174871" y="355600"/>
                  </a:lnTo>
                  <a:lnTo>
                    <a:pt x="0" y="355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66CC"/>
            </a:solid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38100"/>
              <a:ext cx="4174871" cy="393700"/>
            </a:xfrm>
            <a:prstGeom prst="rect">
              <a:avLst/>
            </a:prstGeom>
          </p:spPr>
          <p:txBody>
            <a:bodyPr anchor="ctr" rtlCol="false" tIns="101600" lIns="101600" bIns="101600" rIns="101600"/>
            <a:lstStyle/>
            <a:p>
              <a:pPr algn="l">
                <a:lnSpc>
                  <a:spcPts val="1207"/>
                </a:lnSpc>
              </a:pPr>
              <a:r>
                <a:rPr lang="en-US" b="true" sz="862">
                  <a:solidFill>
                    <a:srgbClr val="FFFFFF"/>
                  </a:solidFill>
                  <a:latin typeface="Helvetica Bold"/>
                  <a:ea typeface="Helvetica Bold"/>
                  <a:cs typeface="Helvetica Bold"/>
                  <a:sym typeface="Helvetica Bold"/>
                </a:rPr>
                <a:t>Guidance shown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571500" y="6113240"/>
            <a:ext cx="1491139" cy="290512"/>
            <a:chOff x="0" y="0"/>
            <a:chExt cx="1988185" cy="38735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988185" cy="387350"/>
            </a:xfrm>
            <a:custGeom>
              <a:avLst/>
              <a:gdLst/>
              <a:ahLst/>
              <a:cxnLst/>
              <a:rect r="r" b="b" t="t" l="l"/>
              <a:pathLst>
                <a:path h="387350" w="1988185">
                  <a:moveTo>
                    <a:pt x="0" y="0"/>
                  </a:moveTo>
                  <a:lnTo>
                    <a:pt x="1988185" y="0"/>
                  </a:lnTo>
                  <a:lnTo>
                    <a:pt x="1988185" y="387350"/>
                  </a:lnTo>
                  <a:lnTo>
                    <a:pt x="0" y="3873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7FAFD"/>
            </a:solid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38100"/>
              <a:ext cx="1988185" cy="425450"/>
            </a:xfrm>
            <a:prstGeom prst="rect">
              <a:avLst/>
            </a:prstGeom>
          </p:spPr>
          <p:txBody>
            <a:bodyPr anchor="ctr" rtlCol="false" tIns="104775" lIns="104775" bIns="104775" rIns="104775"/>
            <a:lstStyle/>
            <a:p>
              <a:pPr algn="l">
                <a:lnSpc>
                  <a:spcPts val="1260"/>
                </a:lnSpc>
              </a:pPr>
              <a:r>
                <a:rPr lang="en-US" b="true" sz="900">
                  <a:solidFill>
                    <a:srgbClr val="0A1A2F"/>
                  </a:solidFill>
                  <a:latin typeface="Helvetica Bold"/>
                  <a:ea typeface="Helvetica Bold"/>
                  <a:cs typeface="Helvetica Bold"/>
                  <a:sym typeface="Helvetica Bold"/>
                </a:rPr>
                <a:t>No clear signs</a:t>
              </a:r>
            </a:p>
          </p:txBody>
        </p:sp>
      </p:grpSp>
      <p:sp>
        <p:nvSpPr>
          <p:cNvPr name="AutoShape 47" id="47"/>
          <p:cNvSpPr/>
          <p:nvPr/>
        </p:nvSpPr>
        <p:spPr>
          <a:xfrm rot="0">
            <a:off x="571500" y="6394228"/>
            <a:ext cx="1491139" cy="9525"/>
          </a:xfrm>
          <a:prstGeom prst="rect">
            <a:avLst/>
          </a:prstGeom>
          <a:solidFill>
            <a:srgbClr val="E2E8F0"/>
          </a:solidFill>
        </p:spPr>
      </p:sp>
      <p:grpSp>
        <p:nvGrpSpPr>
          <p:cNvPr name="Group 48" id="48"/>
          <p:cNvGrpSpPr/>
          <p:nvPr/>
        </p:nvGrpSpPr>
        <p:grpSpPr>
          <a:xfrm rot="0">
            <a:off x="2062639" y="6113240"/>
            <a:ext cx="1797558" cy="290512"/>
            <a:chOff x="0" y="0"/>
            <a:chExt cx="2396744" cy="38735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2396744" cy="387350"/>
            </a:xfrm>
            <a:custGeom>
              <a:avLst/>
              <a:gdLst/>
              <a:ahLst/>
              <a:cxnLst/>
              <a:rect r="r" b="b" t="t" l="l"/>
              <a:pathLst>
                <a:path h="387350" w="2396744">
                  <a:moveTo>
                    <a:pt x="0" y="0"/>
                  </a:moveTo>
                  <a:lnTo>
                    <a:pt x="2396744" y="0"/>
                  </a:lnTo>
                  <a:lnTo>
                    <a:pt x="2396744" y="387350"/>
                  </a:lnTo>
                  <a:lnTo>
                    <a:pt x="0" y="3873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7FAFD"/>
            </a:solid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38100"/>
              <a:ext cx="2396744" cy="425450"/>
            </a:xfrm>
            <a:prstGeom prst="rect">
              <a:avLst/>
            </a:prstGeom>
          </p:spPr>
          <p:txBody>
            <a:bodyPr anchor="ctr" rtlCol="false" tIns="104775" lIns="104775" bIns="104775" rIns="104775"/>
            <a:lstStyle/>
            <a:p>
              <a:pPr algn="l">
                <a:lnSpc>
                  <a:spcPts val="1260"/>
                </a:lnSpc>
              </a:pPr>
              <a:r>
                <a:rPr lang="en-US" sz="900">
                  <a:solidFill>
                    <a:srgbClr val="3F5168"/>
                  </a:solidFill>
                  <a:latin typeface="Helvetica"/>
                  <a:ea typeface="Helvetica"/>
                  <a:cs typeface="Helvetica"/>
                  <a:sym typeface="Helvetica"/>
                </a:rPr>
                <a:t>Low pneumonia probability</a:t>
              </a:r>
            </a:p>
          </p:txBody>
        </p:sp>
      </p:grpSp>
      <p:sp>
        <p:nvSpPr>
          <p:cNvPr name="AutoShape 51" id="51"/>
          <p:cNvSpPr/>
          <p:nvPr/>
        </p:nvSpPr>
        <p:spPr>
          <a:xfrm rot="0">
            <a:off x="2062639" y="6394228"/>
            <a:ext cx="1797558" cy="9525"/>
          </a:xfrm>
          <a:prstGeom prst="rect">
            <a:avLst/>
          </a:prstGeom>
          <a:solidFill>
            <a:srgbClr val="E2E8F0"/>
          </a:solidFill>
        </p:spPr>
      </p:sp>
      <p:grpSp>
        <p:nvGrpSpPr>
          <p:cNvPr name="Group 52" id="52"/>
          <p:cNvGrpSpPr/>
          <p:nvPr/>
        </p:nvGrpSpPr>
        <p:grpSpPr>
          <a:xfrm rot="0">
            <a:off x="3860197" y="6113240"/>
            <a:ext cx="3131153" cy="290512"/>
            <a:chOff x="0" y="0"/>
            <a:chExt cx="4174871" cy="38735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4174871" cy="387350"/>
            </a:xfrm>
            <a:custGeom>
              <a:avLst/>
              <a:gdLst/>
              <a:ahLst/>
              <a:cxnLst/>
              <a:rect r="r" b="b" t="t" l="l"/>
              <a:pathLst>
                <a:path h="387350" w="4174871">
                  <a:moveTo>
                    <a:pt x="0" y="0"/>
                  </a:moveTo>
                  <a:lnTo>
                    <a:pt x="4174871" y="0"/>
                  </a:lnTo>
                  <a:lnTo>
                    <a:pt x="4174871" y="387350"/>
                  </a:lnTo>
                  <a:lnTo>
                    <a:pt x="0" y="3873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7FAFD"/>
            </a:solid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38100"/>
              <a:ext cx="4174871" cy="425450"/>
            </a:xfrm>
            <a:prstGeom prst="rect">
              <a:avLst/>
            </a:prstGeom>
          </p:spPr>
          <p:txBody>
            <a:bodyPr anchor="ctr" rtlCol="false" tIns="104775" lIns="104775" bIns="104775" rIns="104775"/>
            <a:lstStyle/>
            <a:p>
              <a:pPr algn="l">
                <a:lnSpc>
                  <a:spcPts val="1260"/>
                </a:lnSpc>
              </a:pPr>
              <a:r>
                <a:rPr lang="en-US" sz="900">
                  <a:solidFill>
                    <a:srgbClr val="3F5168"/>
                  </a:solidFill>
                  <a:latin typeface="Helvetica"/>
                  <a:ea typeface="Helvetica"/>
                  <a:cs typeface="Helvetica"/>
                  <a:sym typeface="Helvetica"/>
                </a:rPr>
                <a:t>Reassurance + "see a doctor if symptoms persist"</a:t>
              </a:r>
            </a:p>
          </p:txBody>
        </p:sp>
      </p:grpSp>
      <p:sp>
        <p:nvSpPr>
          <p:cNvPr name="AutoShape 55" id="55"/>
          <p:cNvSpPr/>
          <p:nvPr/>
        </p:nvSpPr>
        <p:spPr>
          <a:xfrm rot="0">
            <a:off x="3860197" y="6394228"/>
            <a:ext cx="3131153" cy="9525"/>
          </a:xfrm>
          <a:prstGeom prst="rect">
            <a:avLst/>
          </a:prstGeom>
          <a:solidFill>
            <a:srgbClr val="E2E8F0"/>
          </a:solidFill>
        </p:spPr>
      </p:sp>
      <p:sp>
        <p:nvSpPr>
          <p:cNvPr name="AutoShape 56" id="56"/>
          <p:cNvSpPr/>
          <p:nvPr/>
        </p:nvSpPr>
        <p:spPr>
          <a:xfrm rot="0">
            <a:off x="571500" y="6689503"/>
            <a:ext cx="1491139" cy="9525"/>
          </a:xfrm>
          <a:prstGeom prst="rect">
            <a:avLst/>
          </a:prstGeom>
          <a:solidFill>
            <a:srgbClr val="E2E8F0"/>
          </a:solidFill>
        </p:spPr>
      </p:sp>
      <p:sp>
        <p:nvSpPr>
          <p:cNvPr name="TextBox 57" id="57"/>
          <p:cNvSpPr txBox="true"/>
          <p:nvPr/>
        </p:nvSpPr>
        <p:spPr>
          <a:xfrm rot="0">
            <a:off x="571500" y="6365653"/>
            <a:ext cx="1491139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b="true" sz="900">
                <a:solidFill>
                  <a:srgbClr val="0A1A2F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Uncertain</a:t>
            </a:r>
          </a:p>
        </p:txBody>
      </p:sp>
      <p:sp>
        <p:nvSpPr>
          <p:cNvPr name="AutoShape 58" id="58"/>
          <p:cNvSpPr/>
          <p:nvPr/>
        </p:nvSpPr>
        <p:spPr>
          <a:xfrm rot="0">
            <a:off x="2062639" y="6689503"/>
            <a:ext cx="1797558" cy="9525"/>
          </a:xfrm>
          <a:prstGeom prst="rect">
            <a:avLst/>
          </a:prstGeom>
          <a:solidFill>
            <a:srgbClr val="E2E8F0"/>
          </a:solidFill>
        </p:spPr>
      </p:sp>
      <p:sp>
        <p:nvSpPr>
          <p:cNvPr name="TextBox 59" id="59"/>
          <p:cNvSpPr txBox="true"/>
          <p:nvPr/>
        </p:nvSpPr>
        <p:spPr>
          <a:xfrm rot="0">
            <a:off x="2062639" y="6365653"/>
            <a:ext cx="1797558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sz="900">
                <a:solidFill>
                  <a:srgbClr val="3F5168"/>
                </a:solidFill>
                <a:latin typeface="Helvetica"/>
                <a:ea typeface="Helvetica"/>
                <a:cs typeface="Helvetica"/>
                <a:sym typeface="Helvetica"/>
              </a:rPr>
              <a:t>Borderline / on the fence</a:t>
            </a:r>
          </a:p>
        </p:txBody>
      </p:sp>
      <p:sp>
        <p:nvSpPr>
          <p:cNvPr name="AutoShape 60" id="60"/>
          <p:cNvSpPr/>
          <p:nvPr/>
        </p:nvSpPr>
        <p:spPr>
          <a:xfrm rot="0">
            <a:off x="3860197" y="6689503"/>
            <a:ext cx="3131153" cy="9525"/>
          </a:xfrm>
          <a:prstGeom prst="rect">
            <a:avLst/>
          </a:prstGeom>
          <a:solidFill>
            <a:srgbClr val="E2E8F0"/>
          </a:solidFill>
        </p:spPr>
      </p:sp>
      <p:sp>
        <p:nvSpPr>
          <p:cNvPr name="TextBox 61" id="61"/>
          <p:cNvSpPr txBox="true"/>
          <p:nvPr/>
        </p:nvSpPr>
        <p:spPr>
          <a:xfrm rot="0">
            <a:off x="3860197" y="6365653"/>
            <a:ext cx="3131153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sz="900">
                <a:solidFill>
                  <a:srgbClr val="3F5168"/>
                </a:solidFill>
                <a:latin typeface="Helvetica"/>
                <a:ea typeface="Helvetica"/>
                <a:cs typeface="Helvetica"/>
                <a:sym typeface="Helvetica"/>
              </a:rPr>
              <a:t>"Get a second opinion" — never a confident call</a:t>
            </a:r>
          </a:p>
        </p:txBody>
      </p:sp>
      <p:grpSp>
        <p:nvGrpSpPr>
          <p:cNvPr name="Group 62" id="62"/>
          <p:cNvGrpSpPr/>
          <p:nvPr/>
        </p:nvGrpSpPr>
        <p:grpSpPr>
          <a:xfrm rot="0">
            <a:off x="571500" y="6699028"/>
            <a:ext cx="1491139" cy="295275"/>
            <a:chOff x="0" y="0"/>
            <a:chExt cx="1988185" cy="39370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1988185" cy="393700"/>
            </a:xfrm>
            <a:custGeom>
              <a:avLst/>
              <a:gdLst/>
              <a:ahLst/>
              <a:cxnLst/>
              <a:rect r="r" b="b" t="t" l="l"/>
              <a:pathLst>
                <a:path h="393700" w="1988185">
                  <a:moveTo>
                    <a:pt x="0" y="0"/>
                  </a:moveTo>
                  <a:lnTo>
                    <a:pt x="1988185" y="0"/>
                  </a:lnTo>
                  <a:lnTo>
                    <a:pt x="1988185" y="393700"/>
                  </a:lnTo>
                  <a:lnTo>
                    <a:pt x="0" y="3937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7FAFD"/>
            </a:solid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38100"/>
              <a:ext cx="1988185" cy="431800"/>
            </a:xfrm>
            <a:prstGeom prst="rect">
              <a:avLst/>
            </a:prstGeom>
          </p:spPr>
          <p:txBody>
            <a:bodyPr anchor="ctr" rtlCol="false" tIns="107950" lIns="107950" bIns="107950" rIns="107950"/>
            <a:lstStyle/>
            <a:p>
              <a:pPr algn="l">
                <a:lnSpc>
                  <a:spcPts val="1260"/>
                </a:lnSpc>
              </a:pPr>
              <a:r>
                <a:rPr lang="en-US" b="true" sz="900">
                  <a:solidFill>
                    <a:srgbClr val="0A1A2F"/>
                  </a:solidFill>
                  <a:latin typeface="Helvetica Bold"/>
                  <a:ea typeface="Helvetica Bold"/>
                  <a:cs typeface="Helvetica Bold"/>
                  <a:sym typeface="Helvetica Bold"/>
                </a:rPr>
                <a:t>Signs of pneumonia</a:t>
              </a:r>
            </a:p>
          </p:txBody>
        </p:sp>
      </p:grpSp>
      <p:sp>
        <p:nvSpPr>
          <p:cNvPr name="AutoShape 65" id="65"/>
          <p:cNvSpPr/>
          <p:nvPr/>
        </p:nvSpPr>
        <p:spPr>
          <a:xfrm rot="0">
            <a:off x="571500" y="6984778"/>
            <a:ext cx="1491139" cy="9525"/>
          </a:xfrm>
          <a:prstGeom prst="rect">
            <a:avLst/>
          </a:prstGeom>
          <a:solidFill>
            <a:srgbClr val="E2E8F0"/>
          </a:solidFill>
        </p:spPr>
      </p:sp>
      <p:grpSp>
        <p:nvGrpSpPr>
          <p:cNvPr name="Group 66" id="66"/>
          <p:cNvGrpSpPr/>
          <p:nvPr/>
        </p:nvGrpSpPr>
        <p:grpSpPr>
          <a:xfrm rot="0">
            <a:off x="2062639" y="6699028"/>
            <a:ext cx="1797558" cy="295275"/>
            <a:chOff x="0" y="0"/>
            <a:chExt cx="2396744" cy="39370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2396744" cy="393700"/>
            </a:xfrm>
            <a:custGeom>
              <a:avLst/>
              <a:gdLst/>
              <a:ahLst/>
              <a:cxnLst/>
              <a:rect r="r" b="b" t="t" l="l"/>
              <a:pathLst>
                <a:path h="393700" w="2396744">
                  <a:moveTo>
                    <a:pt x="0" y="0"/>
                  </a:moveTo>
                  <a:lnTo>
                    <a:pt x="2396744" y="0"/>
                  </a:lnTo>
                  <a:lnTo>
                    <a:pt x="2396744" y="393700"/>
                  </a:lnTo>
                  <a:lnTo>
                    <a:pt x="0" y="3937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7FAFD"/>
            </a:solid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38100"/>
              <a:ext cx="2396744" cy="431800"/>
            </a:xfrm>
            <a:prstGeom prst="rect">
              <a:avLst/>
            </a:prstGeom>
          </p:spPr>
          <p:txBody>
            <a:bodyPr anchor="ctr" rtlCol="false" tIns="107950" lIns="107950" bIns="107950" rIns="107950"/>
            <a:lstStyle/>
            <a:p>
              <a:pPr algn="l">
                <a:lnSpc>
                  <a:spcPts val="1260"/>
                </a:lnSpc>
              </a:pPr>
              <a:r>
                <a:rPr lang="en-US" sz="900">
                  <a:solidFill>
                    <a:srgbClr val="3F5168"/>
                  </a:solidFill>
                  <a:latin typeface="Helvetica"/>
                  <a:ea typeface="Helvetica"/>
                  <a:cs typeface="Helvetica"/>
                  <a:sym typeface="Helvetica"/>
                </a:rPr>
                <a:t>Above fail-safe threshold</a:t>
              </a:r>
            </a:p>
          </p:txBody>
        </p:sp>
      </p:grpSp>
      <p:sp>
        <p:nvSpPr>
          <p:cNvPr name="AutoShape 69" id="69"/>
          <p:cNvSpPr/>
          <p:nvPr/>
        </p:nvSpPr>
        <p:spPr>
          <a:xfrm rot="0">
            <a:off x="2062639" y="6984778"/>
            <a:ext cx="1797558" cy="9525"/>
          </a:xfrm>
          <a:prstGeom prst="rect">
            <a:avLst/>
          </a:prstGeom>
          <a:solidFill>
            <a:srgbClr val="E2E8F0"/>
          </a:solidFill>
        </p:spPr>
      </p:sp>
      <p:grpSp>
        <p:nvGrpSpPr>
          <p:cNvPr name="Group 70" id="70"/>
          <p:cNvGrpSpPr/>
          <p:nvPr/>
        </p:nvGrpSpPr>
        <p:grpSpPr>
          <a:xfrm rot="0">
            <a:off x="3860197" y="6699028"/>
            <a:ext cx="3131153" cy="295275"/>
            <a:chOff x="0" y="0"/>
            <a:chExt cx="4174871" cy="393700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4174871" cy="393700"/>
            </a:xfrm>
            <a:custGeom>
              <a:avLst/>
              <a:gdLst/>
              <a:ahLst/>
              <a:cxnLst/>
              <a:rect r="r" b="b" t="t" l="l"/>
              <a:pathLst>
                <a:path h="393700" w="4174871">
                  <a:moveTo>
                    <a:pt x="0" y="0"/>
                  </a:moveTo>
                  <a:lnTo>
                    <a:pt x="4174871" y="0"/>
                  </a:lnTo>
                  <a:lnTo>
                    <a:pt x="4174871" y="393700"/>
                  </a:lnTo>
                  <a:lnTo>
                    <a:pt x="0" y="3937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7FAFD"/>
            </a:solid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38100"/>
              <a:ext cx="4174871" cy="431800"/>
            </a:xfrm>
            <a:prstGeom prst="rect">
              <a:avLst/>
            </a:prstGeom>
          </p:spPr>
          <p:txBody>
            <a:bodyPr anchor="ctr" rtlCol="false" tIns="107950" lIns="107950" bIns="107950" rIns="107950"/>
            <a:lstStyle/>
            <a:p>
              <a:pPr algn="l">
                <a:lnSpc>
                  <a:spcPts val="1260"/>
                </a:lnSpc>
              </a:pPr>
              <a:r>
                <a:rPr lang="en-US" sz="900">
                  <a:solidFill>
                    <a:srgbClr val="3F5168"/>
                  </a:solidFill>
                  <a:latin typeface="Helvetica"/>
                  <a:ea typeface="Helvetica"/>
                  <a:cs typeface="Helvetica"/>
                  <a:sym typeface="Helvetica"/>
                </a:rPr>
                <a:t>Prompt to seek clinical care promptly</a:t>
              </a:r>
            </a:p>
          </p:txBody>
        </p:sp>
      </p:grpSp>
      <p:sp>
        <p:nvSpPr>
          <p:cNvPr name="AutoShape 73" id="73"/>
          <p:cNvSpPr/>
          <p:nvPr/>
        </p:nvSpPr>
        <p:spPr>
          <a:xfrm rot="0">
            <a:off x="3860197" y="6984778"/>
            <a:ext cx="3131153" cy="9525"/>
          </a:xfrm>
          <a:prstGeom prst="rect">
            <a:avLst/>
          </a:prstGeom>
          <a:solidFill>
            <a:srgbClr val="E2E8F0"/>
          </a:solidFill>
        </p:spPr>
      </p:sp>
      <p:grpSp>
        <p:nvGrpSpPr>
          <p:cNvPr name="Group 74" id="74"/>
          <p:cNvGrpSpPr/>
          <p:nvPr/>
        </p:nvGrpSpPr>
        <p:grpSpPr>
          <a:xfrm rot="0">
            <a:off x="571500" y="7113365"/>
            <a:ext cx="3133725" cy="1062038"/>
            <a:chOff x="0" y="0"/>
            <a:chExt cx="4178300" cy="1416050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4178300" cy="1416050"/>
            </a:xfrm>
            <a:custGeom>
              <a:avLst/>
              <a:gdLst/>
              <a:ahLst/>
              <a:cxnLst/>
              <a:rect r="r" b="b" t="t" l="l"/>
              <a:pathLst>
                <a:path h="1416050" w="4178300">
                  <a:moveTo>
                    <a:pt x="152400" y="0"/>
                  </a:moveTo>
                  <a:lnTo>
                    <a:pt x="4025900" y="0"/>
                  </a:lnTo>
                  <a:cubicBezTo>
                    <a:pt x="4110101" y="0"/>
                    <a:pt x="4178300" y="68199"/>
                    <a:pt x="4178300" y="152400"/>
                  </a:cubicBezTo>
                  <a:lnTo>
                    <a:pt x="4178300" y="1263650"/>
                  </a:lnTo>
                  <a:cubicBezTo>
                    <a:pt x="4178300" y="1347851"/>
                    <a:pt x="4110101" y="1416050"/>
                    <a:pt x="4025900" y="1416050"/>
                  </a:cubicBezTo>
                  <a:lnTo>
                    <a:pt x="152400" y="1416050"/>
                  </a:lnTo>
                  <a:cubicBezTo>
                    <a:pt x="68199" y="1416050"/>
                    <a:pt x="0" y="1347851"/>
                    <a:pt x="0" y="1263650"/>
                  </a:cubicBezTo>
                  <a:lnTo>
                    <a:pt x="0" y="152400"/>
                  </a:lnTo>
                  <a:cubicBezTo>
                    <a:pt x="0" y="68199"/>
                    <a:pt x="68199" y="0"/>
                    <a:pt x="152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4178300" cy="1416050"/>
            </a:xfrm>
            <a:custGeom>
              <a:avLst/>
              <a:gdLst/>
              <a:ahLst/>
              <a:cxnLst/>
              <a:rect r="r" b="b" t="t" l="l"/>
              <a:pathLst>
                <a:path h="1416050" w="4178300">
                  <a:moveTo>
                    <a:pt x="152400" y="0"/>
                  </a:moveTo>
                  <a:lnTo>
                    <a:pt x="4025900" y="0"/>
                  </a:lnTo>
                  <a:cubicBezTo>
                    <a:pt x="4110101" y="0"/>
                    <a:pt x="4178300" y="68199"/>
                    <a:pt x="4178300" y="152400"/>
                  </a:cubicBezTo>
                  <a:lnTo>
                    <a:pt x="4178300" y="1263650"/>
                  </a:lnTo>
                  <a:cubicBezTo>
                    <a:pt x="4178300" y="1347851"/>
                    <a:pt x="4110101" y="1416050"/>
                    <a:pt x="4025900" y="1416050"/>
                  </a:cubicBezTo>
                  <a:lnTo>
                    <a:pt x="152400" y="1416050"/>
                  </a:lnTo>
                  <a:cubicBezTo>
                    <a:pt x="68199" y="1416050"/>
                    <a:pt x="0" y="1347851"/>
                    <a:pt x="0" y="1263650"/>
                  </a:cubicBezTo>
                  <a:lnTo>
                    <a:pt x="0" y="152400"/>
                  </a:lnTo>
                  <a:cubicBezTo>
                    <a:pt x="0" y="68199"/>
                    <a:pt x="68199" y="0"/>
                    <a:pt x="152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E2E8F0"/>
              </a:solidFill>
              <a:prstDash val="solid"/>
              <a:miter/>
            </a:ln>
          </p:spPr>
        </p:sp>
      </p:grpSp>
      <p:sp>
        <p:nvSpPr>
          <p:cNvPr name="TextBox 77" id="77"/>
          <p:cNvSpPr txBox="true"/>
          <p:nvPr/>
        </p:nvSpPr>
        <p:spPr>
          <a:xfrm rot="0">
            <a:off x="733425" y="7237190"/>
            <a:ext cx="2809875" cy="2143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62"/>
              </a:lnSpc>
            </a:pPr>
            <a:r>
              <a:rPr lang="en-US" b="true" sz="975" spc="-9">
                <a:solidFill>
                  <a:srgbClr val="003D7A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For patients &amp; parents</a:t>
            </a:r>
          </a:p>
        </p:txBody>
      </p:sp>
      <p:sp>
        <p:nvSpPr>
          <p:cNvPr name="TextBox 78" id="78"/>
          <p:cNvSpPr txBox="true"/>
          <p:nvPr/>
        </p:nvSpPr>
        <p:spPr>
          <a:xfrm rot="0">
            <a:off x="733425" y="7461028"/>
            <a:ext cx="2809875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0"/>
              </a:lnSpc>
            </a:pPr>
            <a:r>
              <a:rPr lang="en-US" sz="900">
                <a:solidFill>
                  <a:srgbClr val="3F5168"/>
                </a:solidFill>
                <a:latin typeface="Helvetica"/>
                <a:ea typeface="Helvetica"/>
                <a:cs typeface="Helvetica"/>
                <a:sym typeface="Helvetica"/>
              </a:rPr>
              <a:t>Plain-language result, clear next-step guidance, and a strong prompt to consult a clinician. No jargon.</a:t>
            </a:r>
          </a:p>
        </p:txBody>
      </p:sp>
      <p:grpSp>
        <p:nvGrpSpPr>
          <p:cNvPr name="Group 79" id="79"/>
          <p:cNvGrpSpPr/>
          <p:nvPr/>
        </p:nvGrpSpPr>
        <p:grpSpPr>
          <a:xfrm rot="0">
            <a:off x="3857625" y="7113365"/>
            <a:ext cx="3133725" cy="1062038"/>
            <a:chOff x="0" y="0"/>
            <a:chExt cx="4178300" cy="1416050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4178300" cy="1416050"/>
            </a:xfrm>
            <a:custGeom>
              <a:avLst/>
              <a:gdLst/>
              <a:ahLst/>
              <a:cxnLst/>
              <a:rect r="r" b="b" t="t" l="l"/>
              <a:pathLst>
                <a:path h="1416050" w="4178300">
                  <a:moveTo>
                    <a:pt x="152400" y="0"/>
                  </a:moveTo>
                  <a:lnTo>
                    <a:pt x="4025900" y="0"/>
                  </a:lnTo>
                  <a:cubicBezTo>
                    <a:pt x="4110101" y="0"/>
                    <a:pt x="4178300" y="68199"/>
                    <a:pt x="4178300" y="152400"/>
                  </a:cubicBezTo>
                  <a:lnTo>
                    <a:pt x="4178300" y="1263650"/>
                  </a:lnTo>
                  <a:cubicBezTo>
                    <a:pt x="4178300" y="1347851"/>
                    <a:pt x="4110101" y="1416050"/>
                    <a:pt x="4025900" y="1416050"/>
                  </a:cubicBezTo>
                  <a:lnTo>
                    <a:pt x="152400" y="1416050"/>
                  </a:lnTo>
                  <a:cubicBezTo>
                    <a:pt x="68199" y="1416050"/>
                    <a:pt x="0" y="1347851"/>
                    <a:pt x="0" y="1263650"/>
                  </a:cubicBezTo>
                  <a:lnTo>
                    <a:pt x="0" y="152400"/>
                  </a:lnTo>
                  <a:cubicBezTo>
                    <a:pt x="0" y="68199"/>
                    <a:pt x="68199" y="0"/>
                    <a:pt x="152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4178300" cy="1416050"/>
            </a:xfrm>
            <a:custGeom>
              <a:avLst/>
              <a:gdLst/>
              <a:ahLst/>
              <a:cxnLst/>
              <a:rect r="r" b="b" t="t" l="l"/>
              <a:pathLst>
                <a:path h="1416050" w="4178300">
                  <a:moveTo>
                    <a:pt x="152400" y="0"/>
                  </a:moveTo>
                  <a:lnTo>
                    <a:pt x="4025900" y="0"/>
                  </a:lnTo>
                  <a:cubicBezTo>
                    <a:pt x="4110101" y="0"/>
                    <a:pt x="4178300" y="68199"/>
                    <a:pt x="4178300" y="152400"/>
                  </a:cubicBezTo>
                  <a:lnTo>
                    <a:pt x="4178300" y="1263650"/>
                  </a:lnTo>
                  <a:cubicBezTo>
                    <a:pt x="4178300" y="1347851"/>
                    <a:pt x="4110101" y="1416050"/>
                    <a:pt x="4025900" y="1416050"/>
                  </a:cubicBezTo>
                  <a:lnTo>
                    <a:pt x="152400" y="1416050"/>
                  </a:lnTo>
                  <a:cubicBezTo>
                    <a:pt x="68199" y="1416050"/>
                    <a:pt x="0" y="1347851"/>
                    <a:pt x="0" y="1263650"/>
                  </a:cubicBezTo>
                  <a:lnTo>
                    <a:pt x="0" y="152400"/>
                  </a:lnTo>
                  <a:cubicBezTo>
                    <a:pt x="0" y="68199"/>
                    <a:pt x="68199" y="0"/>
                    <a:pt x="152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E2E8F0"/>
              </a:solidFill>
              <a:prstDash val="solid"/>
              <a:miter/>
            </a:ln>
          </p:spPr>
        </p:sp>
      </p:grpSp>
      <p:sp>
        <p:nvSpPr>
          <p:cNvPr name="TextBox 82" id="82"/>
          <p:cNvSpPr txBox="true"/>
          <p:nvPr/>
        </p:nvSpPr>
        <p:spPr>
          <a:xfrm rot="0">
            <a:off x="4019550" y="7237190"/>
            <a:ext cx="2809875" cy="2143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62"/>
              </a:lnSpc>
            </a:pPr>
            <a:r>
              <a:rPr lang="en-US" b="true" sz="975" spc="-9">
                <a:solidFill>
                  <a:srgbClr val="003D7A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For clinicians</a:t>
            </a:r>
          </a:p>
        </p:txBody>
      </p:sp>
      <p:sp>
        <p:nvSpPr>
          <p:cNvPr name="TextBox 83" id="83"/>
          <p:cNvSpPr txBox="true"/>
          <p:nvPr/>
        </p:nvSpPr>
        <p:spPr>
          <a:xfrm rot="0">
            <a:off x="4019550" y="7461028"/>
            <a:ext cx="2809875" cy="561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0"/>
              </a:lnSpc>
            </a:pPr>
            <a:r>
              <a:rPr lang="en-US" sz="900">
                <a:solidFill>
                  <a:srgbClr val="3F5168"/>
                </a:solidFill>
                <a:latin typeface="Helvetica"/>
                <a:ea typeface="Helvetica"/>
                <a:cs typeface="Helvetica"/>
                <a:sym typeface="Helvetica"/>
              </a:rPr>
              <a:t>Grad-CAM overlay, class probabilities, the fail-safe operating point, and full technical detail for decision support.</a:t>
            </a:r>
          </a:p>
        </p:txBody>
      </p:sp>
      <p:sp>
        <p:nvSpPr>
          <p:cNvPr name="AutoShape 84" id="84"/>
          <p:cNvSpPr/>
          <p:nvPr/>
        </p:nvSpPr>
        <p:spPr>
          <a:xfrm rot="0">
            <a:off x="571500" y="10213181"/>
            <a:ext cx="6419850" cy="9525"/>
          </a:xfrm>
          <a:prstGeom prst="rect">
            <a:avLst/>
          </a:prstGeom>
          <a:solidFill>
            <a:srgbClr val="E2E8F0"/>
          </a:solidFill>
        </p:spPr>
      </p:sp>
      <p:sp>
        <p:nvSpPr>
          <p:cNvPr name="TextBox 85" id="85"/>
          <p:cNvSpPr txBox="true"/>
          <p:nvPr/>
        </p:nvSpPr>
        <p:spPr>
          <a:xfrm rot="0">
            <a:off x="571500" y="10260806"/>
            <a:ext cx="1684115" cy="1881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81"/>
              </a:lnSpc>
            </a:pPr>
            <a:r>
              <a:rPr lang="en-US" sz="787">
                <a:solidFill>
                  <a:srgbClr val="6B7A90"/>
                </a:solidFill>
                <a:latin typeface="Helvetica"/>
                <a:ea typeface="Helvetica"/>
                <a:cs typeface="Helvetica"/>
                <a:sym typeface="Helvetica"/>
              </a:rPr>
              <a:t>Team GMora · University of Moratuwa</a:t>
            </a:r>
          </a:p>
        </p:txBody>
      </p:sp>
      <p:sp>
        <p:nvSpPr>
          <p:cNvPr name="TextBox 86" id="86"/>
          <p:cNvSpPr txBox="true"/>
          <p:nvPr/>
        </p:nvSpPr>
        <p:spPr>
          <a:xfrm rot="0">
            <a:off x="5925598" y="10260806"/>
            <a:ext cx="1065752" cy="1881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81"/>
              </a:lnSpc>
            </a:pPr>
            <a:r>
              <a:rPr lang="en-US" sz="787">
                <a:solidFill>
                  <a:srgbClr val="6B7A90"/>
                </a:solidFill>
                <a:latin typeface="Helvetica"/>
                <a:ea typeface="Helvetica"/>
                <a:cs typeface="Helvetica"/>
                <a:sym typeface="Helvetica"/>
              </a:rPr>
              <a:t>Section 2 · The Solution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0"/>
            <a:ext cx="7562850" cy="10696575"/>
          </a:xfrm>
          <a:prstGeom prst="rect">
            <a:avLst/>
          </a:prstGeom>
          <a:solidFill>
            <a:srgbClr val="FFFFFF"/>
          </a:solidFill>
        </p:spPr>
      </p:sp>
      <p:sp>
        <p:nvSpPr>
          <p:cNvPr name="AutoShape 3" id="3"/>
          <p:cNvSpPr/>
          <p:nvPr/>
        </p:nvSpPr>
        <p:spPr>
          <a:xfrm rot="0">
            <a:off x="571500" y="795338"/>
            <a:ext cx="6419850" cy="19050"/>
          </a:xfrm>
          <a:prstGeom prst="rect">
            <a:avLst/>
          </a:prstGeom>
          <a:solidFill>
            <a:srgbClr val="0066CC"/>
          </a:solidFill>
        </p:spPr>
      </p:sp>
      <p:sp>
        <p:nvSpPr>
          <p:cNvPr name="TextBox 4" id="4"/>
          <p:cNvSpPr txBox="true"/>
          <p:nvPr/>
        </p:nvSpPr>
        <p:spPr>
          <a:xfrm rot="0">
            <a:off x="571500" y="504825"/>
            <a:ext cx="970407" cy="2143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62"/>
              </a:lnSpc>
            </a:pPr>
            <a:r>
              <a:rPr lang="en-US" b="true" sz="975" spc="19">
                <a:solidFill>
                  <a:srgbClr val="0066CC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PneumoScan AI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510373" y="500063"/>
            <a:ext cx="2480977" cy="2047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37"/>
              </a:lnSpc>
            </a:pPr>
            <a:r>
              <a:rPr lang="en-US" sz="825" spc="66">
                <a:solidFill>
                  <a:srgbClr val="6B7A90"/>
                </a:solidFill>
                <a:latin typeface="Helvetica"/>
                <a:ea typeface="Helvetica"/>
                <a:cs typeface="Helvetica"/>
                <a:sym typeface="Helvetica"/>
              </a:rPr>
              <a:t>SECTION 3 · TECHNICAL IMPLEMENTATION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71500" y="995363"/>
            <a:ext cx="6419850" cy="2047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37"/>
              </a:lnSpc>
            </a:pPr>
            <a:r>
              <a:rPr lang="en-US" b="true" sz="825" spc="115">
                <a:solidFill>
                  <a:srgbClr val="0066CC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SECTION 3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71500" y="1190625"/>
            <a:ext cx="6419850" cy="3952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87"/>
              </a:lnSpc>
            </a:pPr>
            <a:r>
              <a:rPr lang="en-US" b="true" sz="1725" spc="-17">
                <a:solidFill>
                  <a:srgbClr val="0066CC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3.</a:t>
            </a:r>
            <a:r>
              <a:rPr lang="en-US" b="true" sz="1725" spc="-17">
                <a:solidFill>
                  <a:srgbClr val="0A1A2F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 Technical implementation &amp; results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71500" y="1614487"/>
            <a:ext cx="6419850" cy="4619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31"/>
              </a:lnSpc>
            </a:pPr>
            <a:r>
              <a:rPr lang="en-US" sz="1087">
                <a:solidFill>
                  <a:srgbClr val="3F5168"/>
                </a:solidFill>
                <a:latin typeface="Helvetica"/>
                <a:ea typeface="Helvetica"/>
                <a:cs typeface="Helvetica"/>
                <a:sym typeface="Helvetica"/>
              </a:rPr>
              <a:t>The model was substantially strengthened: broader training data, deeper fine-tuning, phone-photo robustness, and a fail-safe operating point — all validated on held-out data.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71500" y="2209800"/>
            <a:ext cx="6419850" cy="2524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7"/>
              </a:lnSpc>
            </a:pPr>
            <a:r>
              <a:rPr lang="en-US" b="true" sz="1125" spc="-11">
                <a:solidFill>
                  <a:srgbClr val="003D7A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Model &amp; training strategy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71500" y="2481263"/>
            <a:ext cx="6419850" cy="2390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71450" indent="-85725" lvl="1">
              <a:lnSpc>
                <a:spcPts val="1406"/>
              </a:lnSpc>
              <a:buFont typeface="Arial"/>
              <a:buChar char="•"/>
            </a:pPr>
            <a:r>
              <a:rPr lang="en-US" b="true" sz="937">
                <a:solidFill>
                  <a:srgbClr val="0A1A2F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Backbone:</a:t>
            </a:r>
            <a:r>
              <a:rPr lang="en-US" sz="937">
                <a:solidFill>
                  <a:srgbClr val="3F5168"/>
                </a:solidFill>
                <a:latin typeface="Helvetica"/>
                <a:ea typeface="Helvetica"/>
                <a:cs typeface="Helvetica"/>
                <a:sym typeface="Helvetica"/>
              </a:rPr>
              <a:t> ResNet-50 (ImageNet-pretrained). We now fine-tune the deepest residual stage (layer4) plus the classifier head — ~15M trainable parameters — rather than the head alone, letting high-level features adapt from natural images to radiographs.</a:t>
            </a:r>
          </a:p>
          <a:p>
            <a:pPr algn="l" marL="171450" indent="-85725" lvl="1">
              <a:lnSpc>
                <a:spcPts val="1406"/>
              </a:lnSpc>
              <a:buFont typeface="Arial"/>
              <a:buChar char="•"/>
            </a:pPr>
            <a:r>
              <a:rPr lang="en-US" b="true" sz="937">
                <a:solidFill>
                  <a:srgbClr val="0A1A2F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Combined corpus:</a:t>
            </a:r>
            <a:r>
              <a:rPr lang="en-US" sz="937">
                <a:solidFill>
                  <a:srgbClr val="3F5168"/>
                </a:solidFill>
                <a:latin typeface="Helvetica"/>
                <a:ea typeface="Helvetica"/>
                <a:cs typeface="Helvetica"/>
                <a:sym typeface="Helvetica"/>
              </a:rPr>
              <a:t> pediatric (Kermany/Guangzhou, 5,856) </a:t>
            </a:r>
            <a:r>
              <a:rPr lang="en-US" b="true" sz="937">
                <a:solidFill>
                  <a:srgbClr val="0A1A2F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+</a:t>
            </a:r>
            <a:r>
              <a:rPr lang="en-US" sz="937">
                <a:solidFill>
                  <a:srgbClr val="3F5168"/>
                </a:solidFill>
                <a:latin typeface="Helvetica"/>
                <a:ea typeface="Helvetica"/>
                <a:cs typeface="Helvetica"/>
                <a:sym typeface="Helvetica"/>
              </a:rPr>
              <a:t> adult (COVID-19 Radiography Database, 17,549) = </a:t>
            </a:r>
            <a:r>
              <a:rPr lang="en-US" b="true" sz="937">
                <a:solidFill>
                  <a:srgbClr val="0A1A2F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23,405 images</a:t>
            </a:r>
            <a:r>
              <a:rPr lang="en-US" sz="937">
                <a:solidFill>
                  <a:srgbClr val="3F5168"/>
                </a:solidFill>
                <a:latin typeface="Helvetica"/>
                <a:ea typeface="Helvetica"/>
                <a:cs typeface="Helvetica"/>
                <a:sym typeface="Helvetica"/>
              </a:rPr>
              <a:t>, near class-balanced (≈50/50).</a:t>
            </a:r>
          </a:p>
          <a:p>
            <a:pPr algn="l" marL="171450" indent="-85725" lvl="1">
              <a:lnSpc>
                <a:spcPts val="1406"/>
              </a:lnSpc>
              <a:buFont typeface="Arial"/>
              <a:buChar char="•"/>
            </a:pPr>
            <a:r>
              <a:rPr lang="en-US" b="true" sz="937">
                <a:solidFill>
                  <a:srgbClr val="0A1A2F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Phone-photo augmentation:</a:t>
            </a:r>
            <a:r>
              <a:rPr lang="en-US" sz="937">
                <a:solidFill>
                  <a:srgbClr val="3F5168"/>
                </a:solidFill>
                <a:latin typeface="Helvetica"/>
                <a:ea typeface="Helvetica"/>
                <a:cs typeface="Helvetica"/>
                <a:sym typeface="Helvetica"/>
              </a:rPr>
              <a:t> training images are synthetically transformed to mimic phone snapshots of films — perspective, warm colour cast, glare, vignette, blur, JPEG — so the model reads real phone captures, not just clean digital scans.</a:t>
            </a:r>
          </a:p>
          <a:p>
            <a:pPr algn="l" marL="171450" indent="-85725" lvl="1">
              <a:lnSpc>
                <a:spcPts val="1406"/>
              </a:lnSpc>
              <a:buFont typeface="Arial"/>
              <a:buChar char="•"/>
            </a:pPr>
            <a:r>
              <a:rPr lang="en-US" b="true" sz="937">
                <a:solidFill>
                  <a:srgbClr val="0A1A2F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Regularisation:</a:t>
            </a:r>
            <a:r>
              <a:rPr lang="en-US" sz="937">
                <a:solidFill>
                  <a:srgbClr val="3F5168"/>
                </a:solidFill>
                <a:latin typeface="Helvetica"/>
                <a:ea typeface="Helvetica"/>
                <a:cs typeface="Helvetica"/>
                <a:sym typeface="Helvetica"/>
              </a:rPr>
              <a:t> AdamW with weight decay, label smoothing, cosine LR schedule, early stopping — the train/validation gap stays ≈1%.</a:t>
            </a:r>
          </a:p>
          <a:p>
            <a:pPr algn="l" marL="171450" indent="-85725" lvl="1">
              <a:lnSpc>
                <a:spcPts val="1406"/>
              </a:lnSpc>
              <a:buFont typeface="Arial"/>
              <a:buChar char="•"/>
            </a:pPr>
            <a:r>
              <a:rPr lang="en-US" b="true" sz="937">
                <a:solidFill>
                  <a:srgbClr val="0A1A2F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Fail-safe threshold:</a:t>
            </a:r>
            <a:r>
              <a:rPr lang="en-US" sz="937">
                <a:solidFill>
                  <a:srgbClr val="3F5168"/>
                </a:solidFill>
                <a:latin typeface="Helvetica"/>
                <a:ea typeface="Helvetica"/>
                <a:cs typeface="Helvetica"/>
                <a:sym typeface="Helvetica"/>
              </a:rPr>
              <a:t> the decision threshold is tuned on a validation set for ≥95% sensitivity and capped so the tool errs toward flagging — a missed pneumonia is the costly error.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71500" y="5005388"/>
            <a:ext cx="6419850" cy="2524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7"/>
              </a:lnSpc>
            </a:pPr>
            <a:r>
              <a:rPr lang="en-US" b="true" sz="1125" spc="-11">
                <a:solidFill>
                  <a:srgbClr val="003D7A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Held-out test performance (3,510 images)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571500" y="5391150"/>
            <a:ext cx="1533525" cy="683419"/>
            <a:chOff x="0" y="0"/>
            <a:chExt cx="2044700" cy="91122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044700" cy="911225"/>
            </a:xfrm>
            <a:custGeom>
              <a:avLst/>
              <a:gdLst/>
              <a:ahLst/>
              <a:cxnLst/>
              <a:rect r="r" b="b" t="t" l="l"/>
              <a:pathLst>
                <a:path h="911225" w="2044700">
                  <a:moveTo>
                    <a:pt x="139700" y="0"/>
                  </a:moveTo>
                  <a:lnTo>
                    <a:pt x="1905000" y="0"/>
                  </a:lnTo>
                  <a:cubicBezTo>
                    <a:pt x="1982216" y="0"/>
                    <a:pt x="2044700" y="62484"/>
                    <a:pt x="2044700" y="139700"/>
                  </a:cubicBezTo>
                  <a:lnTo>
                    <a:pt x="2044700" y="771525"/>
                  </a:lnTo>
                  <a:cubicBezTo>
                    <a:pt x="2044700" y="848741"/>
                    <a:pt x="1982216" y="911225"/>
                    <a:pt x="1905000" y="911225"/>
                  </a:cubicBezTo>
                  <a:lnTo>
                    <a:pt x="139700" y="911225"/>
                  </a:lnTo>
                  <a:cubicBezTo>
                    <a:pt x="62484" y="911225"/>
                    <a:pt x="0" y="848741"/>
                    <a:pt x="0" y="771525"/>
                  </a:cubicBezTo>
                  <a:lnTo>
                    <a:pt x="0" y="139700"/>
                  </a:lnTo>
                  <a:cubicBezTo>
                    <a:pt x="0" y="62484"/>
                    <a:pt x="62484" y="0"/>
                    <a:pt x="139700" y="0"/>
                  </a:cubicBezTo>
                  <a:close/>
                </a:path>
              </a:pathLst>
            </a:custGeom>
            <a:solidFill>
              <a:srgbClr val="FBFCFE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044700" cy="911225"/>
            </a:xfrm>
            <a:custGeom>
              <a:avLst/>
              <a:gdLst/>
              <a:ahLst/>
              <a:cxnLst/>
              <a:rect r="r" b="b" t="t" l="l"/>
              <a:pathLst>
                <a:path h="911225" w="2044700">
                  <a:moveTo>
                    <a:pt x="139700" y="0"/>
                  </a:moveTo>
                  <a:lnTo>
                    <a:pt x="1905000" y="0"/>
                  </a:lnTo>
                  <a:cubicBezTo>
                    <a:pt x="1982216" y="0"/>
                    <a:pt x="2044700" y="62484"/>
                    <a:pt x="2044700" y="139700"/>
                  </a:cubicBezTo>
                  <a:lnTo>
                    <a:pt x="2044700" y="771525"/>
                  </a:lnTo>
                  <a:cubicBezTo>
                    <a:pt x="2044700" y="848741"/>
                    <a:pt x="1982216" y="911225"/>
                    <a:pt x="1905000" y="911225"/>
                  </a:cubicBezTo>
                  <a:lnTo>
                    <a:pt x="139700" y="911225"/>
                  </a:lnTo>
                  <a:cubicBezTo>
                    <a:pt x="62484" y="911225"/>
                    <a:pt x="0" y="848741"/>
                    <a:pt x="0" y="771525"/>
                  </a:cubicBezTo>
                  <a:lnTo>
                    <a:pt x="0" y="139700"/>
                  </a:lnTo>
                  <a:cubicBezTo>
                    <a:pt x="0" y="62484"/>
                    <a:pt x="62484" y="0"/>
                    <a:pt x="1397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E2E8F0"/>
              </a:solidFill>
              <a:prstDash val="solid"/>
              <a:miter/>
            </a:ln>
          </p:spPr>
        </p:sp>
      </p:grpSp>
      <p:sp>
        <p:nvSpPr>
          <p:cNvPr name="TextBox 15" id="15"/>
          <p:cNvSpPr txBox="true"/>
          <p:nvPr/>
        </p:nvSpPr>
        <p:spPr>
          <a:xfrm rot="0">
            <a:off x="714375" y="5534025"/>
            <a:ext cx="1247775" cy="20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25"/>
              </a:lnSpc>
            </a:pPr>
            <a:r>
              <a:rPr lang="en-US" b="true" sz="1725" spc="-34">
                <a:solidFill>
                  <a:srgbClr val="0066CC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94.2%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14375" y="5753100"/>
            <a:ext cx="1247775" cy="1881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81"/>
              </a:lnSpc>
            </a:pPr>
            <a:r>
              <a:rPr lang="en-US" b="true" sz="787" spc="31">
                <a:solidFill>
                  <a:srgbClr val="6B7A90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ACCURACY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2200275" y="5391150"/>
            <a:ext cx="1533525" cy="683419"/>
            <a:chOff x="0" y="0"/>
            <a:chExt cx="2044700" cy="911225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044700" cy="911225"/>
            </a:xfrm>
            <a:custGeom>
              <a:avLst/>
              <a:gdLst/>
              <a:ahLst/>
              <a:cxnLst/>
              <a:rect r="r" b="b" t="t" l="l"/>
              <a:pathLst>
                <a:path h="911225" w="2044700">
                  <a:moveTo>
                    <a:pt x="139700" y="0"/>
                  </a:moveTo>
                  <a:lnTo>
                    <a:pt x="1905000" y="0"/>
                  </a:lnTo>
                  <a:cubicBezTo>
                    <a:pt x="1982216" y="0"/>
                    <a:pt x="2044700" y="62484"/>
                    <a:pt x="2044700" y="139700"/>
                  </a:cubicBezTo>
                  <a:lnTo>
                    <a:pt x="2044700" y="771525"/>
                  </a:lnTo>
                  <a:cubicBezTo>
                    <a:pt x="2044700" y="848741"/>
                    <a:pt x="1982216" y="911225"/>
                    <a:pt x="1905000" y="911225"/>
                  </a:cubicBezTo>
                  <a:lnTo>
                    <a:pt x="139700" y="911225"/>
                  </a:lnTo>
                  <a:cubicBezTo>
                    <a:pt x="62484" y="911225"/>
                    <a:pt x="0" y="848741"/>
                    <a:pt x="0" y="771525"/>
                  </a:cubicBezTo>
                  <a:lnTo>
                    <a:pt x="0" y="139700"/>
                  </a:lnTo>
                  <a:cubicBezTo>
                    <a:pt x="0" y="62484"/>
                    <a:pt x="62484" y="0"/>
                    <a:pt x="139700" y="0"/>
                  </a:cubicBezTo>
                  <a:close/>
                </a:path>
              </a:pathLst>
            </a:custGeom>
            <a:solidFill>
              <a:srgbClr val="FBFCFE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044700" cy="911225"/>
            </a:xfrm>
            <a:custGeom>
              <a:avLst/>
              <a:gdLst/>
              <a:ahLst/>
              <a:cxnLst/>
              <a:rect r="r" b="b" t="t" l="l"/>
              <a:pathLst>
                <a:path h="911225" w="2044700">
                  <a:moveTo>
                    <a:pt x="139700" y="0"/>
                  </a:moveTo>
                  <a:lnTo>
                    <a:pt x="1905000" y="0"/>
                  </a:lnTo>
                  <a:cubicBezTo>
                    <a:pt x="1982216" y="0"/>
                    <a:pt x="2044700" y="62484"/>
                    <a:pt x="2044700" y="139700"/>
                  </a:cubicBezTo>
                  <a:lnTo>
                    <a:pt x="2044700" y="771525"/>
                  </a:lnTo>
                  <a:cubicBezTo>
                    <a:pt x="2044700" y="848741"/>
                    <a:pt x="1982216" y="911225"/>
                    <a:pt x="1905000" y="911225"/>
                  </a:cubicBezTo>
                  <a:lnTo>
                    <a:pt x="139700" y="911225"/>
                  </a:lnTo>
                  <a:cubicBezTo>
                    <a:pt x="62484" y="911225"/>
                    <a:pt x="0" y="848741"/>
                    <a:pt x="0" y="771525"/>
                  </a:cubicBezTo>
                  <a:lnTo>
                    <a:pt x="0" y="139700"/>
                  </a:lnTo>
                  <a:cubicBezTo>
                    <a:pt x="0" y="62484"/>
                    <a:pt x="62484" y="0"/>
                    <a:pt x="1397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E2E8F0"/>
              </a:solidFill>
              <a:prstDash val="solid"/>
              <a:miter/>
            </a:ln>
          </p:spPr>
        </p:sp>
      </p:grpSp>
      <p:sp>
        <p:nvSpPr>
          <p:cNvPr name="TextBox 20" id="20"/>
          <p:cNvSpPr txBox="true"/>
          <p:nvPr/>
        </p:nvSpPr>
        <p:spPr>
          <a:xfrm rot="0">
            <a:off x="2343150" y="5534025"/>
            <a:ext cx="1247775" cy="20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25"/>
              </a:lnSpc>
            </a:pPr>
            <a:r>
              <a:rPr lang="en-US" b="true" sz="1725" spc="-34">
                <a:solidFill>
                  <a:srgbClr val="0066CC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94.3%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2343150" y="5753100"/>
            <a:ext cx="1247775" cy="1881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81"/>
              </a:lnSpc>
            </a:pPr>
            <a:r>
              <a:rPr lang="en-US" b="true" sz="787" spc="31">
                <a:solidFill>
                  <a:srgbClr val="6B7A90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SENSITIVITY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3829050" y="5391150"/>
            <a:ext cx="1533525" cy="683419"/>
            <a:chOff x="0" y="0"/>
            <a:chExt cx="2044700" cy="911225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044700" cy="911225"/>
            </a:xfrm>
            <a:custGeom>
              <a:avLst/>
              <a:gdLst/>
              <a:ahLst/>
              <a:cxnLst/>
              <a:rect r="r" b="b" t="t" l="l"/>
              <a:pathLst>
                <a:path h="911225" w="2044700">
                  <a:moveTo>
                    <a:pt x="139700" y="0"/>
                  </a:moveTo>
                  <a:lnTo>
                    <a:pt x="1905000" y="0"/>
                  </a:lnTo>
                  <a:cubicBezTo>
                    <a:pt x="1982216" y="0"/>
                    <a:pt x="2044700" y="62484"/>
                    <a:pt x="2044700" y="139700"/>
                  </a:cubicBezTo>
                  <a:lnTo>
                    <a:pt x="2044700" y="771525"/>
                  </a:lnTo>
                  <a:cubicBezTo>
                    <a:pt x="2044700" y="848741"/>
                    <a:pt x="1982216" y="911225"/>
                    <a:pt x="1905000" y="911225"/>
                  </a:cubicBezTo>
                  <a:lnTo>
                    <a:pt x="139700" y="911225"/>
                  </a:lnTo>
                  <a:cubicBezTo>
                    <a:pt x="62484" y="911225"/>
                    <a:pt x="0" y="848741"/>
                    <a:pt x="0" y="771525"/>
                  </a:cubicBezTo>
                  <a:lnTo>
                    <a:pt x="0" y="139700"/>
                  </a:lnTo>
                  <a:cubicBezTo>
                    <a:pt x="0" y="62484"/>
                    <a:pt x="62484" y="0"/>
                    <a:pt x="139700" y="0"/>
                  </a:cubicBezTo>
                  <a:close/>
                </a:path>
              </a:pathLst>
            </a:custGeom>
            <a:solidFill>
              <a:srgbClr val="FBFCFE"/>
            </a:solid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044700" cy="911225"/>
            </a:xfrm>
            <a:custGeom>
              <a:avLst/>
              <a:gdLst/>
              <a:ahLst/>
              <a:cxnLst/>
              <a:rect r="r" b="b" t="t" l="l"/>
              <a:pathLst>
                <a:path h="911225" w="2044700">
                  <a:moveTo>
                    <a:pt x="139700" y="0"/>
                  </a:moveTo>
                  <a:lnTo>
                    <a:pt x="1905000" y="0"/>
                  </a:lnTo>
                  <a:cubicBezTo>
                    <a:pt x="1982216" y="0"/>
                    <a:pt x="2044700" y="62484"/>
                    <a:pt x="2044700" y="139700"/>
                  </a:cubicBezTo>
                  <a:lnTo>
                    <a:pt x="2044700" y="771525"/>
                  </a:lnTo>
                  <a:cubicBezTo>
                    <a:pt x="2044700" y="848741"/>
                    <a:pt x="1982216" y="911225"/>
                    <a:pt x="1905000" y="911225"/>
                  </a:cubicBezTo>
                  <a:lnTo>
                    <a:pt x="139700" y="911225"/>
                  </a:lnTo>
                  <a:cubicBezTo>
                    <a:pt x="62484" y="911225"/>
                    <a:pt x="0" y="848741"/>
                    <a:pt x="0" y="771525"/>
                  </a:cubicBezTo>
                  <a:lnTo>
                    <a:pt x="0" y="139700"/>
                  </a:lnTo>
                  <a:cubicBezTo>
                    <a:pt x="0" y="62484"/>
                    <a:pt x="62484" y="0"/>
                    <a:pt x="1397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E2E8F0"/>
              </a:solidFill>
              <a:prstDash val="solid"/>
              <a:miter/>
            </a:ln>
          </p:spPr>
        </p:sp>
      </p:grpSp>
      <p:sp>
        <p:nvSpPr>
          <p:cNvPr name="TextBox 25" id="25"/>
          <p:cNvSpPr txBox="true"/>
          <p:nvPr/>
        </p:nvSpPr>
        <p:spPr>
          <a:xfrm rot="0">
            <a:off x="3971925" y="5534025"/>
            <a:ext cx="1247775" cy="20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25"/>
              </a:lnSpc>
            </a:pPr>
            <a:r>
              <a:rPr lang="en-US" b="true" sz="1725" spc="-34">
                <a:solidFill>
                  <a:srgbClr val="0066CC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94.2%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3971925" y="5753100"/>
            <a:ext cx="1247775" cy="1881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81"/>
              </a:lnSpc>
            </a:pPr>
            <a:r>
              <a:rPr lang="en-US" b="true" sz="787" spc="31">
                <a:solidFill>
                  <a:srgbClr val="6B7A90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SPECIFICITY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5457825" y="5391150"/>
            <a:ext cx="1533525" cy="683419"/>
            <a:chOff x="0" y="0"/>
            <a:chExt cx="2044700" cy="911225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044700" cy="911225"/>
            </a:xfrm>
            <a:custGeom>
              <a:avLst/>
              <a:gdLst/>
              <a:ahLst/>
              <a:cxnLst/>
              <a:rect r="r" b="b" t="t" l="l"/>
              <a:pathLst>
                <a:path h="911225" w="2044700">
                  <a:moveTo>
                    <a:pt x="139700" y="0"/>
                  </a:moveTo>
                  <a:lnTo>
                    <a:pt x="1905000" y="0"/>
                  </a:lnTo>
                  <a:cubicBezTo>
                    <a:pt x="1982216" y="0"/>
                    <a:pt x="2044700" y="62484"/>
                    <a:pt x="2044700" y="139700"/>
                  </a:cubicBezTo>
                  <a:lnTo>
                    <a:pt x="2044700" y="771525"/>
                  </a:lnTo>
                  <a:cubicBezTo>
                    <a:pt x="2044700" y="848741"/>
                    <a:pt x="1982216" y="911225"/>
                    <a:pt x="1905000" y="911225"/>
                  </a:cubicBezTo>
                  <a:lnTo>
                    <a:pt x="139700" y="911225"/>
                  </a:lnTo>
                  <a:cubicBezTo>
                    <a:pt x="62484" y="911225"/>
                    <a:pt x="0" y="848741"/>
                    <a:pt x="0" y="771525"/>
                  </a:cubicBezTo>
                  <a:lnTo>
                    <a:pt x="0" y="139700"/>
                  </a:lnTo>
                  <a:cubicBezTo>
                    <a:pt x="0" y="62484"/>
                    <a:pt x="62484" y="0"/>
                    <a:pt x="139700" y="0"/>
                  </a:cubicBezTo>
                  <a:close/>
                </a:path>
              </a:pathLst>
            </a:custGeom>
            <a:solidFill>
              <a:srgbClr val="FBFCFE"/>
            </a:solidFill>
          </p:spPr>
        </p:sp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044700" cy="911225"/>
            </a:xfrm>
            <a:custGeom>
              <a:avLst/>
              <a:gdLst/>
              <a:ahLst/>
              <a:cxnLst/>
              <a:rect r="r" b="b" t="t" l="l"/>
              <a:pathLst>
                <a:path h="911225" w="2044700">
                  <a:moveTo>
                    <a:pt x="139700" y="0"/>
                  </a:moveTo>
                  <a:lnTo>
                    <a:pt x="1905000" y="0"/>
                  </a:lnTo>
                  <a:cubicBezTo>
                    <a:pt x="1982216" y="0"/>
                    <a:pt x="2044700" y="62484"/>
                    <a:pt x="2044700" y="139700"/>
                  </a:cubicBezTo>
                  <a:lnTo>
                    <a:pt x="2044700" y="771525"/>
                  </a:lnTo>
                  <a:cubicBezTo>
                    <a:pt x="2044700" y="848741"/>
                    <a:pt x="1982216" y="911225"/>
                    <a:pt x="1905000" y="911225"/>
                  </a:cubicBezTo>
                  <a:lnTo>
                    <a:pt x="139700" y="911225"/>
                  </a:lnTo>
                  <a:cubicBezTo>
                    <a:pt x="62484" y="911225"/>
                    <a:pt x="0" y="848741"/>
                    <a:pt x="0" y="771525"/>
                  </a:cubicBezTo>
                  <a:lnTo>
                    <a:pt x="0" y="139700"/>
                  </a:lnTo>
                  <a:cubicBezTo>
                    <a:pt x="0" y="62484"/>
                    <a:pt x="62484" y="0"/>
                    <a:pt x="1397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E2E8F0"/>
              </a:solidFill>
              <a:prstDash val="solid"/>
              <a:miter/>
            </a:ln>
          </p:spPr>
        </p:sp>
      </p:grpSp>
      <p:sp>
        <p:nvSpPr>
          <p:cNvPr name="TextBox 30" id="30"/>
          <p:cNvSpPr txBox="true"/>
          <p:nvPr/>
        </p:nvSpPr>
        <p:spPr>
          <a:xfrm rot="0">
            <a:off x="5600700" y="5534025"/>
            <a:ext cx="1247775" cy="20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25"/>
              </a:lnSpc>
            </a:pPr>
            <a:r>
              <a:rPr lang="en-US" b="true" sz="1725" spc="-34">
                <a:solidFill>
                  <a:srgbClr val="0066CC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0.988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5600700" y="5753100"/>
            <a:ext cx="1247775" cy="1881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81"/>
              </a:lnSpc>
            </a:pPr>
            <a:r>
              <a:rPr lang="en-US" b="true" sz="787" spc="31">
                <a:solidFill>
                  <a:srgbClr val="6B7A90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AUC-ROC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571500" y="6207919"/>
            <a:ext cx="2185130" cy="266700"/>
            <a:chOff x="0" y="0"/>
            <a:chExt cx="2913507" cy="3556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2913507" cy="355600"/>
            </a:xfrm>
            <a:custGeom>
              <a:avLst/>
              <a:gdLst/>
              <a:ahLst/>
              <a:cxnLst/>
              <a:rect r="r" b="b" t="t" l="l"/>
              <a:pathLst>
                <a:path h="355600" w="2913507">
                  <a:moveTo>
                    <a:pt x="0" y="0"/>
                  </a:moveTo>
                  <a:lnTo>
                    <a:pt x="2913507" y="0"/>
                  </a:lnTo>
                  <a:lnTo>
                    <a:pt x="2913507" y="355600"/>
                  </a:lnTo>
                  <a:lnTo>
                    <a:pt x="0" y="355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66CC"/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2913507" cy="393700"/>
            </a:xfrm>
            <a:prstGeom prst="rect">
              <a:avLst/>
            </a:prstGeom>
          </p:spPr>
          <p:txBody>
            <a:bodyPr anchor="ctr" rtlCol="false" tIns="101600" lIns="101600" bIns="101600" rIns="101600"/>
            <a:lstStyle/>
            <a:p>
              <a:pPr algn="l">
                <a:lnSpc>
                  <a:spcPts val="1207"/>
                </a:lnSpc>
              </a:pPr>
              <a:r>
                <a:rPr lang="en-US" b="true" sz="862">
                  <a:solidFill>
                    <a:srgbClr val="FFFFFF"/>
                  </a:solidFill>
                  <a:latin typeface="Helvetica Bold"/>
                  <a:ea typeface="Helvetica Bold"/>
                  <a:cs typeface="Helvetica Bold"/>
                  <a:sym typeface="Helvetica Bold"/>
                </a:rPr>
                <a:t>Metric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2756630" y="6207919"/>
            <a:ext cx="1688306" cy="266700"/>
            <a:chOff x="0" y="0"/>
            <a:chExt cx="2251075" cy="3556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2251075" cy="355600"/>
            </a:xfrm>
            <a:custGeom>
              <a:avLst/>
              <a:gdLst/>
              <a:ahLst/>
              <a:cxnLst/>
              <a:rect r="r" b="b" t="t" l="l"/>
              <a:pathLst>
                <a:path h="355600" w="2251075">
                  <a:moveTo>
                    <a:pt x="0" y="0"/>
                  </a:moveTo>
                  <a:lnTo>
                    <a:pt x="2251075" y="0"/>
                  </a:lnTo>
                  <a:lnTo>
                    <a:pt x="2251075" y="355600"/>
                  </a:lnTo>
                  <a:lnTo>
                    <a:pt x="0" y="355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66CC"/>
            </a:solid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2251075" cy="393700"/>
            </a:xfrm>
            <a:prstGeom prst="rect">
              <a:avLst/>
            </a:prstGeom>
          </p:spPr>
          <p:txBody>
            <a:bodyPr anchor="ctr" rtlCol="false" tIns="101600" lIns="101600" bIns="101600" rIns="101600"/>
            <a:lstStyle/>
            <a:p>
              <a:pPr algn="l">
                <a:lnSpc>
                  <a:spcPts val="1207"/>
                </a:lnSpc>
              </a:pPr>
              <a:r>
                <a:rPr lang="en-US" b="true" sz="862">
                  <a:solidFill>
                    <a:srgbClr val="FFFFFF"/>
                  </a:solidFill>
                  <a:latin typeface="Helvetica Bold"/>
                  <a:ea typeface="Helvetica Bold"/>
                  <a:cs typeface="Helvetica Bold"/>
                  <a:sym typeface="Helvetica Bold"/>
                </a:rPr>
                <a:t>Old (pediatric-only)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4444936" y="6207919"/>
            <a:ext cx="2546414" cy="266700"/>
            <a:chOff x="0" y="0"/>
            <a:chExt cx="3395218" cy="3556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3395218" cy="355600"/>
            </a:xfrm>
            <a:custGeom>
              <a:avLst/>
              <a:gdLst/>
              <a:ahLst/>
              <a:cxnLst/>
              <a:rect r="r" b="b" t="t" l="l"/>
              <a:pathLst>
                <a:path h="355600" w="3395218">
                  <a:moveTo>
                    <a:pt x="0" y="0"/>
                  </a:moveTo>
                  <a:lnTo>
                    <a:pt x="3395218" y="0"/>
                  </a:lnTo>
                  <a:lnTo>
                    <a:pt x="3395218" y="355600"/>
                  </a:lnTo>
                  <a:lnTo>
                    <a:pt x="0" y="355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66CC"/>
            </a:solid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38100"/>
              <a:ext cx="3395218" cy="393700"/>
            </a:xfrm>
            <a:prstGeom prst="rect">
              <a:avLst/>
            </a:prstGeom>
          </p:spPr>
          <p:txBody>
            <a:bodyPr anchor="ctr" rtlCol="false" tIns="101600" lIns="101600" bIns="101600" rIns="101600"/>
            <a:lstStyle/>
            <a:p>
              <a:pPr algn="l">
                <a:lnSpc>
                  <a:spcPts val="1207"/>
                </a:lnSpc>
              </a:pPr>
              <a:r>
                <a:rPr lang="en-US" b="true" sz="862">
                  <a:solidFill>
                    <a:srgbClr val="FFFFFF"/>
                  </a:solidFill>
                  <a:latin typeface="Helvetica Bold"/>
                  <a:ea typeface="Helvetica Bold"/>
                  <a:cs typeface="Helvetica Bold"/>
                  <a:sym typeface="Helvetica Bold"/>
                </a:rPr>
                <a:t>Now (combined + phone-trained)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571500" y="6474619"/>
            <a:ext cx="2185130" cy="290512"/>
            <a:chOff x="0" y="0"/>
            <a:chExt cx="2913507" cy="38735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2913507" cy="387350"/>
            </a:xfrm>
            <a:custGeom>
              <a:avLst/>
              <a:gdLst/>
              <a:ahLst/>
              <a:cxnLst/>
              <a:rect r="r" b="b" t="t" l="l"/>
              <a:pathLst>
                <a:path h="387350" w="2913507">
                  <a:moveTo>
                    <a:pt x="0" y="0"/>
                  </a:moveTo>
                  <a:lnTo>
                    <a:pt x="2913507" y="0"/>
                  </a:lnTo>
                  <a:lnTo>
                    <a:pt x="2913507" y="387350"/>
                  </a:lnTo>
                  <a:lnTo>
                    <a:pt x="0" y="3873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7FAFD"/>
            </a:solid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38100"/>
              <a:ext cx="2913507" cy="425450"/>
            </a:xfrm>
            <a:prstGeom prst="rect">
              <a:avLst/>
            </a:prstGeom>
          </p:spPr>
          <p:txBody>
            <a:bodyPr anchor="ctr" rtlCol="false" tIns="104775" lIns="104775" bIns="104775" rIns="104775"/>
            <a:lstStyle/>
            <a:p>
              <a:pPr algn="l">
                <a:lnSpc>
                  <a:spcPts val="1260"/>
                </a:lnSpc>
              </a:pPr>
              <a:r>
                <a:rPr lang="en-US" b="true" sz="900">
                  <a:solidFill>
                    <a:srgbClr val="0A1A2F"/>
                  </a:solidFill>
                  <a:latin typeface="Helvetica Bold"/>
                  <a:ea typeface="Helvetica Bold"/>
                  <a:cs typeface="Helvetica Bold"/>
                  <a:sym typeface="Helvetica Bold"/>
                </a:rPr>
                <a:t>Test accuracy</a:t>
              </a:r>
            </a:p>
          </p:txBody>
        </p:sp>
      </p:grpSp>
      <p:sp>
        <p:nvSpPr>
          <p:cNvPr name="AutoShape 44" id="44"/>
          <p:cNvSpPr/>
          <p:nvPr/>
        </p:nvSpPr>
        <p:spPr>
          <a:xfrm rot="0">
            <a:off x="571500" y="6755606"/>
            <a:ext cx="2185130" cy="9525"/>
          </a:xfrm>
          <a:prstGeom prst="rect">
            <a:avLst/>
          </a:prstGeom>
          <a:solidFill>
            <a:srgbClr val="E2E8F0"/>
          </a:solidFill>
        </p:spPr>
      </p:sp>
      <p:grpSp>
        <p:nvGrpSpPr>
          <p:cNvPr name="Group 45" id="45"/>
          <p:cNvGrpSpPr/>
          <p:nvPr/>
        </p:nvGrpSpPr>
        <p:grpSpPr>
          <a:xfrm rot="0">
            <a:off x="2756630" y="6474619"/>
            <a:ext cx="1688306" cy="290512"/>
            <a:chOff x="0" y="0"/>
            <a:chExt cx="2251075" cy="38735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2251075" cy="387350"/>
            </a:xfrm>
            <a:custGeom>
              <a:avLst/>
              <a:gdLst/>
              <a:ahLst/>
              <a:cxnLst/>
              <a:rect r="r" b="b" t="t" l="l"/>
              <a:pathLst>
                <a:path h="387350" w="2251075">
                  <a:moveTo>
                    <a:pt x="0" y="0"/>
                  </a:moveTo>
                  <a:lnTo>
                    <a:pt x="2251075" y="0"/>
                  </a:lnTo>
                  <a:lnTo>
                    <a:pt x="2251075" y="387350"/>
                  </a:lnTo>
                  <a:lnTo>
                    <a:pt x="0" y="3873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7FAFD"/>
            </a:solid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38100"/>
              <a:ext cx="2251075" cy="425450"/>
            </a:xfrm>
            <a:prstGeom prst="rect">
              <a:avLst/>
            </a:prstGeom>
          </p:spPr>
          <p:txBody>
            <a:bodyPr anchor="ctr" rtlCol="false" tIns="104775" lIns="104775" bIns="104775" rIns="104775"/>
            <a:lstStyle/>
            <a:p>
              <a:pPr algn="l">
                <a:lnSpc>
                  <a:spcPts val="1260"/>
                </a:lnSpc>
              </a:pPr>
              <a:r>
                <a:rPr lang="en-US" sz="900">
                  <a:solidFill>
                    <a:srgbClr val="3F5168"/>
                  </a:solidFill>
                  <a:latin typeface="Helvetica"/>
                  <a:ea typeface="Helvetica"/>
                  <a:cs typeface="Helvetica"/>
                  <a:sym typeface="Helvetica"/>
                </a:rPr>
                <a:t>86.7%</a:t>
              </a:r>
            </a:p>
          </p:txBody>
        </p:sp>
      </p:grpSp>
      <p:sp>
        <p:nvSpPr>
          <p:cNvPr name="AutoShape 48" id="48"/>
          <p:cNvSpPr/>
          <p:nvPr/>
        </p:nvSpPr>
        <p:spPr>
          <a:xfrm rot="0">
            <a:off x="2756630" y="6755606"/>
            <a:ext cx="1688306" cy="9525"/>
          </a:xfrm>
          <a:prstGeom prst="rect">
            <a:avLst/>
          </a:prstGeom>
          <a:solidFill>
            <a:srgbClr val="E2E8F0"/>
          </a:solidFill>
        </p:spPr>
      </p:sp>
      <p:grpSp>
        <p:nvGrpSpPr>
          <p:cNvPr name="Group 49" id="49"/>
          <p:cNvGrpSpPr/>
          <p:nvPr/>
        </p:nvGrpSpPr>
        <p:grpSpPr>
          <a:xfrm rot="0">
            <a:off x="4444936" y="6474619"/>
            <a:ext cx="2546414" cy="290512"/>
            <a:chOff x="0" y="0"/>
            <a:chExt cx="3395218" cy="38735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3395218" cy="387350"/>
            </a:xfrm>
            <a:custGeom>
              <a:avLst/>
              <a:gdLst/>
              <a:ahLst/>
              <a:cxnLst/>
              <a:rect r="r" b="b" t="t" l="l"/>
              <a:pathLst>
                <a:path h="387350" w="3395218">
                  <a:moveTo>
                    <a:pt x="0" y="0"/>
                  </a:moveTo>
                  <a:lnTo>
                    <a:pt x="3395218" y="0"/>
                  </a:lnTo>
                  <a:lnTo>
                    <a:pt x="3395218" y="387350"/>
                  </a:lnTo>
                  <a:lnTo>
                    <a:pt x="0" y="3873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7FAFD"/>
            </a:solid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38100"/>
              <a:ext cx="3395218" cy="425450"/>
            </a:xfrm>
            <a:prstGeom prst="rect">
              <a:avLst/>
            </a:prstGeom>
          </p:spPr>
          <p:txBody>
            <a:bodyPr anchor="ctr" rtlCol="false" tIns="104775" lIns="104775" bIns="104775" rIns="104775"/>
            <a:lstStyle/>
            <a:p>
              <a:pPr algn="l">
                <a:lnSpc>
                  <a:spcPts val="1260"/>
                </a:lnSpc>
              </a:pPr>
              <a:r>
                <a:rPr lang="en-US" b="true" sz="900">
                  <a:solidFill>
                    <a:srgbClr val="0A1A2F"/>
                  </a:solidFill>
                  <a:latin typeface="Helvetica Bold"/>
                  <a:ea typeface="Helvetica Bold"/>
                  <a:cs typeface="Helvetica Bold"/>
                  <a:sym typeface="Helvetica Bold"/>
                </a:rPr>
                <a:t>94.2%</a:t>
              </a:r>
            </a:p>
          </p:txBody>
        </p:sp>
      </p:grpSp>
      <p:sp>
        <p:nvSpPr>
          <p:cNvPr name="AutoShape 52" id="52"/>
          <p:cNvSpPr/>
          <p:nvPr/>
        </p:nvSpPr>
        <p:spPr>
          <a:xfrm rot="0">
            <a:off x="4444936" y="6755606"/>
            <a:ext cx="2546414" cy="9525"/>
          </a:xfrm>
          <a:prstGeom prst="rect">
            <a:avLst/>
          </a:prstGeom>
          <a:solidFill>
            <a:srgbClr val="E2E8F0"/>
          </a:solidFill>
        </p:spPr>
      </p:sp>
      <p:sp>
        <p:nvSpPr>
          <p:cNvPr name="AutoShape 53" id="53"/>
          <p:cNvSpPr/>
          <p:nvPr/>
        </p:nvSpPr>
        <p:spPr>
          <a:xfrm rot="0">
            <a:off x="571500" y="7050881"/>
            <a:ext cx="2185130" cy="9525"/>
          </a:xfrm>
          <a:prstGeom prst="rect">
            <a:avLst/>
          </a:prstGeom>
          <a:solidFill>
            <a:srgbClr val="E2E8F0"/>
          </a:solidFill>
        </p:spPr>
      </p:sp>
      <p:sp>
        <p:nvSpPr>
          <p:cNvPr name="TextBox 54" id="54"/>
          <p:cNvSpPr txBox="true"/>
          <p:nvPr/>
        </p:nvSpPr>
        <p:spPr>
          <a:xfrm rot="0">
            <a:off x="571500" y="6727031"/>
            <a:ext cx="2185130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b="true" sz="900">
                <a:solidFill>
                  <a:srgbClr val="0A1A2F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AUC-ROC</a:t>
            </a:r>
          </a:p>
        </p:txBody>
      </p:sp>
      <p:sp>
        <p:nvSpPr>
          <p:cNvPr name="AutoShape 55" id="55"/>
          <p:cNvSpPr/>
          <p:nvPr/>
        </p:nvSpPr>
        <p:spPr>
          <a:xfrm rot="0">
            <a:off x="2756630" y="7050881"/>
            <a:ext cx="1688306" cy="9525"/>
          </a:xfrm>
          <a:prstGeom prst="rect">
            <a:avLst/>
          </a:prstGeom>
          <a:solidFill>
            <a:srgbClr val="E2E8F0"/>
          </a:solidFill>
        </p:spPr>
      </p:sp>
      <p:sp>
        <p:nvSpPr>
          <p:cNvPr name="TextBox 56" id="56"/>
          <p:cNvSpPr txBox="true"/>
          <p:nvPr/>
        </p:nvSpPr>
        <p:spPr>
          <a:xfrm rot="0">
            <a:off x="2756630" y="6727031"/>
            <a:ext cx="1688306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sz="900">
                <a:solidFill>
                  <a:srgbClr val="3F5168"/>
                </a:solidFill>
                <a:latin typeface="Helvetica"/>
                <a:ea typeface="Helvetica"/>
                <a:cs typeface="Helvetica"/>
                <a:sym typeface="Helvetica"/>
              </a:rPr>
              <a:t>0.943</a:t>
            </a:r>
          </a:p>
        </p:txBody>
      </p:sp>
      <p:sp>
        <p:nvSpPr>
          <p:cNvPr name="AutoShape 57" id="57"/>
          <p:cNvSpPr/>
          <p:nvPr/>
        </p:nvSpPr>
        <p:spPr>
          <a:xfrm rot="0">
            <a:off x="4444936" y="7050881"/>
            <a:ext cx="2546414" cy="9525"/>
          </a:xfrm>
          <a:prstGeom prst="rect">
            <a:avLst/>
          </a:prstGeom>
          <a:solidFill>
            <a:srgbClr val="E2E8F0"/>
          </a:solidFill>
        </p:spPr>
      </p:sp>
      <p:sp>
        <p:nvSpPr>
          <p:cNvPr name="TextBox 58" id="58"/>
          <p:cNvSpPr txBox="true"/>
          <p:nvPr/>
        </p:nvSpPr>
        <p:spPr>
          <a:xfrm rot="0">
            <a:off x="4444936" y="6727031"/>
            <a:ext cx="2546414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b="true" sz="900">
                <a:solidFill>
                  <a:srgbClr val="0A1A2F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0.988</a:t>
            </a:r>
          </a:p>
        </p:txBody>
      </p:sp>
      <p:grpSp>
        <p:nvGrpSpPr>
          <p:cNvPr name="Group 59" id="59"/>
          <p:cNvGrpSpPr/>
          <p:nvPr/>
        </p:nvGrpSpPr>
        <p:grpSpPr>
          <a:xfrm rot="0">
            <a:off x="571500" y="7060406"/>
            <a:ext cx="2185130" cy="295275"/>
            <a:chOff x="0" y="0"/>
            <a:chExt cx="2913507" cy="39370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2913507" cy="393700"/>
            </a:xfrm>
            <a:custGeom>
              <a:avLst/>
              <a:gdLst/>
              <a:ahLst/>
              <a:cxnLst/>
              <a:rect r="r" b="b" t="t" l="l"/>
              <a:pathLst>
                <a:path h="393700" w="2913507">
                  <a:moveTo>
                    <a:pt x="0" y="0"/>
                  </a:moveTo>
                  <a:lnTo>
                    <a:pt x="2913507" y="0"/>
                  </a:lnTo>
                  <a:lnTo>
                    <a:pt x="2913507" y="393700"/>
                  </a:lnTo>
                  <a:lnTo>
                    <a:pt x="0" y="3937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7FAFD"/>
            </a:solid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38100"/>
              <a:ext cx="2913507" cy="431800"/>
            </a:xfrm>
            <a:prstGeom prst="rect">
              <a:avLst/>
            </a:prstGeom>
          </p:spPr>
          <p:txBody>
            <a:bodyPr anchor="ctr" rtlCol="false" tIns="107950" lIns="107950" bIns="107950" rIns="107950"/>
            <a:lstStyle/>
            <a:p>
              <a:pPr algn="l">
                <a:lnSpc>
                  <a:spcPts val="1260"/>
                </a:lnSpc>
              </a:pPr>
              <a:r>
                <a:rPr lang="en-US" b="true" sz="900">
                  <a:solidFill>
                    <a:srgbClr val="0A1A2F"/>
                  </a:solidFill>
                  <a:latin typeface="Helvetica Bold"/>
                  <a:ea typeface="Helvetica Bold"/>
                  <a:cs typeface="Helvetica Bold"/>
                  <a:sym typeface="Helvetica Bold"/>
                </a:rPr>
                <a:t>Sensitivity / Precision / F1</a:t>
              </a:r>
            </a:p>
          </p:txBody>
        </p:sp>
      </p:grpSp>
      <p:sp>
        <p:nvSpPr>
          <p:cNvPr name="AutoShape 62" id="62"/>
          <p:cNvSpPr/>
          <p:nvPr/>
        </p:nvSpPr>
        <p:spPr>
          <a:xfrm rot="0">
            <a:off x="571500" y="7346156"/>
            <a:ext cx="2185130" cy="9525"/>
          </a:xfrm>
          <a:prstGeom prst="rect">
            <a:avLst/>
          </a:prstGeom>
          <a:solidFill>
            <a:srgbClr val="E2E8F0"/>
          </a:solidFill>
        </p:spPr>
      </p:sp>
      <p:grpSp>
        <p:nvGrpSpPr>
          <p:cNvPr name="Group 63" id="63"/>
          <p:cNvGrpSpPr/>
          <p:nvPr/>
        </p:nvGrpSpPr>
        <p:grpSpPr>
          <a:xfrm rot="0">
            <a:off x="2756630" y="7060406"/>
            <a:ext cx="1688306" cy="295275"/>
            <a:chOff x="0" y="0"/>
            <a:chExt cx="2251075" cy="393700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2251075" cy="393700"/>
            </a:xfrm>
            <a:custGeom>
              <a:avLst/>
              <a:gdLst/>
              <a:ahLst/>
              <a:cxnLst/>
              <a:rect r="r" b="b" t="t" l="l"/>
              <a:pathLst>
                <a:path h="393700" w="2251075">
                  <a:moveTo>
                    <a:pt x="0" y="0"/>
                  </a:moveTo>
                  <a:lnTo>
                    <a:pt x="2251075" y="0"/>
                  </a:lnTo>
                  <a:lnTo>
                    <a:pt x="2251075" y="393700"/>
                  </a:lnTo>
                  <a:lnTo>
                    <a:pt x="0" y="3937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7FAFD"/>
            </a:solid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38100"/>
              <a:ext cx="2251075" cy="431800"/>
            </a:xfrm>
            <a:prstGeom prst="rect">
              <a:avLst/>
            </a:prstGeom>
          </p:spPr>
          <p:txBody>
            <a:bodyPr anchor="ctr" rtlCol="false" tIns="107950" lIns="107950" bIns="107950" rIns="107950"/>
            <a:lstStyle/>
            <a:p>
              <a:pPr algn="l">
                <a:lnSpc>
                  <a:spcPts val="1260"/>
                </a:lnSpc>
              </a:pPr>
              <a:r>
                <a:rPr lang="en-US" sz="900">
                  <a:solidFill>
                    <a:srgbClr val="3F5168"/>
                  </a:solidFill>
                  <a:latin typeface="Helvetica"/>
                  <a:ea typeface="Helvetica"/>
                  <a:cs typeface="Helvetica"/>
                  <a:sym typeface="Helvetica"/>
                </a:rPr>
                <a:t>96.7% / 84.3% / 0.90</a:t>
              </a:r>
            </a:p>
          </p:txBody>
        </p:sp>
      </p:grpSp>
      <p:sp>
        <p:nvSpPr>
          <p:cNvPr name="AutoShape 66" id="66"/>
          <p:cNvSpPr/>
          <p:nvPr/>
        </p:nvSpPr>
        <p:spPr>
          <a:xfrm rot="0">
            <a:off x="2756630" y="7346156"/>
            <a:ext cx="1688306" cy="9525"/>
          </a:xfrm>
          <a:prstGeom prst="rect">
            <a:avLst/>
          </a:prstGeom>
          <a:solidFill>
            <a:srgbClr val="E2E8F0"/>
          </a:solidFill>
        </p:spPr>
      </p:sp>
      <p:grpSp>
        <p:nvGrpSpPr>
          <p:cNvPr name="Group 67" id="67"/>
          <p:cNvGrpSpPr/>
          <p:nvPr/>
        </p:nvGrpSpPr>
        <p:grpSpPr>
          <a:xfrm rot="0">
            <a:off x="4444936" y="7060406"/>
            <a:ext cx="2546414" cy="295275"/>
            <a:chOff x="0" y="0"/>
            <a:chExt cx="3395218" cy="393700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3395218" cy="393700"/>
            </a:xfrm>
            <a:custGeom>
              <a:avLst/>
              <a:gdLst/>
              <a:ahLst/>
              <a:cxnLst/>
              <a:rect r="r" b="b" t="t" l="l"/>
              <a:pathLst>
                <a:path h="393700" w="3395218">
                  <a:moveTo>
                    <a:pt x="0" y="0"/>
                  </a:moveTo>
                  <a:lnTo>
                    <a:pt x="3395218" y="0"/>
                  </a:lnTo>
                  <a:lnTo>
                    <a:pt x="3395218" y="393700"/>
                  </a:lnTo>
                  <a:lnTo>
                    <a:pt x="0" y="3937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7FAFD"/>
            </a:solid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38100"/>
              <a:ext cx="3395218" cy="431800"/>
            </a:xfrm>
            <a:prstGeom prst="rect">
              <a:avLst/>
            </a:prstGeom>
          </p:spPr>
          <p:txBody>
            <a:bodyPr anchor="ctr" rtlCol="false" tIns="107950" lIns="107950" bIns="107950" rIns="107950"/>
            <a:lstStyle/>
            <a:p>
              <a:pPr algn="l">
                <a:lnSpc>
                  <a:spcPts val="1260"/>
                </a:lnSpc>
              </a:pPr>
              <a:r>
                <a:rPr lang="en-US" b="true" sz="900">
                  <a:solidFill>
                    <a:srgbClr val="0A1A2F"/>
                  </a:solidFill>
                  <a:latin typeface="Helvetica Bold"/>
                  <a:ea typeface="Helvetica Bold"/>
                  <a:cs typeface="Helvetica Bold"/>
                  <a:sym typeface="Helvetica Bold"/>
                </a:rPr>
                <a:t>94.3% / 94.1% / 0.94</a:t>
              </a:r>
            </a:p>
          </p:txBody>
        </p:sp>
      </p:grpSp>
      <p:sp>
        <p:nvSpPr>
          <p:cNvPr name="AutoShape 70" id="70"/>
          <p:cNvSpPr/>
          <p:nvPr/>
        </p:nvSpPr>
        <p:spPr>
          <a:xfrm rot="0">
            <a:off x="4444936" y="7346156"/>
            <a:ext cx="2546414" cy="9525"/>
          </a:xfrm>
          <a:prstGeom prst="rect">
            <a:avLst/>
          </a:prstGeom>
          <a:solidFill>
            <a:srgbClr val="E2E8F0"/>
          </a:solidFill>
        </p:spPr>
      </p:sp>
      <p:sp>
        <p:nvSpPr>
          <p:cNvPr name="AutoShape 71" id="71"/>
          <p:cNvSpPr/>
          <p:nvPr/>
        </p:nvSpPr>
        <p:spPr>
          <a:xfrm rot="0">
            <a:off x="571500" y="7641431"/>
            <a:ext cx="2185130" cy="9525"/>
          </a:xfrm>
          <a:prstGeom prst="rect">
            <a:avLst/>
          </a:prstGeom>
          <a:solidFill>
            <a:srgbClr val="E2E8F0"/>
          </a:solidFill>
        </p:spPr>
      </p:sp>
      <p:sp>
        <p:nvSpPr>
          <p:cNvPr name="TextBox 72" id="72"/>
          <p:cNvSpPr txBox="true"/>
          <p:nvPr/>
        </p:nvSpPr>
        <p:spPr>
          <a:xfrm rot="0">
            <a:off x="571500" y="7317581"/>
            <a:ext cx="2185130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b="true" sz="900">
                <a:solidFill>
                  <a:srgbClr val="0A1A2F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Works on adult X-rays</a:t>
            </a:r>
          </a:p>
        </p:txBody>
      </p:sp>
      <p:sp>
        <p:nvSpPr>
          <p:cNvPr name="AutoShape 73" id="73"/>
          <p:cNvSpPr/>
          <p:nvPr/>
        </p:nvSpPr>
        <p:spPr>
          <a:xfrm rot="0">
            <a:off x="2756630" y="7641431"/>
            <a:ext cx="1688306" cy="9525"/>
          </a:xfrm>
          <a:prstGeom prst="rect">
            <a:avLst/>
          </a:prstGeom>
          <a:solidFill>
            <a:srgbClr val="E2E8F0"/>
          </a:solidFill>
        </p:spPr>
      </p:sp>
      <p:sp>
        <p:nvSpPr>
          <p:cNvPr name="TextBox 74" id="74"/>
          <p:cNvSpPr txBox="true"/>
          <p:nvPr/>
        </p:nvSpPr>
        <p:spPr>
          <a:xfrm rot="0">
            <a:off x="2756630" y="7317581"/>
            <a:ext cx="1688306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sz="900">
                <a:solidFill>
                  <a:srgbClr val="3F5168"/>
                </a:solidFill>
                <a:latin typeface="Helvetica"/>
                <a:ea typeface="Helvetica"/>
                <a:cs typeface="Helvetica"/>
                <a:sym typeface="Helvetica"/>
              </a:rPr>
              <a:t>No (fails)</a:t>
            </a:r>
          </a:p>
        </p:txBody>
      </p:sp>
      <p:sp>
        <p:nvSpPr>
          <p:cNvPr name="AutoShape 75" id="75"/>
          <p:cNvSpPr/>
          <p:nvPr/>
        </p:nvSpPr>
        <p:spPr>
          <a:xfrm rot="0">
            <a:off x="4444936" y="7641431"/>
            <a:ext cx="2546414" cy="9525"/>
          </a:xfrm>
          <a:prstGeom prst="rect">
            <a:avLst/>
          </a:prstGeom>
          <a:solidFill>
            <a:srgbClr val="E2E8F0"/>
          </a:solidFill>
        </p:spPr>
      </p:sp>
      <p:sp>
        <p:nvSpPr>
          <p:cNvPr name="TextBox 76" id="76"/>
          <p:cNvSpPr txBox="true"/>
          <p:nvPr/>
        </p:nvSpPr>
        <p:spPr>
          <a:xfrm rot="0">
            <a:off x="4444936" y="7317581"/>
            <a:ext cx="2546414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b="true" sz="900">
                <a:solidFill>
                  <a:srgbClr val="0A1A2F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Yes — 92.4% recall, AUC 0.984</a:t>
            </a:r>
          </a:p>
        </p:txBody>
      </p:sp>
      <p:grpSp>
        <p:nvGrpSpPr>
          <p:cNvPr name="Group 77" id="77"/>
          <p:cNvGrpSpPr/>
          <p:nvPr/>
        </p:nvGrpSpPr>
        <p:grpSpPr>
          <a:xfrm rot="0">
            <a:off x="571500" y="7650956"/>
            <a:ext cx="2185130" cy="295275"/>
            <a:chOff x="0" y="0"/>
            <a:chExt cx="2913507" cy="393700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2913507" cy="393700"/>
            </a:xfrm>
            <a:custGeom>
              <a:avLst/>
              <a:gdLst/>
              <a:ahLst/>
              <a:cxnLst/>
              <a:rect r="r" b="b" t="t" l="l"/>
              <a:pathLst>
                <a:path h="393700" w="2913507">
                  <a:moveTo>
                    <a:pt x="0" y="0"/>
                  </a:moveTo>
                  <a:lnTo>
                    <a:pt x="2913507" y="0"/>
                  </a:lnTo>
                  <a:lnTo>
                    <a:pt x="2913507" y="393700"/>
                  </a:lnTo>
                  <a:lnTo>
                    <a:pt x="0" y="3937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7FAFD"/>
            </a:solid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38100"/>
              <a:ext cx="2913507" cy="431800"/>
            </a:xfrm>
            <a:prstGeom prst="rect">
              <a:avLst/>
            </a:prstGeom>
          </p:spPr>
          <p:txBody>
            <a:bodyPr anchor="ctr" rtlCol="false" tIns="107950" lIns="107950" bIns="107950" rIns="107950"/>
            <a:lstStyle/>
            <a:p>
              <a:pPr algn="l">
                <a:lnSpc>
                  <a:spcPts val="1260"/>
                </a:lnSpc>
              </a:pPr>
              <a:r>
                <a:rPr lang="en-US" b="true" sz="900">
                  <a:solidFill>
                    <a:srgbClr val="0A1A2F"/>
                  </a:solidFill>
                  <a:latin typeface="Helvetica Bold"/>
                  <a:ea typeface="Helvetica Bold"/>
                  <a:cs typeface="Helvetica Bold"/>
                  <a:sym typeface="Helvetica Bold"/>
                </a:rPr>
                <a:t>Works on phone photos</a:t>
              </a:r>
            </a:p>
          </p:txBody>
        </p:sp>
      </p:grpSp>
      <p:sp>
        <p:nvSpPr>
          <p:cNvPr name="AutoShape 80" id="80"/>
          <p:cNvSpPr/>
          <p:nvPr/>
        </p:nvSpPr>
        <p:spPr>
          <a:xfrm rot="0">
            <a:off x="571500" y="7936706"/>
            <a:ext cx="2185130" cy="9525"/>
          </a:xfrm>
          <a:prstGeom prst="rect">
            <a:avLst/>
          </a:prstGeom>
          <a:solidFill>
            <a:srgbClr val="E2E8F0"/>
          </a:solidFill>
        </p:spPr>
      </p:sp>
      <p:grpSp>
        <p:nvGrpSpPr>
          <p:cNvPr name="Group 81" id="81"/>
          <p:cNvGrpSpPr/>
          <p:nvPr/>
        </p:nvGrpSpPr>
        <p:grpSpPr>
          <a:xfrm rot="0">
            <a:off x="2756630" y="7650956"/>
            <a:ext cx="1688306" cy="295275"/>
            <a:chOff x="0" y="0"/>
            <a:chExt cx="2251075" cy="393700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2251075" cy="393700"/>
            </a:xfrm>
            <a:custGeom>
              <a:avLst/>
              <a:gdLst/>
              <a:ahLst/>
              <a:cxnLst/>
              <a:rect r="r" b="b" t="t" l="l"/>
              <a:pathLst>
                <a:path h="393700" w="2251075">
                  <a:moveTo>
                    <a:pt x="0" y="0"/>
                  </a:moveTo>
                  <a:lnTo>
                    <a:pt x="2251075" y="0"/>
                  </a:lnTo>
                  <a:lnTo>
                    <a:pt x="2251075" y="393700"/>
                  </a:lnTo>
                  <a:lnTo>
                    <a:pt x="0" y="3937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7FAFD"/>
            </a:solidFill>
          </p:spPr>
        </p:sp>
        <p:sp>
          <p:nvSpPr>
            <p:cNvPr name="TextBox 83" id="83"/>
            <p:cNvSpPr txBox="true"/>
            <p:nvPr/>
          </p:nvSpPr>
          <p:spPr>
            <a:xfrm>
              <a:off x="0" y="-38100"/>
              <a:ext cx="2251075" cy="431800"/>
            </a:xfrm>
            <a:prstGeom prst="rect">
              <a:avLst/>
            </a:prstGeom>
          </p:spPr>
          <p:txBody>
            <a:bodyPr anchor="ctr" rtlCol="false" tIns="107950" lIns="107950" bIns="107950" rIns="107950"/>
            <a:lstStyle/>
            <a:p>
              <a:pPr algn="l">
                <a:lnSpc>
                  <a:spcPts val="1260"/>
                </a:lnSpc>
              </a:pPr>
              <a:r>
                <a:rPr lang="en-US" sz="900">
                  <a:solidFill>
                    <a:srgbClr val="3F5168"/>
                  </a:solidFill>
                  <a:latin typeface="Helvetica"/>
                  <a:ea typeface="Helvetica"/>
                  <a:cs typeface="Helvetica"/>
                  <a:sym typeface="Helvetica"/>
                </a:rPr>
                <a:t>No</a:t>
              </a:r>
            </a:p>
          </p:txBody>
        </p:sp>
      </p:grpSp>
      <p:sp>
        <p:nvSpPr>
          <p:cNvPr name="AutoShape 84" id="84"/>
          <p:cNvSpPr/>
          <p:nvPr/>
        </p:nvSpPr>
        <p:spPr>
          <a:xfrm rot="0">
            <a:off x="2756630" y="7936706"/>
            <a:ext cx="1688306" cy="9525"/>
          </a:xfrm>
          <a:prstGeom prst="rect">
            <a:avLst/>
          </a:prstGeom>
          <a:solidFill>
            <a:srgbClr val="E2E8F0"/>
          </a:solidFill>
        </p:spPr>
      </p:sp>
      <p:grpSp>
        <p:nvGrpSpPr>
          <p:cNvPr name="Group 85" id="85"/>
          <p:cNvGrpSpPr/>
          <p:nvPr/>
        </p:nvGrpSpPr>
        <p:grpSpPr>
          <a:xfrm rot="0">
            <a:off x="4444936" y="7650956"/>
            <a:ext cx="2546414" cy="295275"/>
            <a:chOff x="0" y="0"/>
            <a:chExt cx="3395218" cy="393700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3395218" cy="393700"/>
            </a:xfrm>
            <a:custGeom>
              <a:avLst/>
              <a:gdLst/>
              <a:ahLst/>
              <a:cxnLst/>
              <a:rect r="r" b="b" t="t" l="l"/>
              <a:pathLst>
                <a:path h="393700" w="3395218">
                  <a:moveTo>
                    <a:pt x="0" y="0"/>
                  </a:moveTo>
                  <a:lnTo>
                    <a:pt x="3395218" y="0"/>
                  </a:lnTo>
                  <a:lnTo>
                    <a:pt x="3395218" y="393700"/>
                  </a:lnTo>
                  <a:lnTo>
                    <a:pt x="0" y="3937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7FAFD"/>
            </a:solidFill>
          </p:spPr>
        </p:sp>
        <p:sp>
          <p:nvSpPr>
            <p:cNvPr name="TextBox 87" id="87"/>
            <p:cNvSpPr txBox="true"/>
            <p:nvPr/>
          </p:nvSpPr>
          <p:spPr>
            <a:xfrm>
              <a:off x="0" y="-38100"/>
              <a:ext cx="3395218" cy="431800"/>
            </a:xfrm>
            <a:prstGeom prst="rect">
              <a:avLst/>
            </a:prstGeom>
          </p:spPr>
          <p:txBody>
            <a:bodyPr anchor="ctr" rtlCol="false" tIns="107950" lIns="107950" bIns="107950" rIns="107950"/>
            <a:lstStyle/>
            <a:p>
              <a:pPr algn="l">
                <a:lnSpc>
                  <a:spcPts val="1260"/>
                </a:lnSpc>
              </a:pPr>
              <a:r>
                <a:rPr lang="en-US" b="true" sz="900">
                  <a:solidFill>
                    <a:srgbClr val="0A1A2F"/>
                  </a:solidFill>
                  <a:latin typeface="Helvetica Bold"/>
                  <a:ea typeface="Helvetica Bold"/>
                  <a:cs typeface="Helvetica Bold"/>
                  <a:sym typeface="Helvetica Bold"/>
                </a:rPr>
                <a:t>Yes — verified on real captures</a:t>
              </a:r>
            </a:p>
          </p:txBody>
        </p:sp>
      </p:grpSp>
      <p:sp>
        <p:nvSpPr>
          <p:cNvPr name="AutoShape 88" id="88"/>
          <p:cNvSpPr/>
          <p:nvPr/>
        </p:nvSpPr>
        <p:spPr>
          <a:xfrm rot="0">
            <a:off x="4444936" y="7936706"/>
            <a:ext cx="2546414" cy="9525"/>
          </a:xfrm>
          <a:prstGeom prst="rect">
            <a:avLst/>
          </a:prstGeom>
          <a:solidFill>
            <a:srgbClr val="E2E8F0"/>
          </a:solidFill>
        </p:spPr>
      </p:sp>
      <p:sp>
        <p:nvSpPr>
          <p:cNvPr name="AutoShape 89" id="89"/>
          <p:cNvSpPr/>
          <p:nvPr/>
        </p:nvSpPr>
        <p:spPr>
          <a:xfrm rot="0">
            <a:off x="571500" y="8231981"/>
            <a:ext cx="2185130" cy="9525"/>
          </a:xfrm>
          <a:prstGeom prst="rect">
            <a:avLst/>
          </a:prstGeom>
          <a:solidFill>
            <a:srgbClr val="E2E8F0"/>
          </a:solidFill>
        </p:spPr>
      </p:sp>
      <p:sp>
        <p:nvSpPr>
          <p:cNvPr name="TextBox 90" id="90"/>
          <p:cNvSpPr txBox="true"/>
          <p:nvPr/>
        </p:nvSpPr>
        <p:spPr>
          <a:xfrm rot="0">
            <a:off x="571500" y="7908131"/>
            <a:ext cx="2185130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b="true" sz="900">
                <a:solidFill>
                  <a:srgbClr val="0A1A2F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Overfitting (dev→test gap)</a:t>
            </a:r>
          </a:p>
        </p:txBody>
      </p:sp>
      <p:sp>
        <p:nvSpPr>
          <p:cNvPr name="AutoShape 91" id="91"/>
          <p:cNvSpPr/>
          <p:nvPr/>
        </p:nvSpPr>
        <p:spPr>
          <a:xfrm rot="0">
            <a:off x="2756630" y="8231981"/>
            <a:ext cx="1688306" cy="9525"/>
          </a:xfrm>
          <a:prstGeom prst="rect">
            <a:avLst/>
          </a:prstGeom>
          <a:solidFill>
            <a:srgbClr val="E2E8F0"/>
          </a:solidFill>
        </p:spPr>
      </p:sp>
      <p:sp>
        <p:nvSpPr>
          <p:cNvPr name="TextBox 92" id="92"/>
          <p:cNvSpPr txBox="true"/>
          <p:nvPr/>
        </p:nvSpPr>
        <p:spPr>
          <a:xfrm rot="0">
            <a:off x="2756630" y="7908131"/>
            <a:ext cx="1688306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sz="900">
                <a:solidFill>
                  <a:srgbClr val="3F5168"/>
                </a:solidFill>
                <a:latin typeface="Helvetica"/>
                <a:ea typeface="Helvetica"/>
                <a:cs typeface="Helvetica"/>
                <a:sym typeface="Helvetica"/>
              </a:rPr>
              <a:t>7.7%</a:t>
            </a:r>
          </a:p>
        </p:txBody>
      </p:sp>
      <p:sp>
        <p:nvSpPr>
          <p:cNvPr name="AutoShape 93" id="93"/>
          <p:cNvSpPr/>
          <p:nvPr/>
        </p:nvSpPr>
        <p:spPr>
          <a:xfrm rot="0">
            <a:off x="4444936" y="8231981"/>
            <a:ext cx="2546414" cy="9525"/>
          </a:xfrm>
          <a:prstGeom prst="rect">
            <a:avLst/>
          </a:prstGeom>
          <a:solidFill>
            <a:srgbClr val="E2E8F0"/>
          </a:solidFill>
        </p:spPr>
      </p:sp>
      <p:sp>
        <p:nvSpPr>
          <p:cNvPr name="TextBox 94" id="94"/>
          <p:cNvSpPr txBox="true"/>
          <p:nvPr/>
        </p:nvSpPr>
        <p:spPr>
          <a:xfrm rot="0">
            <a:off x="4444936" y="7908131"/>
            <a:ext cx="2546414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b="true" sz="900">
                <a:solidFill>
                  <a:srgbClr val="0A1A2F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1.1%</a:t>
            </a:r>
          </a:p>
        </p:txBody>
      </p:sp>
      <p:grpSp>
        <p:nvGrpSpPr>
          <p:cNvPr name="Group 95" id="95"/>
          <p:cNvGrpSpPr/>
          <p:nvPr/>
        </p:nvGrpSpPr>
        <p:grpSpPr>
          <a:xfrm rot="0">
            <a:off x="571500" y="8360569"/>
            <a:ext cx="6419850" cy="736378"/>
            <a:chOff x="0" y="0"/>
            <a:chExt cx="8559800" cy="981837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8559800" cy="981837"/>
            </a:xfrm>
            <a:custGeom>
              <a:avLst/>
              <a:gdLst/>
              <a:ahLst/>
              <a:cxnLst/>
              <a:rect r="r" b="b" t="t" l="l"/>
              <a:pathLst>
                <a:path h="981837" w="8559800">
                  <a:moveTo>
                    <a:pt x="0" y="0"/>
                  </a:moveTo>
                  <a:lnTo>
                    <a:pt x="8458200" y="0"/>
                  </a:lnTo>
                  <a:cubicBezTo>
                    <a:pt x="8514334" y="0"/>
                    <a:pt x="8559800" y="45466"/>
                    <a:pt x="8559800" y="101600"/>
                  </a:cubicBezTo>
                  <a:lnTo>
                    <a:pt x="8559800" y="880237"/>
                  </a:lnTo>
                  <a:cubicBezTo>
                    <a:pt x="8559800" y="936371"/>
                    <a:pt x="8514334" y="981837"/>
                    <a:pt x="8458200" y="981837"/>
                  </a:cubicBezTo>
                  <a:lnTo>
                    <a:pt x="0" y="98183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AF2FC"/>
            </a:solidFill>
          </p:spPr>
        </p:sp>
      </p:grpSp>
      <p:sp>
        <p:nvSpPr>
          <p:cNvPr name="AutoShape 97" id="97"/>
          <p:cNvSpPr/>
          <p:nvPr/>
        </p:nvSpPr>
        <p:spPr>
          <a:xfrm rot="0">
            <a:off x="571500" y="8360569"/>
            <a:ext cx="38100" cy="736378"/>
          </a:xfrm>
          <a:prstGeom prst="rect">
            <a:avLst/>
          </a:prstGeom>
          <a:solidFill>
            <a:srgbClr val="0066CC"/>
          </a:solidFill>
        </p:spPr>
      </p:sp>
      <p:sp>
        <p:nvSpPr>
          <p:cNvPr name="TextBox 98" id="98"/>
          <p:cNvSpPr txBox="true"/>
          <p:nvPr/>
        </p:nvSpPr>
        <p:spPr>
          <a:xfrm rot="0">
            <a:off x="571500" y="8322469"/>
            <a:ext cx="6419850" cy="7744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83"/>
              </a:lnSpc>
            </a:pPr>
            <a:r>
              <a:rPr lang="en-US" b="true" sz="922">
                <a:solidFill>
                  <a:srgbClr val="0A1A2F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Validation depth.</a:t>
            </a:r>
            <a:r>
              <a:rPr lang="en-US" sz="922">
                <a:solidFill>
                  <a:srgbClr val="003D7A"/>
                </a:solidFill>
                <a:latin typeface="Helvetica"/>
                <a:ea typeface="Helvetica"/>
                <a:cs typeface="Helvetica"/>
                <a:sym typeface="Helvetica"/>
              </a:rPr>
              <a:t> Beyond a single split, we ran </a:t>
            </a:r>
            <a:r>
              <a:rPr lang="en-US" b="true" sz="922">
                <a:solidFill>
                  <a:srgbClr val="0A1A2F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5-fold stratified cross-validation</a:t>
            </a:r>
            <a:r>
              <a:rPr lang="en-US" sz="922">
                <a:solidFill>
                  <a:srgbClr val="003D7A"/>
                </a:solidFill>
                <a:latin typeface="Helvetica"/>
                <a:ea typeface="Helvetica"/>
                <a:cs typeface="Helvetica"/>
                <a:sym typeface="Helvetica"/>
              </a:rPr>
              <a:t> (sensitivity 98.7% ± 0.5% across folds) and report </a:t>
            </a:r>
            <a:r>
              <a:rPr lang="en-US" b="true" sz="922">
                <a:solidFill>
                  <a:srgbClr val="0A1A2F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per-population</a:t>
            </a:r>
            <a:r>
              <a:rPr lang="en-US" sz="922">
                <a:solidFill>
                  <a:srgbClr val="003D7A"/>
                </a:solidFill>
                <a:latin typeface="Helvetica"/>
                <a:ea typeface="Helvetica"/>
                <a:cs typeface="Helvetica"/>
                <a:sym typeface="Helvetica"/>
              </a:rPr>
              <a:t> results — pediatric (97.6% recall, AUC 0.995) and adult (92.4% recall, AUC 0.984) — demonstrating the model generalises across ages rather than overfitting one population.</a:t>
            </a:r>
          </a:p>
        </p:txBody>
      </p:sp>
      <p:sp>
        <p:nvSpPr>
          <p:cNvPr name="AutoShape 99" id="99"/>
          <p:cNvSpPr/>
          <p:nvPr/>
        </p:nvSpPr>
        <p:spPr>
          <a:xfrm rot="0">
            <a:off x="571500" y="10213181"/>
            <a:ext cx="6419850" cy="9525"/>
          </a:xfrm>
          <a:prstGeom prst="rect">
            <a:avLst/>
          </a:prstGeom>
          <a:solidFill>
            <a:srgbClr val="E2E8F0"/>
          </a:solidFill>
        </p:spPr>
      </p:sp>
      <p:sp>
        <p:nvSpPr>
          <p:cNvPr name="TextBox 100" id="100"/>
          <p:cNvSpPr txBox="true"/>
          <p:nvPr/>
        </p:nvSpPr>
        <p:spPr>
          <a:xfrm rot="0">
            <a:off x="571500" y="10260806"/>
            <a:ext cx="1684115" cy="1881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81"/>
              </a:lnSpc>
            </a:pPr>
            <a:r>
              <a:rPr lang="en-US" sz="787">
                <a:solidFill>
                  <a:srgbClr val="6B7A90"/>
                </a:solidFill>
                <a:latin typeface="Helvetica"/>
                <a:ea typeface="Helvetica"/>
                <a:cs typeface="Helvetica"/>
                <a:sym typeface="Helvetica"/>
              </a:rPr>
              <a:t>Team GMora · University of Moratuwa</a:t>
            </a:r>
          </a:p>
        </p:txBody>
      </p:sp>
      <p:sp>
        <p:nvSpPr>
          <p:cNvPr name="TextBox 101" id="101"/>
          <p:cNvSpPr txBox="true"/>
          <p:nvPr/>
        </p:nvSpPr>
        <p:spPr>
          <a:xfrm rot="0">
            <a:off x="5358670" y="10260806"/>
            <a:ext cx="1632680" cy="1881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81"/>
              </a:lnSpc>
            </a:pPr>
            <a:r>
              <a:rPr lang="en-US" sz="787">
                <a:solidFill>
                  <a:srgbClr val="6B7A90"/>
                </a:solidFill>
                <a:latin typeface="Helvetica"/>
                <a:ea typeface="Helvetica"/>
                <a:cs typeface="Helvetica"/>
                <a:sym typeface="Helvetica"/>
              </a:rPr>
              <a:t>Section 3 · Technical Implementation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0"/>
            <a:ext cx="7562850" cy="10696575"/>
          </a:xfrm>
          <a:prstGeom prst="rect">
            <a:avLst/>
          </a:prstGeom>
          <a:solidFill>
            <a:srgbClr val="FFFFFF"/>
          </a:solidFill>
        </p:spPr>
      </p:sp>
      <p:sp>
        <p:nvSpPr>
          <p:cNvPr name="AutoShape 3" id="3"/>
          <p:cNvSpPr/>
          <p:nvPr/>
        </p:nvSpPr>
        <p:spPr>
          <a:xfrm rot="0">
            <a:off x="571500" y="795338"/>
            <a:ext cx="6419850" cy="19050"/>
          </a:xfrm>
          <a:prstGeom prst="rect">
            <a:avLst/>
          </a:prstGeom>
          <a:solidFill>
            <a:srgbClr val="0066CC"/>
          </a:solidFill>
        </p:spPr>
      </p:sp>
      <p:sp>
        <p:nvSpPr>
          <p:cNvPr name="TextBox 4" id="4"/>
          <p:cNvSpPr txBox="true"/>
          <p:nvPr/>
        </p:nvSpPr>
        <p:spPr>
          <a:xfrm rot="0">
            <a:off x="571500" y="504825"/>
            <a:ext cx="970407" cy="2143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62"/>
              </a:lnSpc>
            </a:pPr>
            <a:r>
              <a:rPr lang="en-US" b="true" sz="975" spc="19">
                <a:solidFill>
                  <a:srgbClr val="0066CC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PneumoScan AI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328952" y="500063"/>
            <a:ext cx="1662398" cy="2047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37"/>
              </a:lnSpc>
            </a:pPr>
            <a:r>
              <a:rPr lang="en-US" sz="825" spc="66">
                <a:solidFill>
                  <a:srgbClr val="6B7A90"/>
                </a:solidFill>
                <a:latin typeface="Helvetica"/>
                <a:ea typeface="Helvetica"/>
                <a:cs typeface="Helvetica"/>
                <a:sym typeface="Helvetica"/>
              </a:rPr>
              <a:t>SECTION 3 · ARCHITECTURE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71500" y="995363"/>
            <a:ext cx="6419850" cy="2047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37"/>
              </a:lnSpc>
            </a:pPr>
            <a:r>
              <a:rPr lang="en-US" b="true" sz="825" spc="115">
                <a:solidFill>
                  <a:srgbClr val="0066CC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SECTION 3 (CONT.)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71500" y="1190625"/>
            <a:ext cx="6419850" cy="3952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87"/>
              </a:lnSpc>
            </a:pPr>
            <a:r>
              <a:rPr lang="en-US" b="true" sz="1725" spc="-17">
                <a:solidFill>
                  <a:srgbClr val="0A1A2F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System architecture &amp; live deployment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71500" y="1614487"/>
            <a:ext cx="6419850" cy="4619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31"/>
              </a:lnSpc>
            </a:pPr>
            <a:r>
              <a:rPr lang="en-US" sz="1087">
                <a:solidFill>
                  <a:srgbClr val="3F5168"/>
                </a:solidFill>
                <a:latin typeface="Helvetica"/>
                <a:ea typeface="Helvetica"/>
                <a:cs typeface="Helvetica"/>
                <a:sym typeface="Helvetica"/>
              </a:rPr>
              <a:t>A single trained model serves both audiences through a lightweight, low-cost, fully deployed web stack — evidence of functionality, not just simulation.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71500" y="2209800"/>
            <a:ext cx="6419850" cy="2524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7"/>
              </a:lnSpc>
            </a:pPr>
            <a:r>
              <a:rPr lang="en-US" b="true" sz="1125" spc="-11">
                <a:solidFill>
                  <a:srgbClr val="003D7A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Inference pipeline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571500" y="2528888"/>
            <a:ext cx="6419850" cy="998030"/>
            <a:chOff x="0" y="0"/>
            <a:chExt cx="8559800" cy="133070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559800" cy="1330706"/>
            </a:xfrm>
            <a:custGeom>
              <a:avLst/>
              <a:gdLst/>
              <a:ahLst/>
              <a:cxnLst/>
              <a:rect r="r" b="b" t="t" l="l"/>
              <a:pathLst>
                <a:path h="1330706" w="8559800">
                  <a:moveTo>
                    <a:pt x="152400" y="0"/>
                  </a:moveTo>
                  <a:lnTo>
                    <a:pt x="8407400" y="0"/>
                  </a:lnTo>
                  <a:cubicBezTo>
                    <a:pt x="8491601" y="0"/>
                    <a:pt x="8559800" y="68199"/>
                    <a:pt x="8559800" y="152400"/>
                  </a:cubicBezTo>
                  <a:lnTo>
                    <a:pt x="8559800" y="1178306"/>
                  </a:lnTo>
                  <a:cubicBezTo>
                    <a:pt x="8559800" y="1262507"/>
                    <a:pt x="8491601" y="1330706"/>
                    <a:pt x="8407400" y="1330706"/>
                  </a:cubicBezTo>
                  <a:lnTo>
                    <a:pt x="152400" y="1330706"/>
                  </a:lnTo>
                  <a:cubicBezTo>
                    <a:pt x="68199" y="1330706"/>
                    <a:pt x="0" y="1262507"/>
                    <a:pt x="0" y="1178306"/>
                  </a:cubicBezTo>
                  <a:lnTo>
                    <a:pt x="0" y="152400"/>
                  </a:lnTo>
                  <a:cubicBezTo>
                    <a:pt x="0" y="68199"/>
                    <a:pt x="68199" y="0"/>
                    <a:pt x="152400" y="0"/>
                  </a:cubicBezTo>
                  <a:close/>
                </a:path>
              </a:pathLst>
            </a:custGeom>
            <a:solidFill>
              <a:srgbClr val="F7FAFD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559800" cy="1330706"/>
            </a:xfrm>
            <a:custGeom>
              <a:avLst/>
              <a:gdLst/>
              <a:ahLst/>
              <a:cxnLst/>
              <a:rect r="r" b="b" t="t" l="l"/>
              <a:pathLst>
                <a:path h="1330706" w="8559800">
                  <a:moveTo>
                    <a:pt x="152400" y="0"/>
                  </a:moveTo>
                  <a:lnTo>
                    <a:pt x="8407400" y="0"/>
                  </a:lnTo>
                  <a:cubicBezTo>
                    <a:pt x="8491601" y="0"/>
                    <a:pt x="8559800" y="68199"/>
                    <a:pt x="8559800" y="152400"/>
                  </a:cubicBezTo>
                  <a:lnTo>
                    <a:pt x="8559800" y="1178306"/>
                  </a:lnTo>
                  <a:cubicBezTo>
                    <a:pt x="8559800" y="1262507"/>
                    <a:pt x="8491601" y="1330706"/>
                    <a:pt x="8407400" y="1330706"/>
                  </a:cubicBezTo>
                  <a:lnTo>
                    <a:pt x="152400" y="1330706"/>
                  </a:lnTo>
                  <a:cubicBezTo>
                    <a:pt x="68199" y="1330706"/>
                    <a:pt x="0" y="1262507"/>
                    <a:pt x="0" y="1178306"/>
                  </a:cubicBezTo>
                  <a:lnTo>
                    <a:pt x="0" y="152400"/>
                  </a:lnTo>
                  <a:cubicBezTo>
                    <a:pt x="0" y="68199"/>
                    <a:pt x="68199" y="0"/>
                    <a:pt x="152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E2E8F0"/>
              </a:solidFill>
              <a:prstDash val="solid"/>
              <a:miter/>
            </a:ln>
          </p:spPr>
        </p:sp>
      </p:grpSp>
      <p:sp>
        <p:nvSpPr>
          <p:cNvPr name="TextBox 13" id="13"/>
          <p:cNvSpPr txBox="true"/>
          <p:nvPr/>
        </p:nvSpPr>
        <p:spPr>
          <a:xfrm rot="0">
            <a:off x="571500" y="2443163"/>
            <a:ext cx="6419850" cy="1083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70"/>
              </a:lnSpc>
            </a:pPr>
            <a:r>
              <a:rPr lang="en-US" b="true" sz="885">
                <a:solidFill>
                  <a:srgbClr val="0A1A2F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Capture / Upload</a:t>
            </a:r>
            <a:r>
              <a:rPr lang="en-US" sz="885">
                <a:solidFill>
                  <a:srgbClr val="3F5168"/>
                </a:solidFill>
                <a:latin typeface="Helvetica"/>
                <a:ea typeface="Helvetica"/>
                <a:cs typeface="Helvetica"/>
                <a:sym typeface="Helvetica"/>
              </a:rPr>
              <a:t>  →  </a:t>
            </a:r>
            <a:r>
              <a:rPr lang="en-US" b="true" sz="885">
                <a:solidFill>
                  <a:srgbClr val="0A1A2F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Quality gate</a:t>
            </a:r>
            <a:r>
              <a:rPr lang="en-US" sz="885">
                <a:solidFill>
                  <a:srgbClr val="3F5168"/>
                </a:solidFill>
                <a:latin typeface="Helvetica"/>
                <a:ea typeface="Helvetica"/>
                <a:cs typeface="Helvetica"/>
                <a:sym typeface="Helvetica"/>
              </a:rPr>
              <a:t> (OpenCV)  →  </a:t>
            </a:r>
            <a:r>
              <a:rPr lang="en-US" b="true" sz="885">
                <a:solidFill>
                  <a:srgbClr val="0A1A2F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Phone-photo rectification</a:t>
            </a:r>
            <a:r>
              <a:rPr lang="en-US" sz="885">
                <a:solidFill>
                  <a:srgbClr val="3F5168"/>
                </a:solidFill>
                <a:latin typeface="Helvetica"/>
                <a:ea typeface="Helvetica"/>
                <a:cs typeface="Helvetica"/>
                <a:sym typeface="Helvetica"/>
              </a:rPr>
              <a:t> (perspective correction)  →  </a:t>
            </a:r>
            <a:r>
              <a:rPr lang="en-US" b="true" sz="885">
                <a:solidFill>
                  <a:srgbClr val="0A1A2F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Preprocess</a:t>
            </a:r>
            <a:r>
              <a:rPr lang="en-US" sz="885">
                <a:solidFill>
                  <a:srgbClr val="3F5168"/>
                </a:solidFill>
                <a:latin typeface="Helvetica"/>
                <a:ea typeface="Helvetica"/>
                <a:cs typeface="Helvetica"/>
                <a:sym typeface="Helvetica"/>
              </a:rPr>
              <a:t> (224×224, RGB, ImageNet norm)  →  </a:t>
            </a:r>
            <a:r>
              <a:rPr lang="en-US" b="true" sz="885">
                <a:solidFill>
                  <a:srgbClr val="0A1A2F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ResNet-50</a:t>
            </a:r>
            <a:r>
              <a:rPr lang="en-US" sz="885">
                <a:solidFill>
                  <a:srgbClr val="3F5168"/>
                </a:solidFill>
                <a:latin typeface="Helvetica"/>
                <a:ea typeface="Helvetica"/>
                <a:cs typeface="Helvetica"/>
                <a:sym typeface="Helvetica"/>
              </a:rPr>
              <a:t> (fine-tuned)  →  </a:t>
            </a:r>
            <a:r>
              <a:rPr lang="en-US" b="true" sz="885">
                <a:solidFill>
                  <a:srgbClr val="0A1A2F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Softmax</a:t>
            </a:r>
            <a:r>
              <a:rPr lang="en-US" sz="885">
                <a:solidFill>
                  <a:srgbClr val="3F5168"/>
                </a:solidFill>
                <a:latin typeface="Helvetica"/>
                <a:ea typeface="Helvetica"/>
                <a:cs typeface="Helvetica"/>
                <a:sym typeface="Helvetica"/>
              </a:rPr>
              <a:t> P(Normal)/P(Pneumonia)  →  </a:t>
            </a:r>
            <a:r>
              <a:rPr lang="en-US" b="true" sz="885">
                <a:solidFill>
                  <a:srgbClr val="0A1A2F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Fail-safe triage band</a:t>
            </a:r>
            <a:r>
              <a:rPr lang="en-US" sz="885">
                <a:solidFill>
                  <a:srgbClr val="3F5168"/>
                </a:solidFill>
                <a:latin typeface="Helvetica"/>
                <a:ea typeface="Helvetica"/>
                <a:cs typeface="Helvetica"/>
                <a:sym typeface="Helvetica"/>
              </a:rPr>
              <a:t>  →  </a:t>
            </a:r>
            <a:r>
              <a:rPr lang="en-US" b="true" sz="885">
                <a:solidFill>
                  <a:srgbClr val="0A1A2F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Grad-CAM heatmap</a:t>
            </a:r>
            <a:r>
              <a:rPr lang="en-US" sz="885">
                <a:solidFill>
                  <a:srgbClr val="3F5168"/>
                </a:solidFill>
                <a:latin typeface="Helvetica"/>
                <a:ea typeface="Helvetica"/>
                <a:cs typeface="Helvetica"/>
                <a:sym typeface="Helvetica"/>
              </a:rPr>
              <a:t>  →  </a:t>
            </a:r>
            <a:r>
              <a:rPr lang="en-US" b="true" sz="885">
                <a:solidFill>
                  <a:srgbClr val="0A1A2F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Role-aware result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71500" y="3660267"/>
            <a:ext cx="6419850" cy="2524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7"/>
              </a:lnSpc>
            </a:pPr>
            <a:r>
              <a:rPr lang="en-US" b="true" sz="1125" spc="-11">
                <a:solidFill>
                  <a:srgbClr val="003D7A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Deployment stack (all live)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571500" y="4007929"/>
            <a:ext cx="796862" cy="266700"/>
            <a:chOff x="0" y="0"/>
            <a:chExt cx="1062482" cy="3556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62482" cy="355600"/>
            </a:xfrm>
            <a:custGeom>
              <a:avLst/>
              <a:gdLst/>
              <a:ahLst/>
              <a:cxnLst/>
              <a:rect r="r" b="b" t="t" l="l"/>
              <a:pathLst>
                <a:path h="355600" w="1062482">
                  <a:moveTo>
                    <a:pt x="0" y="0"/>
                  </a:moveTo>
                  <a:lnTo>
                    <a:pt x="1062482" y="0"/>
                  </a:lnTo>
                  <a:lnTo>
                    <a:pt x="1062482" y="355600"/>
                  </a:lnTo>
                  <a:lnTo>
                    <a:pt x="0" y="355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66CC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1062482" cy="393700"/>
            </a:xfrm>
            <a:prstGeom prst="rect">
              <a:avLst/>
            </a:prstGeom>
          </p:spPr>
          <p:txBody>
            <a:bodyPr anchor="ctr" rtlCol="false" tIns="101600" lIns="101600" bIns="101600" rIns="101600"/>
            <a:lstStyle/>
            <a:p>
              <a:pPr algn="l">
                <a:lnSpc>
                  <a:spcPts val="1207"/>
                </a:lnSpc>
              </a:pPr>
              <a:r>
                <a:rPr lang="en-US" b="true" sz="862">
                  <a:solidFill>
                    <a:srgbClr val="FFFFFF"/>
                  </a:solidFill>
                  <a:latin typeface="Helvetica Bold"/>
                  <a:ea typeface="Helvetica Bold"/>
                  <a:cs typeface="Helvetica Bold"/>
                  <a:sym typeface="Helvetica Bold"/>
                </a:rPr>
                <a:t>Layer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368362" y="4007929"/>
            <a:ext cx="1865567" cy="266700"/>
            <a:chOff x="0" y="0"/>
            <a:chExt cx="2487422" cy="3556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487422" cy="355600"/>
            </a:xfrm>
            <a:custGeom>
              <a:avLst/>
              <a:gdLst/>
              <a:ahLst/>
              <a:cxnLst/>
              <a:rect r="r" b="b" t="t" l="l"/>
              <a:pathLst>
                <a:path h="355600" w="2487422">
                  <a:moveTo>
                    <a:pt x="0" y="0"/>
                  </a:moveTo>
                  <a:lnTo>
                    <a:pt x="2487422" y="0"/>
                  </a:lnTo>
                  <a:lnTo>
                    <a:pt x="2487422" y="355600"/>
                  </a:lnTo>
                  <a:lnTo>
                    <a:pt x="0" y="355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66CC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2487422" cy="393700"/>
            </a:xfrm>
            <a:prstGeom prst="rect">
              <a:avLst/>
            </a:prstGeom>
          </p:spPr>
          <p:txBody>
            <a:bodyPr anchor="ctr" rtlCol="false" tIns="101600" lIns="101600" bIns="101600" rIns="101600"/>
            <a:lstStyle/>
            <a:p>
              <a:pPr algn="l">
                <a:lnSpc>
                  <a:spcPts val="1207"/>
                </a:lnSpc>
              </a:pPr>
              <a:r>
                <a:rPr lang="en-US" b="true" sz="862">
                  <a:solidFill>
                    <a:srgbClr val="FFFFFF"/>
                  </a:solidFill>
                  <a:latin typeface="Helvetica Bold"/>
                  <a:ea typeface="Helvetica Bold"/>
                  <a:cs typeface="Helvetica Bold"/>
                  <a:sym typeface="Helvetica Bold"/>
                </a:rPr>
                <a:t>Technology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3233928" y="4007929"/>
            <a:ext cx="3757422" cy="266700"/>
            <a:chOff x="0" y="0"/>
            <a:chExt cx="5009896" cy="3556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5009896" cy="355600"/>
            </a:xfrm>
            <a:custGeom>
              <a:avLst/>
              <a:gdLst/>
              <a:ahLst/>
              <a:cxnLst/>
              <a:rect r="r" b="b" t="t" l="l"/>
              <a:pathLst>
                <a:path h="355600" w="5009896">
                  <a:moveTo>
                    <a:pt x="0" y="0"/>
                  </a:moveTo>
                  <a:lnTo>
                    <a:pt x="5009896" y="0"/>
                  </a:lnTo>
                  <a:lnTo>
                    <a:pt x="5009896" y="355600"/>
                  </a:lnTo>
                  <a:lnTo>
                    <a:pt x="0" y="355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66CC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5009896" cy="393700"/>
            </a:xfrm>
            <a:prstGeom prst="rect">
              <a:avLst/>
            </a:prstGeom>
          </p:spPr>
          <p:txBody>
            <a:bodyPr anchor="ctr" rtlCol="false" tIns="101600" lIns="101600" bIns="101600" rIns="101600"/>
            <a:lstStyle/>
            <a:p>
              <a:pPr algn="l">
                <a:lnSpc>
                  <a:spcPts val="1207"/>
                </a:lnSpc>
              </a:pPr>
              <a:r>
                <a:rPr lang="en-US" b="true" sz="862">
                  <a:solidFill>
                    <a:srgbClr val="FFFFFF"/>
                  </a:solidFill>
                  <a:latin typeface="Helvetica Bold"/>
                  <a:ea typeface="Helvetica Bold"/>
                  <a:cs typeface="Helvetica Bold"/>
                  <a:sym typeface="Helvetica Bold"/>
                </a:rPr>
                <a:t>Role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571500" y="4274630"/>
            <a:ext cx="796862" cy="423862"/>
            <a:chOff x="0" y="0"/>
            <a:chExt cx="1062482" cy="56515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062482" cy="565150"/>
            </a:xfrm>
            <a:custGeom>
              <a:avLst/>
              <a:gdLst/>
              <a:ahLst/>
              <a:cxnLst/>
              <a:rect r="r" b="b" t="t" l="l"/>
              <a:pathLst>
                <a:path h="565150" w="1062482">
                  <a:moveTo>
                    <a:pt x="0" y="0"/>
                  </a:moveTo>
                  <a:lnTo>
                    <a:pt x="1062482" y="0"/>
                  </a:lnTo>
                  <a:lnTo>
                    <a:pt x="1062482" y="565150"/>
                  </a:lnTo>
                  <a:lnTo>
                    <a:pt x="0" y="5651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7FAFD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1062482" cy="603250"/>
            </a:xfrm>
            <a:prstGeom prst="rect">
              <a:avLst/>
            </a:prstGeom>
          </p:spPr>
          <p:txBody>
            <a:bodyPr anchor="t" rtlCol="false" tIns="101600" lIns="101600" bIns="101600" rIns="101600"/>
            <a:lstStyle/>
            <a:p>
              <a:pPr algn="l">
                <a:lnSpc>
                  <a:spcPts val="1260"/>
                </a:lnSpc>
              </a:pPr>
              <a:r>
                <a:rPr lang="en-US" b="true" sz="900">
                  <a:solidFill>
                    <a:srgbClr val="0A1A2F"/>
                  </a:solidFill>
                  <a:latin typeface="Helvetica Bold"/>
                  <a:ea typeface="Helvetica Bold"/>
                  <a:cs typeface="Helvetica Bold"/>
                  <a:sym typeface="Helvetica Bold"/>
                </a:rPr>
                <a:t>Model</a:t>
              </a:r>
            </a:p>
          </p:txBody>
        </p:sp>
      </p:grpSp>
      <p:sp>
        <p:nvSpPr>
          <p:cNvPr name="AutoShape 27" id="27"/>
          <p:cNvSpPr/>
          <p:nvPr/>
        </p:nvSpPr>
        <p:spPr>
          <a:xfrm rot="0">
            <a:off x="571500" y="4688967"/>
            <a:ext cx="796862" cy="9525"/>
          </a:xfrm>
          <a:prstGeom prst="rect">
            <a:avLst/>
          </a:prstGeom>
          <a:solidFill>
            <a:srgbClr val="E2E8F0"/>
          </a:solidFill>
        </p:spPr>
      </p:sp>
      <p:sp>
        <p:nvSpPr>
          <p:cNvPr name="AutoShape 28" id="28"/>
          <p:cNvSpPr/>
          <p:nvPr/>
        </p:nvSpPr>
        <p:spPr>
          <a:xfrm rot="0">
            <a:off x="1368362" y="4274630"/>
            <a:ext cx="1865567" cy="423862"/>
          </a:xfrm>
          <a:prstGeom prst="rect">
            <a:avLst/>
          </a:prstGeom>
          <a:solidFill>
            <a:srgbClr val="F7FAFD"/>
          </a:solidFill>
        </p:spPr>
      </p:sp>
      <p:sp>
        <p:nvSpPr>
          <p:cNvPr name="AutoShape 29" id="29"/>
          <p:cNvSpPr/>
          <p:nvPr/>
        </p:nvSpPr>
        <p:spPr>
          <a:xfrm rot="0">
            <a:off x="1368362" y="4688967"/>
            <a:ext cx="1865567" cy="9525"/>
          </a:xfrm>
          <a:prstGeom prst="rect">
            <a:avLst/>
          </a:prstGeom>
          <a:solidFill>
            <a:srgbClr val="E2E8F0"/>
          </a:solidFill>
        </p:spPr>
      </p:sp>
      <p:sp>
        <p:nvSpPr>
          <p:cNvPr name="TextBox 30" id="30"/>
          <p:cNvSpPr txBox="true"/>
          <p:nvPr/>
        </p:nvSpPr>
        <p:spPr>
          <a:xfrm rot="0">
            <a:off x="1368362" y="4236530"/>
            <a:ext cx="1865567" cy="461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sz="900">
                <a:solidFill>
                  <a:srgbClr val="3F5168"/>
                </a:solidFill>
                <a:latin typeface="Helvetica"/>
                <a:ea typeface="Helvetica"/>
                <a:cs typeface="Helvetica"/>
                <a:sym typeface="Helvetica"/>
              </a:rPr>
              <a:t>PyTorch 2.6, torchvision ResNet-50</a:t>
            </a:r>
          </a:p>
        </p:txBody>
      </p:sp>
      <p:sp>
        <p:nvSpPr>
          <p:cNvPr name="AutoShape 31" id="31"/>
          <p:cNvSpPr/>
          <p:nvPr/>
        </p:nvSpPr>
        <p:spPr>
          <a:xfrm rot="0">
            <a:off x="3233928" y="4274630"/>
            <a:ext cx="3757422" cy="423862"/>
          </a:xfrm>
          <a:prstGeom prst="rect">
            <a:avLst/>
          </a:prstGeom>
          <a:solidFill>
            <a:srgbClr val="F7FAFD"/>
          </a:solidFill>
        </p:spPr>
      </p:sp>
      <p:sp>
        <p:nvSpPr>
          <p:cNvPr name="AutoShape 32" id="32"/>
          <p:cNvSpPr/>
          <p:nvPr/>
        </p:nvSpPr>
        <p:spPr>
          <a:xfrm rot="0">
            <a:off x="3233928" y="4688967"/>
            <a:ext cx="3757422" cy="9525"/>
          </a:xfrm>
          <a:prstGeom prst="rect">
            <a:avLst/>
          </a:prstGeom>
          <a:solidFill>
            <a:srgbClr val="E2E8F0"/>
          </a:solidFill>
        </p:spPr>
      </p:sp>
      <p:sp>
        <p:nvSpPr>
          <p:cNvPr name="TextBox 33" id="33"/>
          <p:cNvSpPr txBox="true"/>
          <p:nvPr/>
        </p:nvSpPr>
        <p:spPr>
          <a:xfrm rot="0">
            <a:off x="3233928" y="4236530"/>
            <a:ext cx="3757422" cy="461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sz="900">
                <a:solidFill>
                  <a:srgbClr val="3F5168"/>
                </a:solidFill>
                <a:latin typeface="Helvetica"/>
                <a:ea typeface="Helvetica"/>
                <a:cs typeface="Helvetica"/>
                <a:sym typeface="Helvetica"/>
              </a:rPr>
              <a:t>Trained on an NVIDIA RTX 3050 GPU; runs CPU-only inference in production.</a:t>
            </a:r>
          </a:p>
        </p:txBody>
      </p:sp>
      <p:sp>
        <p:nvSpPr>
          <p:cNvPr name="AutoShape 34" id="34"/>
          <p:cNvSpPr/>
          <p:nvPr/>
        </p:nvSpPr>
        <p:spPr>
          <a:xfrm rot="0">
            <a:off x="571500" y="5117592"/>
            <a:ext cx="796862" cy="9525"/>
          </a:xfrm>
          <a:prstGeom prst="rect">
            <a:avLst/>
          </a:prstGeom>
          <a:solidFill>
            <a:srgbClr val="E2E8F0"/>
          </a:solidFill>
        </p:spPr>
      </p:sp>
      <p:sp>
        <p:nvSpPr>
          <p:cNvPr name="TextBox 35" id="35"/>
          <p:cNvSpPr txBox="true"/>
          <p:nvPr/>
        </p:nvSpPr>
        <p:spPr>
          <a:xfrm rot="0">
            <a:off x="571500" y="4660392"/>
            <a:ext cx="796862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b="true" sz="900">
                <a:solidFill>
                  <a:srgbClr val="0A1A2F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Vision utils</a:t>
            </a:r>
          </a:p>
        </p:txBody>
      </p:sp>
      <p:sp>
        <p:nvSpPr>
          <p:cNvPr name="AutoShape 36" id="36"/>
          <p:cNvSpPr/>
          <p:nvPr/>
        </p:nvSpPr>
        <p:spPr>
          <a:xfrm rot="0">
            <a:off x="1368362" y="5117592"/>
            <a:ext cx="1865567" cy="9525"/>
          </a:xfrm>
          <a:prstGeom prst="rect">
            <a:avLst/>
          </a:prstGeom>
          <a:solidFill>
            <a:srgbClr val="E2E8F0"/>
          </a:solidFill>
        </p:spPr>
      </p:sp>
      <p:sp>
        <p:nvSpPr>
          <p:cNvPr name="TextBox 37" id="37"/>
          <p:cNvSpPr txBox="true"/>
          <p:nvPr/>
        </p:nvSpPr>
        <p:spPr>
          <a:xfrm rot="0">
            <a:off x="1368362" y="4660392"/>
            <a:ext cx="1865567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sz="900">
                <a:solidFill>
                  <a:srgbClr val="3F5168"/>
                </a:solidFill>
                <a:latin typeface="Helvetica"/>
                <a:ea typeface="Helvetica"/>
                <a:cs typeface="Helvetica"/>
                <a:sym typeface="Helvetica"/>
              </a:rPr>
              <a:t>OpenCV, NumPy, Pillow</a:t>
            </a:r>
          </a:p>
        </p:txBody>
      </p:sp>
      <p:sp>
        <p:nvSpPr>
          <p:cNvPr name="AutoShape 38" id="38"/>
          <p:cNvSpPr/>
          <p:nvPr/>
        </p:nvSpPr>
        <p:spPr>
          <a:xfrm rot="0">
            <a:off x="3233928" y="5117592"/>
            <a:ext cx="3757422" cy="9525"/>
          </a:xfrm>
          <a:prstGeom prst="rect">
            <a:avLst/>
          </a:prstGeom>
          <a:solidFill>
            <a:srgbClr val="E2E8F0"/>
          </a:solidFill>
        </p:spPr>
      </p:sp>
      <p:sp>
        <p:nvSpPr>
          <p:cNvPr name="TextBox 39" id="39"/>
          <p:cNvSpPr txBox="true"/>
          <p:nvPr/>
        </p:nvSpPr>
        <p:spPr>
          <a:xfrm rot="0">
            <a:off x="3233928" y="4660392"/>
            <a:ext cx="3757422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sz="900">
                <a:solidFill>
                  <a:srgbClr val="3F5168"/>
                </a:solidFill>
                <a:latin typeface="Helvetica"/>
                <a:ea typeface="Helvetica"/>
                <a:cs typeface="Helvetica"/>
                <a:sym typeface="Helvetica"/>
              </a:rPr>
              <a:t>Quality checks, phone-photo rectification, Grad-CAM overlay.</a:t>
            </a:r>
          </a:p>
        </p:txBody>
      </p:sp>
      <p:grpSp>
        <p:nvGrpSpPr>
          <p:cNvPr name="Group 40" id="40"/>
          <p:cNvGrpSpPr/>
          <p:nvPr/>
        </p:nvGrpSpPr>
        <p:grpSpPr>
          <a:xfrm rot="0">
            <a:off x="571500" y="5127117"/>
            <a:ext cx="796862" cy="295275"/>
            <a:chOff x="0" y="0"/>
            <a:chExt cx="1062482" cy="3937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062482" cy="393700"/>
            </a:xfrm>
            <a:custGeom>
              <a:avLst/>
              <a:gdLst/>
              <a:ahLst/>
              <a:cxnLst/>
              <a:rect r="r" b="b" t="t" l="l"/>
              <a:pathLst>
                <a:path h="393700" w="1062482">
                  <a:moveTo>
                    <a:pt x="0" y="0"/>
                  </a:moveTo>
                  <a:lnTo>
                    <a:pt x="1062482" y="0"/>
                  </a:lnTo>
                  <a:lnTo>
                    <a:pt x="1062482" y="393700"/>
                  </a:lnTo>
                  <a:lnTo>
                    <a:pt x="0" y="3937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7FAFD"/>
            </a:solid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38100"/>
              <a:ext cx="1062482" cy="431800"/>
            </a:xfrm>
            <a:prstGeom prst="rect">
              <a:avLst/>
            </a:prstGeom>
          </p:spPr>
          <p:txBody>
            <a:bodyPr anchor="ctr" rtlCol="false" tIns="107950" lIns="107950" bIns="107950" rIns="107950"/>
            <a:lstStyle/>
            <a:p>
              <a:pPr algn="l">
                <a:lnSpc>
                  <a:spcPts val="1260"/>
                </a:lnSpc>
              </a:pPr>
              <a:r>
                <a:rPr lang="en-US" b="true" sz="900">
                  <a:solidFill>
                    <a:srgbClr val="0A1A2F"/>
                  </a:solidFill>
                  <a:latin typeface="Helvetica Bold"/>
                  <a:ea typeface="Helvetica Bold"/>
                  <a:cs typeface="Helvetica Bold"/>
                  <a:sym typeface="Helvetica Bold"/>
                </a:rPr>
                <a:t>App / UI</a:t>
              </a:r>
            </a:p>
          </p:txBody>
        </p:sp>
      </p:grpSp>
      <p:sp>
        <p:nvSpPr>
          <p:cNvPr name="AutoShape 43" id="43"/>
          <p:cNvSpPr/>
          <p:nvPr/>
        </p:nvSpPr>
        <p:spPr>
          <a:xfrm rot="0">
            <a:off x="571500" y="5412867"/>
            <a:ext cx="796862" cy="9525"/>
          </a:xfrm>
          <a:prstGeom prst="rect">
            <a:avLst/>
          </a:prstGeom>
          <a:solidFill>
            <a:srgbClr val="E2E8F0"/>
          </a:solidFill>
        </p:spPr>
      </p:sp>
      <p:grpSp>
        <p:nvGrpSpPr>
          <p:cNvPr name="Group 44" id="44"/>
          <p:cNvGrpSpPr/>
          <p:nvPr/>
        </p:nvGrpSpPr>
        <p:grpSpPr>
          <a:xfrm rot="0">
            <a:off x="1368362" y="5127117"/>
            <a:ext cx="1865567" cy="295275"/>
            <a:chOff x="0" y="0"/>
            <a:chExt cx="2487422" cy="3937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2487422" cy="393700"/>
            </a:xfrm>
            <a:custGeom>
              <a:avLst/>
              <a:gdLst/>
              <a:ahLst/>
              <a:cxnLst/>
              <a:rect r="r" b="b" t="t" l="l"/>
              <a:pathLst>
                <a:path h="393700" w="2487422">
                  <a:moveTo>
                    <a:pt x="0" y="0"/>
                  </a:moveTo>
                  <a:lnTo>
                    <a:pt x="2487422" y="0"/>
                  </a:lnTo>
                  <a:lnTo>
                    <a:pt x="2487422" y="393700"/>
                  </a:lnTo>
                  <a:lnTo>
                    <a:pt x="0" y="3937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7FAFD"/>
            </a:solid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38100"/>
              <a:ext cx="2487422" cy="431800"/>
            </a:xfrm>
            <a:prstGeom prst="rect">
              <a:avLst/>
            </a:prstGeom>
          </p:spPr>
          <p:txBody>
            <a:bodyPr anchor="ctr" rtlCol="false" tIns="107950" lIns="107950" bIns="107950" rIns="107950"/>
            <a:lstStyle/>
            <a:p>
              <a:pPr algn="l">
                <a:lnSpc>
                  <a:spcPts val="1260"/>
                </a:lnSpc>
              </a:pPr>
              <a:r>
                <a:rPr lang="en-US" sz="900">
                  <a:solidFill>
                    <a:srgbClr val="3F5168"/>
                  </a:solidFill>
                  <a:latin typeface="Helvetica"/>
                  <a:ea typeface="Helvetica"/>
                  <a:cs typeface="Helvetica"/>
                  <a:sym typeface="Helvetica"/>
                </a:rPr>
                <a:t>Streamlit + custom CSS/PWA</a:t>
              </a:r>
            </a:p>
          </p:txBody>
        </p:sp>
      </p:grpSp>
      <p:sp>
        <p:nvSpPr>
          <p:cNvPr name="AutoShape 47" id="47"/>
          <p:cNvSpPr/>
          <p:nvPr/>
        </p:nvSpPr>
        <p:spPr>
          <a:xfrm rot="0">
            <a:off x="1368362" y="5412867"/>
            <a:ext cx="1865567" cy="9525"/>
          </a:xfrm>
          <a:prstGeom prst="rect">
            <a:avLst/>
          </a:prstGeom>
          <a:solidFill>
            <a:srgbClr val="E2E8F0"/>
          </a:solidFill>
        </p:spPr>
      </p:sp>
      <p:grpSp>
        <p:nvGrpSpPr>
          <p:cNvPr name="Group 48" id="48"/>
          <p:cNvGrpSpPr/>
          <p:nvPr/>
        </p:nvGrpSpPr>
        <p:grpSpPr>
          <a:xfrm rot="0">
            <a:off x="3233928" y="5127117"/>
            <a:ext cx="3757422" cy="295275"/>
            <a:chOff x="0" y="0"/>
            <a:chExt cx="5009896" cy="39370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5009896" cy="393700"/>
            </a:xfrm>
            <a:custGeom>
              <a:avLst/>
              <a:gdLst/>
              <a:ahLst/>
              <a:cxnLst/>
              <a:rect r="r" b="b" t="t" l="l"/>
              <a:pathLst>
                <a:path h="393700" w="5009896">
                  <a:moveTo>
                    <a:pt x="0" y="0"/>
                  </a:moveTo>
                  <a:lnTo>
                    <a:pt x="5009896" y="0"/>
                  </a:lnTo>
                  <a:lnTo>
                    <a:pt x="5009896" y="393700"/>
                  </a:lnTo>
                  <a:lnTo>
                    <a:pt x="0" y="3937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7FAFD"/>
            </a:solid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38100"/>
              <a:ext cx="5009896" cy="431800"/>
            </a:xfrm>
            <a:prstGeom prst="rect">
              <a:avLst/>
            </a:prstGeom>
          </p:spPr>
          <p:txBody>
            <a:bodyPr anchor="ctr" rtlCol="false" tIns="107950" lIns="107950" bIns="107950" rIns="107950"/>
            <a:lstStyle/>
            <a:p>
              <a:pPr algn="l">
                <a:lnSpc>
                  <a:spcPts val="1260"/>
                </a:lnSpc>
              </a:pPr>
              <a:r>
                <a:rPr lang="en-US" sz="900">
                  <a:solidFill>
                    <a:srgbClr val="3F5168"/>
                  </a:solidFill>
                  <a:latin typeface="Helvetica"/>
                  <a:ea typeface="Helvetica"/>
                  <a:cs typeface="Helvetica"/>
                  <a:sym typeface="Helvetica"/>
                </a:rPr>
                <a:t>Patient/clinician UI, camera capture, installable home-screen app.</a:t>
              </a:r>
            </a:p>
          </p:txBody>
        </p:sp>
      </p:grpSp>
      <p:sp>
        <p:nvSpPr>
          <p:cNvPr name="AutoShape 51" id="51"/>
          <p:cNvSpPr/>
          <p:nvPr/>
        </p:nvSpPr>
        <p:spPr>
          <a:xfrm rot="0">
            <a:off x="3233928" y="5412867"/>
            <a:ext cx="3757422" cy="9525"/>
          </a:xfrm>
          <a:prstGeom prst="rect">
            <a:avLst/>
          </a:prstGeom>
          <a:solidFill>
            <a:srgbClr val="E2E8F0"/>
          </a:solidFill>
        </p:spPr>
      </p:sp>
      <p:sp>
        <p:nvSpPr>
          <p:cNvPr name="AutoShape 52" id="52"/>
          <p:cNvSpPr/>
          <p:nvPr/>
        </p:nvSpPr>
        <p:spPr>
          <a:xfrm rot="0">
            <a:off x="571500" y="5841492"/>
            <a:ext cx="796862" cy="9525"/>
          </a:xfrm>
          <a:prstGeom prst="rect">
            <a:avLst/>
          </a:prstGeom>
          <a:solidFill>
            <a:srgbClr val="E2E8F0"/>
          </a:solidFill>
        </p:spPr>
      </p:sp>
      <p:sp>
        <p:nvSpPr>
          <p:cNvPr name="TextBox 53" id="53"/>
          <p:cNvSpPr txBox="true"/>
          <p:nvPr/>
        </p:nvSpPr>
        <p:spPr>
          <a:xfrm rot="0">
            <a:off x="571500" y="5384292"/>
            <a:ext cx="796862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b="true" sz="900">
                <a:solidFill>
                  <a:srgbClr val="0A1A2F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Server</a:t>
            </a:r>
          </a:p>
        </p:txBody>
      </p:sp>
      <p:sp>
        <p:nvSpPr>
          <p:cNvPr name="AutoShape 54" id="54"/>
          <p:cNvSpPr/>
          <p:nvPr/>
        </p:nvSpPr>
        <p:spPr>
          <a:xfrm rot="0">
            <a:off x="1368362" y="5841492"/>
            <a:ext cx="1865567" cy="9525"/>
          </a:xfrm>
          <a:prstGeom prst="rect">
            <a:avLst/>
          </a:prstGeom>
          <a:solidFill>
            <a:srgbClr val="E2E8F0"/>
          </a:solidFill>
        </p:spPr>
      </p:sp>
      <p:sp>
        <p:nvSpPr>
          <p:cNvPr name="TextBox 55" id="55"/>
          <p:cNvSpPr txBox="true"/>
          <p:nvPr/>
        </p:nvSpPr>
        <p:spPr>
          <a:xfrm rot="0">
            <a:off x="1368362" y="5384292"/>
            <a:ext cx="1865567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sz="900">
                <a:solidFill>
                  <a:srgbClr val="3F5168"/>
                </a:solidFill>
                <a:latin typeface="Helvetica"/>
                <a:ea typeface="Helvetica"/>
                <a:cs typeface="Helvetica"/>
                <a:sym typeface="Helvetica"/>
              </a:rPr>
              <a:t>AWS EC2 (Ubuntu), nginx, systemd</a:t>
            </a:r>
          </a:p>
        </p:txBody>
      </p:sp>
      <p:sp>
        <p:nvSpPr>
          <p:cNvPr name="AutoShape 56" id="56"/>
          <p:cNvSpPr/>
          <p:nvPr/>
        </p:nvSpPr>
        <p:spPr>
          <a:xfrm rot="0">
            <a:off x="3233928" y="5841492"/>
            <a:ext cx="3757422" cy="9525"/>
          </a:xfrm>
          <a:prstGeom prst="rect">
            <a:avLst/>
          </a:prstGeom>
          <a:solidFill>
            <a:srgbClr val="E2E8F0"/>
          </a:solidFill>
        </p:spPr>
      </p:sp>
      <p:sp>
        <p:nvSpPr>
          <p:cNvPr name="TextBox 57" id="57"/>
          <p:cNvSpPr txBox="true"/>
          <p:nvPr/>
        </p:nvSpPr>
        <p:spPr>
          <a:xfrm rot="0">
            <a:off x="3233928" y="5384292"/>
            <a:ext cx="3757422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sz="900">
                <a:solidFill>
                  <a:srgbClr val="3F5168"/>
                </a:solidFill>
                <a:latin typeface="Helvetica"/>
                <a:ea typeface="Helvetica"/>
                <a:cs typeface="Helvetica"/>
                <a:sym typeface="Helvetica"/>
              </a:rPr>
              <a:t>Reverse proxy, process supervision, always-on service.</a:t>
            </a:r>
          </a:p>
        </p:txBody>
      </p:sp>
      <p:grpSp>
        <p:nvGrpSpPr>
          <p:cNvPr name="Group 58" id="58"/>
          <p:cNvGrpSpPr/>
          <p:nvPr/>
        </p:nvGrpSpPr>
        <p:grpSpPr>
          <a:xfrm rot="0">
            <a:off x="571500" y="5851017"/>
            <a:ext cx="796862" cy="295275"/>
            <a:chOff x="0" y="0"/>
            <a:chExt cx="1062482" cy="39370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1062482" cy="393700"/>
            </a:xfrm>
            <a:custGeom>
              <a:avLst/>
              <a:gdLst/>
              <a:ahLst/>
              <a:cxnLst/>
              <a:rect r="r" b="b" t="t" l="l"/>
              <a:pathLst>
                <a:path h="393700" w="1062482">
                  <a:moveTo>
                    <a:pt x="0" y="0"/>
                  </a:moveTo>
                  <a:lnTo>
                    <a:pt x="1062482" y="0"/>
                  </a:lnTo>
                  <a:lnTo>
                    <a:pt x="1062482" y="393700"/>
                  </a:lnTo>
                  <a:lnTo>
                    <a:pt x="0" y="3937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7FAFD"/>
            </a:solid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38100"/>
              <a:ext cx="1062482" cy="431800"/>
            </a:xfrm>
            <a:prstGeom prst="rect">
              <a:avLst/>
            </a:prstGeom>
          </p:spPr>
          <p:txBody>
            <a:bodyPr anchor="ctr" rtlCol="false" tIns="107950" lIns="107950" bIns="107950" rIns="107950"/>
            <a:lstStyle/>
            <a:p>
              <a:pPr algn="l">
                <a:lnSpc>
                  <a:spcPts val="1260"/>
                </a:lnSpc>
              </a:pPr>
              <a:r>
                <a:rPr lang="en-US" b="true" sz="900">
                  <a:solidFill>
                    <a:srgbClr val="0A1A2F"/>
                  </a:solidFill>
                  <a:latin typeface="Helvetica Bold"/>
                  <a:ea typeface="Helvetica Bold"/>
                  <a:cs typeface="Helvetica Bold"/>
                  <a:sym typeface="Helvetica Bold"/>
                </a:rPr>
                <a:t>Security</a:t>
              </a:r>
            </a:p>
          </p:txBody>
        </p:sp>
      </p:grpSp>
      <p:sp>
        <p:nvSpPr>
          <p:cNvPr name="AutoShape 61" id="61"/>
          <p:cNvSpPr/>
          <p:nvPr/>
        </p:nvSpPr>
        <p:spPr>
          <a:xfrm rot="0">
            <a:off x="571500" y="6136767"/>
            <a:ext cx="796862" cy="9525"/>
          </a:xfrm>
          <a:prstGeom prst="rect">
            <a:avLst/>
          </a:prstGeom>
          <a:solidFill>
            <a:srgbClr val="E2E8F0"/>
          </a:solidFill>
        </p:spPr>
      </p:sp>
      <p:grpSp>
        <p:nvGrpSpPr>
          <p:cNvPr name="Group 62" id="62"/>
          <p:cNvGrpSpPr/>
          <p:nvPr/>
        </p:nvGrpSpPr>
        <p:grpSpPr>
          <a:xfrm rot="0">
            <a:off x="1368362" y="5851017"/>
            <a:ext cx="1865567" cy="295275"/>
            <a:chOff x="0" y="0"/>
            <a:chExt cx="2487422" cy="39370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2487422" cy="393700"/>
            </a:xfrm>
            <a:custGeom>
              <a:avLst/>
              <a:gdLst/>
              <a:ahLst/>
              <a:cxnLst/>
              <a:rect r="r" b="b" t="t" l="l"/>
              <a:pathLst>
                <a:path h="393700" w="2487422">
                  <a:moveTo>
                    <a:pt x="0" y="0"/>
                  </a:moveTo>
                  <a:lnTo>
                    <a:pt x="2487422" y="0"/>
                  </a:lnTo>
                  <a:lnTo>
                    <a:pt x="2487422" y="393700"/>
                  </a:lnTo>
                  <a:lnTo>
                    <a:pt x="0" y="3937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7FAFD"/>
            </a:solid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38100"/>
              <a:ext cx="2487422" cy="431800"/>
            </a:xfrm>
            <a:prstGeom prst="rect">
              <a:avLst/>
            </a:prstGeom>
          </p:spPr>
          <p:txBody>
            <a:bodyPr anchor="ctr" rtlCol="false" tIns="107950" lIns="107950" bIns="107950" rIns="107950"/>
            <a:lstStyle/>
            <a:p>
              <a:pPr algn="l">
                <a:lnSpc>
                  <a:spcPts val="1260"/>
                </a:lnSpc>
              </a:pPr>
              <a:r>
                <a:rPr lang="en-US" sz="900">
                  <a:solidFill>
                    <a:srgbClr val="3F5168"/>
                  </a:solidFill>
                  <a:latin typeface="Helvetica"/>
                  <a:ea typeface="Helvetica"/>
                  <a:cs typeface="Helvetica"/>
                  <a:sym typeface="Helvetica"/>
                </a:rPr>
                <a:t>Let's Encrypt TLS (HTTPS)</a:t>
              </a:r>
            </a:p>
          </p:txBody>
        </p:sp>
      </p:grpSp>
      <p:sp>
        <p:nvSpPr>
          <p:cNvPr name="AutoShape 65" id="65"/>
          <p:cNvSpPr/>
          <p:nvPr/>
        </p:nvSpPr>
        <p:spPr>
          <a:xfrm rot="0">
            <a:off x="1368362" y="6136767"/>
            <a:ext cx="1865567" cy="9525"/>
          </a:xfrm>
          <a:prstGeom prst="rect">
            <a:avLst/>
          </a:prstGeom>
          <a:solidFill>
            <a:srgbClr val="E2E8F0"/>
          </a:solidFill>
        </p:spPr>
      </p:sp>
      <p:grpSp>
        <p:nvGrpSpPr>
          <p:cNvPr name="Group 66" id="66"/>
          <p:cNvGrpSpPr/>
          <p:nvPr/>
        </p:nvGrpSpPr>
        <p:grpSpPr>
          <a:xfrm rot="0">
            <a:off x="3233928" y="5851017"/>
            <a:ext cx="3757422" cy="295275"/>
            <a:chOff x="0" y="0"/>
            <a:chExt cx="5009896" cy="39370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5009896" cy="393700"/>
            </a:xfrm>
            <a:custGeom>
              <a:avLst/>
              <a:gdLst/>
              <a:ahLst/>
              <a:cxnLst/>
              <a:rect r="r" b="b" t="t" l="l"/>
              <a:pathLst>
                <a:path h="393700" w="5009896">
                  <a:moveTo>
                    <a:pt x="0" y="0"/>
                  </a:moveTo>
                  <a:lnTo>
                    <a:pt x="5009896" y="0"/>
                  </a:lnTo>
                  <a:lnTo>
                    <a:pt x="5009896" y="393700"/>
                  </a:lnTo>
                  <a:lnTo>
                    <a:pt x="0" y="3937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7FAFD"/>
            </a:solid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38100"/>
              <a:ext cx="5009896" cy="431800"/>
            </a:xfrm>
            <a:prstGeom prst="rect">
              <a:avLst/>
            </a:prstGeom>
          </p:spPr>
          <p:txBody>
            <a:bodyPr anchor="ctr" rtlCol="false" tIns="107950" lIns="107950" bIns="107950" rIns="107950"/>
            <a:lstStyle/>
            <a:p>
              <a:pPr algn="l">
                <a:lnSpc>
                  <a:spcPts val="1260"/>
                </a:lnSpc>
              </a:pPr>
              <a:r>
                <a:rPr lang="en-US" sz="900">
                  <a:solidFill>
                    <a:srgbClr val="3F5168"/>
                  </a:solidFill>
                  <a:latin typeface="Helvetica"/>
                  <a:ea typeface="Helvetica"/>
                  <a:cs typeface="Helvetica"/>
                  <a:sym typeface="Helvetica"/>
                </a:rPr>
                <a:t>Encrypted transport; required for browser camera access.</a:t>
              </a:r>
            </a:p>
          </p:txBody>
        </p:sp>
      </p:grpSp>
      <p:sp>
        <p:nvSpPr>
          <p:cNvPr name="AutoShape 69" id="69"/>
          <p:cNvSpPr/>
          <p:nvPr/>
        </p:nvSpPr>
        <p:spPr>
          <a:xfrm rot="0">
            <a:off x="3233928" y="6136767"/>
            <a:ext cx="3757422" cy="9525"/>
          </a:xfrm>
          <a:prstGeom prst="rect">
            <a:avLst/>
          </a:prstGeom>
          <a:solidFill>
            <a:srgbClr val="E2E8F0"/>
          </a:solidFill>
        </p:spPr>
      </p:sp>
      <p:sp>
        <p:nvSpPr>
          <p:cNvPr name="TextBox 70" id="70"/>
          <p:cNvSpPr txBox="true"/>
          <p:nvPr/>
        </p:nvSpPr>
        <p:spPr>
          <a:xfrm rot="0">
            <a:off x="571500" y="6284404"/>
            <a:ext cx="6419850" cy="2524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7"/>
              </a:lnSpc>
            </a:pPr>
            <a:r>
              <a:rPr lang="en-US" b="true" sz="1125" spc="-11">
                <a:solidFill>
                  <a:srgbClr val="003D7A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Delivered application features</a:t>
            </a:r>
          </a:p>
        </p:txBody>
      </p:sp>
      <p:grpSp>
        <p:nvGrpSpPr>
          <p:cNvPr name="Group 71" id="71"/>
          <p:cNvGrpSpPr/>
          <p:nvPr/>
        </p:nvGrpSpPr>
        <p:grpSpPr>
          <a:xfrm rot="0">
            <a:off x="571500" y="6603492"/>
            <a:ext cx="1288542" cy="207169"/>
            <a:chOff x="0" y="0"/>
            <a:chExt cx="1718056" cy="276225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1718056" cy="276225"/>
            </a:xfrm>
            <a:custGeom>
              <a:avLst/>
              <a:gdLst/>
              <a:ahLst/>
              <a:cxnLst/>
              <a:rect r="r" b="b" t="t" l="l"/>
              <a:pathLst>
                <a:path h="276225" w="1718056">
                  <a:moveTo>
                    <a:pt x="138176" y="0"/>
                  </a:moveTo>
                  <a:lnTo>
                    <a:pt x="1579880" y="0"/>
                  </a:lnTo>
                  <a:cubicBezTo>
                    <a:pt x="1656207" y="0"/>
                    <a:pt x="1718056" y="61849"/>
                    <a:pt x="1718056" y="138176"/>
                  </a:cubicBezTo>
                  <a:lnTo>
                    <a:pt x="1718056" y="138049"/>
                  </a:lnTo>
                  <a:cubicBezTo>
                    <a:pt x="1718056" y="214376"/>
                    <a:pt x="1656207" y="276225"/>
                    <a:pt x="1579880" y="276225"/>
                  </a:cubicBezTo>
                  <a:lnTo>
                    <a:pt x="138176" y="276225"/>
                  </a:lnTo>
                  <a:cubicBezTo>
                    <a:pt x="61849" y="276225"/>
                    <a:pt x="0" y="214376"/>
                    <a:pt x="0" y="138049"/>
                  </a:cubicBezTo>
                  <a:lnTo>
                    <a:pt x="0" y="138176"/>
                  </a:lnTo>
                  <a:cubicBezTo>
                    <a:pt x="0" y="61849"/>
                    <a:pt x="61849" y="0"/>
                    <a:pt x="138176" y="0"/>
                  </a:cubicBezTo>
                  <a:close/>
                </a:path>
              </a:pathLst>
            </a:custGeom>
            <a:solidFill>
              <a:srgbClr val="E7F6F0"/>
            </a:solidFill>
          </p:spPr>
        </p:sp>
      </p:grpSp>
      <p:grpSp>
        <p:nvGrpSpPr>
          <p:cNvPr name="Group 73" id="73"/>
          <p:cNvGrpSpPr/>
          <p:nvPr/>
        </p:nvGrpSpPr>
        <p:grpSpPr>
          <a:xfrm rot="0">
            <a:off x="1898142" y="6603492"/>
            <a:ext cx="916210" cy="207169"/>
            <a:chOff x="0" y="0"/>
            <a:chExt cx="1221613" cy="276225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1221613" cy="276225"/>
            </a:xfrm>
            <a:custGeom>
              <a:avLst/>
              <a:gdLst/>
              <a:ahLst/>
              <a:cxnLst/>
              <a:rect r="r" b="b" t="t" l="l"/>
              <a:pathLst>
                <a:path h="276225" w="1221613">
                  <a:moveTo>
                    <a:pt x="138176" y="0"/>
                  </a:moveTo>
                  <a:lnTo>
                    <a:pt x="1083437" y="0"/>
                  </a:lnTo>
                  <a:cubicBezTo>
                    <a:pt x="1159764" y="0"/>
                    <a:pt x="1221613" y="61849"/>
                    <a:pt x="1221613" y="138176"/>
                  </a:cubicBezTo>
                  <a:lnTo>
                    <a:pt x="1221613" y="138049"/>
                  </a:lnTo>
                  <a:cubicBezTo>
                    <a:pt x="1221613" y="214376"/>
                    <a:pt x="1159764" y="276225"/>
                    <a:pt x="1083437" y="276225"/>
                  </a:cubicBezTo>
                  <a:lnTo>
                    <a:pt x="138176" y="276225"/>
                  </a:lnTo>
                  <a:cubicBezTo>
                    <a:pt x="61849" y="276225"/>
                    <a:pt x="0" y="214376"/>
                    <a:pt x="0" y="138049"/>
                  </a:cubicBezTo>
                  <a:lnTo>
                    <a:pt x="0" y="138176"/>
                  </a:lnTo>
                  <a:cubicBezTo>
                    <a:pt x="0" y="61849"/>
                    <a:pt x="61849" y="0"/>
                    <a:pt x="138176" y="0"/>
                  </a:cubicBezTo>
                  <a:close/>
                </a:path>
              </a:pathLst>
            </a:custGeom>
            <a:solidFill>
              <a:srgbClr val="E7F6F0"/>
            </a:solidFill>
          </p:spPr>
        </p:sp>
      </p:grpSp>
      <p:grpSp>
        <p:nvGrpSpPr>
          <p:cNvPr name="Group 75" id="75"/>
          <p:cNvGrpSpPr/>
          <p:nvPr/>
        </p:nvGrpSpPr>
        <p:grpSpPr>
          <a:xfrm rot="0">
            <a:off x="2886075" y="6603492"/>
            <a:ext cx="1449896" cy="207169"/>
            <a:chOff x="0" y="0"/>
            <a:chExt cx="1933194" cy="276225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1933194" cy="276225"/>
            </a:xfrm>
            <a:custGeom>
              <a:avLst/>
              <a:gdLst/>
              <a:ahLst/>
              <a:cxnLst/>
              <a:rect r="r" b="b" t="t" l="l"/>
              <a:pathLst>
                <a:path h="276225" w="1933194">
                  <a:moveTo>
                    <a:pt x="138176" y="0"/>
                  </a:moveTo>
                  <a:lnTo>
                    <a:pt x="1795018" y="0"/>
                  </a:lnTo>
                  <a:cubicBezTo>
                    <a:pt x="1871345" y="0"/>
                    <a:pt x="1933194" y="61849"/>
                    <a:pt x="1933194" y="138176"/>
                  </a:cubicBezTo>
                  <a:lnTo>
                    <a:pt x="1933194" y="138049"/>
                  </a:lnTo>
                  <a:cubicBezTo>
                    <a:pt x="1933194" y="214376"/>
                    <a:pt x="1871345" y="276225"/>
                    <a:pt x="1795018" y="276225"/>
                  </a:cubicBezTo>
                  <a:lnTo>
                    <a:pt x="138176" y="276225"/>
                  </a:lnTo>
                  <a:cubicBezTo>
                    <a:pt x="61849" y="276225"/>
                    <a:pt x="0" y="214376"/>
                    <a:pt x="0" y="138049"/>
                  </a:cubicBezTo>
                  <a:lnTo>
                    <a:pt x="0" y="138176"/>
                  </a:lnTo>
                  <a:cubicBezTo>
                    <a:pt x="0" y="61849"/>
                    <a:pt x="61849" y="0"/>
                    <a:pt x="138176" y="0"/>
                  </a:cubicBezTo>
                  <a:close/>
                </a:path>
              </a:pathLst>
            </a:custGeom>
            <a:solidFill>
              <a:srgbClr val="E7F6F0"/>
            </a:solidFill>
          </p:spPr>
        </p:sp>
      </p:grpSp>
      <p:grpSp>
        <p:nvGrpSpPr>
          <p:cNvPr name="Group 77" id="77"/>
          <p:cNvGrpSpPr/>
          <p:nvPr/>
        </p:nvGrpSpPr>
        <p:grpSpPr>
          <a:xfrm rot="0">
            <a:off x="4374070" y="6603492"/>
            <a:ext cx="1382744" cy="207169"/>
            <a:chOff x="0" y="0"/>
            <a:chExt cx="1843659" cy="276225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1843659" cy="276225"/>
            </a:xfrm>
            <a:custGeom>
              <a:avLst/>
              <a:gdLst/>
              <a:ahLst/>
              <a:cxnLst/>
              <a:rect r="r" b="b" t="t" l="l"/>
              <a:pathLst>
                <a:path h="276225" w="1843659">
                  <a:moveTo>
                    <a:pt x="138176" y="0"/>
                  </a:moveTo>
                  <a:lnTo>
                    <a:pt x="1705483" y="0"/>
                  </a:lnTo>
                  <a:cubicBezTo>
                    <a:pt x="1781810" y="0"/>
                    <a:pt x="1843659" y="61849"/>
                    <a:pt x="1843659" y="138176"/>
                  </a:cubicBezTo>
                  <a:lnTo>
                    <a:pt x="1843659" y="138049"/>
                  </a:lnTo>
                  <a:cubicBezTo>
                    <a:pt x="1843659" y="214376"/>
                    <a:pt x="1781810" y="276225"/>
                    <a:pt x="1705483" y="276225"/>
                  </a:cubicBezTo>
                  <a:lnTo>
                    <a:pt x="138176" y="276225"/>
                  </a:lnTo>
                  <a:cubicBezTo>
                    <a:pt x="61849" y="276225"/>
                    <a:pt x="0" y="214376"/>
                    <a:pt x="0" y="138049"/>
                  </a:cubicBezTo>
                  <a:lnTo>
                    <a:pt x="0" y="138176"/>
                  </a:lnTo>
                  <a:cubicBezTo>
                    <a:pt x="0" y="61849"/>
                    <a:pt x="61849" y="0"/>
                    <a:pt x="138176" y="0"/>
                  </a:cubicBezTo>
                  <a:close/>
                </a:path>
              </a:pathLst>
            </a:custGeom>
            <a:solidFill>
              <a:srgbClr val="EAF2FC"/>
            </a:solidFill>
          </p:spPr>
        </p:sp>
      </p:grpSp>
      <p:grpSp>
        <p:nvGrpSpPr>
          <p:cNvPr name="Group 79" id="79"/>
          <p:cNvGrpSpPr/>
          <p:nvPr/>
        </p:nvGrpSpPr>
        <p:grpSpPr>
          <a:xfrm rot="0">
            <a:off x="5828538" y="6603492"/>
            <a:ext cx="1049655" cy="207169"/>
            <a:chOff x="0" y="0"/>
            <a:chExt cx="1399540" cy="276225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1399540" cy="276225"/>
            </a:xfrm>
            <a:custGeom>
              <a:avLst/>
              <a:gdLst/>
              <a:ahLst/>
              <a:cxnLst/>
              <a:rect r="r" b="b" t="t" l="l"/>
              <a:pathLst>
                <a:path h="276225" w="1399540">
                  <a:moveTo>
                    <a:pt x="138176" y="0"/>
                  </a:moveTo>
                  <a:lnTo>
                    <a:pt x="1261364" y="0"/>
                  </a:lnTo>
                  <a:cubicBezTo>
                    <a:pt x="1337691" y="0"/>
                    <a:pt x="1399540" y="61849"/>
                    <a:pt x="1399540" y="138176"/>
                  </a:cubicBezTo>
                  <a:lnTo>
                    <a:pt x="1399540" y="138049"/>
                  </a:lnTo>
                  <a:cubicBezTo>
                    <a:pt x="1399540" y="214376"/>
                    <a:pt x="1337691" y="276225"/>
                    <a:pt x="1261364" y="276225"/>
                  </a:cubicBezTo>
                  <a:lnTo>
                    <a:pt x="138176" y="276225"/>
                  </a:lnTo>
                  <a:cubicBezTo>
                    <a:pt x="61849" y="276225"/>
                    <a:pt x="0" y="214376"/>
                    <a:pt x="0" y="138049"/>
                  </a:cubicBezTo>
                  <a:lnTo>
                    <a:pt x="0" y="138176"/>
                  </a:lnTo>
                  <a:cubicBezTo>
                    <a:pt x="0" y="61849"/>
                    <a:pt x="61849" y="0"/>
                    <a:pt x="138176" y="0"/>
                  </a:cubicBezTo>
                  <a:close/>
                </a:path>
              </a:pathLst>
            </a:custGeom>
            <a:solidFill>
              <a:srgbClr val="EAF2FC"/>
            </a:solidFill>
          </p:spPr>
        </p:sp>
      </p:grpSp>
      <p:grpSp>
        <p:nvGrpSpPr>
          <p:cNvPr name="Group 81" id="81"/>
          <p:cNvGrpSpPr/>
          <p:nvPr/>
        </p:nvGrpSpPr>
        <p:grpSpPr>
          <a:xfrm rot="0">
            <a:off x="571500" y="6848761"/>
            <a:ext cx="1060704" cy="207169"/>
            <a:chOff x="0" y="0"/>
            <a:chExt cx="1414272" cy="276225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1414272" cy="276225"/>
            </a:xfrm>
            <a:custGeom>
              <a:avLst/>
              <a:gdLst/>
              <a:ahLst/>
              <a:cxnLst/>
              <a:rect r="r" b="b" t="t" l="l"/>
              <a:pathLst>
                <a:path h="276225" w="1414272">
                  <a:moveTo>
                    <a:pt x="138176" y="0"/>
                  </a:moveTo>
                  <a:lnTo>
                    <a:pt x="1276096" y="0"/>
                  </a:lnTo>
                  <a:cubicBezTo>
                    <a:pt x="1352423" y="0"/>
                    <a:pt x="1414272" y="61849"/>
                    <a:pt x="1414272" y="138176"/>
                  </a:cubicBezTo>
                  <a:lnTo>
                    <a:pt x="1414272" y="138049"/>
                  </a:lnTo>
                  <a:cubicBezTo>
                    <a:pt x="1414272" y="214376"/>
                    <a:pt x="1352423" y="276225"/>
                    <a:pt x="1276096" y="276225"/>
                  </a:cubicBezTo>
                  <a:lnTo>
                    <a:pt x="138176" y="276225"/>
                  </a:lnTo>
                  <a:cubicBezTo>
                    <a:pt x="61849" y="276225"/>
                    <a:pt x="0" y="214376"/>
                    <a:pt x="0" y="138049"/>
                  </a:cubicBezTo>
                  <a:lnTo>
                    <a:pt x="0" y="138176"/>
                  </a:lnTo>
                  <a:cubicBezTo>
                    <a:pt x="0" y="61849"/>
                    <a:pt x="61849" y="0"/>
                    <a:pt x="138176" y="0"/>
                  </a:cubicBezTo>
                  <a:close/>
                </a:path>
              </a:pathLst>
            </a:custGeom>
            <a:solidFill>
              <a:srgbClr val="EAF2FC"/>
            </a:solidFill>
          </p:spPr>
        </p:sp>
      </p:grpSp>
      <p:grpSp>
        <p:nvGrpSpPr>
          <p:cNvPr name="Group 83" id="83"/>
          <p:cNvGrpSpPr/>
          <p:nvPr/>
        </p:nvGrpSpPr>
        <p:grpSpPr>
          <a:xfrm rot="0">
            <a:off x="1703927" y="6848761"/>
            <a:ext cx="1499997" cy="207169"/>
            <a:chOff x="0" y="0"/>
            <a:chExt cx="1999996" cy="276225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1999996" cy="276225"/>
            </a:xfrm>
            <a:custGeom>
              <a:avLst/>
              <a:gdLst/>
              <a:ahLst/>
              <a:cxnLst/>
              <a:rect r="r" b="b" t="t" l="l"/>
              <a:pathLst>
                <a:path h="276225" w="1999996">
                  <a:moveTo>
                    <a:pt x="138176" y="0"/>
                  </a:moveTo>
                  <a:lnTo>
                    <a:pt x="1861820" y="0"/>
                  </a:lnTo>
                  <a:cubicBezTo>
                    <a:pt x="1938147" y="0"/>
                    <a:pt x="1999996" y="61849"/>
                    <a:pt x="1999996" y="138176"/>
                  </a:cubicBezTo>
                  <a:lnTo>
                    <a:pt x="1999996" y="138049"/>
                  </a:lnTo>
                  <a:cubicBezTo>
                    <a:pt x="1999996" y="214376"/>
                    <a:pt x="1938147" y="276225"/>
                    <a:pt x="1861820" y="276225"/>
                  </a:cubicBezTo>
                  <a:lnTo>
                    <a:pt x="138176" y="276225"/>
                  </a:lnTo>
                  <a:cubicBezTo>
                    <a:pt x="61849" y="276225"/>
                    <a:pt x="0" y="214376"/>
                    <a:pt x="0" y="138049"/>
                  </a:cubicBezTo>
                  <a:lnTo>
                    <a:pt x="0" y="138176"/>
                  </a:lnTo>
                  <a:cubicBezTo>
                    <a:pt x="0" y="61849"/>
                    <a:pt x="61849" y="0"/>
                    <a:pt x="138176" y="0"/>
                  </a:cubicBezTo>
                  <a:close/>
                </a:path>
              </a:pathLst>
            </a:custGeom>
            <a:solidFill>
              <a:srgbClr val="EAF2FC"/>
            </a:solidFill>
          </p:spPr>
        </p:sp>
      </p:grpSp>
      <p:grpSp>
        <p:nvGrpSpPr>
          <p:cNvPr name="Group 85" id="85"/>
          <p:cNvGrpSpPr/>
          <p:nvPr/>
        </p:nvGrpSpPr>
        <p:grpSpPr>
          <a:xfrm rot="0">
            <a:off x="3242120" y="6848761"/>
            <a:ext cx="1327404" cy="207169"/>
            <a:chOff x="0" y="0"/>
            <a:chExt cx="1769872" cy="276225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1769872" cy="276225"/>
            </a:xfrm>
            <a:custGeom>
              <a:avLst/>
              <a:gdLst/>
              <a:ahLst/>
              <a:cxnLst/>
              <a:rect r="r" b="b" t="t" l="l"/>
              <a:pathLst>
                <a:path h="276225" w="1769872">
                  <a:moveTo>
                    <a:pt x="138176" y="0"/>
                  </a:moveTo>
                  <a:lnTo>
                    <a:pt x="1631696" y="0"/>
                  </a:lnTo>
                  <a:cubicBezTo>
                    <a:pt x="1708023" y="0"/>
                    <a:pt x="1769872" y="61849"/>
                    <a:pt x="1769872" y="138176"/>
                  </a:cubicBezTo>
                  <a:lnTo>
                    <a:pt x="1769872" y="138049"/>
                  </a:lnTo>
                  <a:cubicBezTo>
                    <a:pt x="1769872" y="214376"/>
                    <a:pt x="1708023" y="276225"/>
                    <a:pt x="1631696" y="276225"/>
                  </a:cubicBezTo>
                  <a:lnTo>
                    <a:pt x="138176" y="276225"/>
                  </a:lnTo>
                  <a:cubicBezTo>
                    <a:pt x="61849" y="276225"/>
                    <a:pt x="0" y="214376"/>
                    <a:pt x="0" y="138049"/>
                  </a:cubicBezTo>
                  <a:lnTo>
                    <a:pt x="0" y="138176"/>
                  </a:lnTo>
                  <a:cubicBezTo>
                    <a:pt x="0" y="61849"/>
                    <a:pt x="61849" y="0"/>
                    <a:pt x="138176" y="0"/>
                  </a:cubicBezTo>
                  <a:close/>
                </a:path>
              </a:pathLst>
            </a:custGeom>
            <a:solidFill>
              <a:srgbClr val="EAF2FC"/>
            </a:solidFill>
          </p:spPr>
        </p:sp>
      </p:grpSp>
      <p:grpSp>
        <p:nvGrpSpPr>
          <p:cNvPr name="Group 87" id="87"/>
          <p:cNvGrpSpPr/>
          <p:nvPr/>
        </p:nvGrpSpPr>
        <p:grpSpPr>
          <a:xfrm rot="0">
            <a:off x="4641247" y="6848761"/>
            <a:ext cx="1271873" cy="207169"/>
            <a:chOff x="0" y="0"/>
            <a:chExt cx="1695831" cy="276225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1695831" cy="276225"/>
            </a:xfrm>
            <a:custGeom>
              <a:avLst/>
              <a:gdLst/>
              <a:ahLst/>
              <a:cxnLst/>
              <a:rect r="r" b="b" t="t" l="l"/>
              <a:pathLst>
                <a:path h="276225" w="1695831">
                  <a:moveTo>
                    <a:pt x="138176" y="0"/>
                  </a:moveTo>
                  <a:lnTo>
                    <a:pt x="1557655" y="0"/>
                  </a:lnTo>
                  <a:cubicBezTo>
                    <a:pt x="1633982" y="0"/>
                    <a:pt x="1695831" y="61849"/>
                    <a:pt x="1695831" y="138176"/>
                  </a:cubicBezTo>
                  <a:lnTo>
                    <a:pt x="1695831" y="138049"/>
                  </a:lnTo>
                  <a:cubicBezTo>
                    <a:pt x="1695831" y="214376"/>
                    <a:pt x="1633982" y="276225"/>
                    <a:pt x="1557655" y="276225"/>
                  </a:cubicBezTo>
                  <a:lnTo>
                    <a:pt x="138176" y="276225"/>
                  </a:lnTo>
                  <a:cubicBezTo>
                    <a:pt x="61849" y="276225"/>
                    <a:pt x="0" y="214376"/>
                    <a:pt x="0" y="138049"/>
                  </a:cubicBezTo>
                  <a:lnTo>
                    <a:pt x="0" y="138176"/>
                  </a:lnTo>
                  <a:cubicBezTo>
                    <a:pt x="0" y="61849"/>
                    <a:pt x="61849" y="0"/>
                    <a:pt x="138176" y="0"/>
                  </a:cubicBezTo>
                  <a:close/>
                </a:path>
              </a:pathLst>
            </a:custGeom>
            <a:solidFill>
              <a:srgbClr val="EAF2FC"/>
            </a:solidFill>
          </p:spPr>
        </p:sp>
      </p:grpSp>
      <p:grpSp>
        <p:nvGrpSpPr>
          <p:cNvPr name="Group 89" id="89"/>
          <p:cNvGrpSpPr/>
          <p:nvPr/>
        </p:nvGrpSpPr>
        <p:grpSpPr>
          <a:xfrm rot="0">
            <a:off x="571500" y="7094030"/>
            <a:ext cx="1511046" cy="207169"/>
            <a:chOff x="0" y="0"/>
            <a:chExt cx="2014728" cy="276225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2014728" cy="276225"/>
            </a:xfrm>
            <a:custGeom>
              <a:avLst/>
              <a:gdLst/>
              <a:ahLst/>
              <a:cxnLst/>
              <a:rect r="r" b="b" t="t" l="l"/>
              <a:pathLst>
                <a:path h="276225" w="2014728">
                  <a:moveTo>
                    <a:pt x="138176" y="0"/>
                  </a:moveTo>
                  <a:lnTo>
                    <a:pt x="1876552" y="0"/>
                  </a:lnTo>
                  <a:cubicBezTo>
                    <a:pt x="1952879" y="0"/>
                    <a:pt x="2014728" y="61849"/>
                    <a:pt x="2014728" y="138176"/>
                  </a:cubicBezTo>
                  <a:lnTo>
                    <a:pt x="2014728" y="138049"/>
                  </a:lnTo>
                  <a:cubicBezTo>
                    <a:pt x="2014728" y="214376"/>
                    <a:pt x="1952879" y="276225"/>
                    <a:pt x="1876552" y="276225"/>
                  </a:cubicBezTo>
                  <a:lnTo>
                    <a:pt x="138176" y="276225"/>
                  </a:lnTo>
                  <a:cubicBezTo>
                    <a:pt x="61849" y="276225"/>
                    <a:pt x="0" y="214376"/>
                    <a:pt x="0" y="138049"/>
                  </a:cubicBezTo>
                  <a:lnTo>
                    <a:pt x="0" y="138176"/>
                  </a:lnTo>
                  <a:cubicBezTo>
                    <a:pt x="0" y="61849"/>
                    <a:pt x="61849" y="0"/>
                    <a:pt x="138176" y="0"/>
                  </a:cubicBezTo>
                  <a:close/>
                </a:path>
              </a:pathLst>
            </a:custGeom>
            <a:solidFill>
              <a:srgbClr val="EAF2FC"/>
            </a:solidFill>
          </p:spPr>
        </p:sp>
      </p:grpSp>
      <p:grpSp>
        <p:nvGrpSpPr>
          <p:cNvPr name="Group 91" id="91"/>
          <p:cNvGrpSpPr/>
          <p:nvPr/>
        </p:nvGrpSpPr>
        <p:grpSpPr>
          <a:xfrm rot="0">
            <a:off x="2154269" y="7094030"/>
            <a:ext cx="949547" cy="207169"/>
            <a:chOff x="0" y="0"/>
            <a:chExt cx="1266063" cy="276225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1266063" cy="276225"/>
            </a:xfrm>
            <a:custGeom>
              <a:avLst/>
              <a:gdLst/>
              <a:ahLst/>
              <a:cxnLst/>
              <a:rect r="r" b="b" t="t" l="l"/>
              <a:pathLst>
                <a:path h="276225" w="1266063">
                  <a:moveTo>
                    <a:pt x="138176" y="0"/>
                  </a:moveTo>
                  <a:lnTo>
                    <a:pt x="1127887" y="0"/>
                  </a:lnTo>
                  <a:cubicBezTo>
                    <a:pt x="1204214" y="0"/>
                    <a:pt x="1266063" y="61849"/>
                    <a:pt x="1266063" y="138176"/>
                  </a:cubicBezTo>
                  <a:lnTo>
                    <a:pt x="1266063" y="138049"/>
                  </a:lnTo>
                  <a:cubicBezTo>
                    <a:pt x="1266063" y="214376"/>
                    <a:pt x="1204214" y="276225"/>
                    <a:pt x="1127887" y="276225"/>
                  </a:cubicBezTo>
                  <a:lnTo>
                    <a:pt x="138176" y="276225"/>
                  </a:lnTo>
                  <a:cubicBezTo>
                    <a:pt x="61849" y="276225"/>
                    <a:pt x="0" y="214376"/>
                    <a:pt x="0" y="138049"/>
                  </a:cubicBezTo>
                  <a:lnTo>
                    <a:pt x="0" y="138176"/>
                  </a:lnTo>
                  <a:cubicBezTo>
                    <a:pt x="0" y="61849"/>
                    <a:pt x="61849" y="0"/>
                    <a:pt x="138176" y="0"/>
                  </a:cubicBezTo>
                  <a:close/>
                </a:path>
              </a:pathLst>
            </a:custGeom>
            <a:solidFill>
              <a:srgbClr val="EAF2FC"/>
            </a:solidFill>
          </p:spPr>
        </p:sp>
      </p:grpSp>
      <p:grpSp>
        <p:nvGrpSpPr>
          <p:cNvPr name="Group 93" id="93"/>
          <p:cNvGrpSpPr/>
          <p:nvPr/>
        </p:nvGrpSpPr>
        <p:grpSpPr>
          <a:xfrm rot="0">
            <a:off x="3141916" y="7094030"/>
            <a:ext cx="1410557" cy="207169"/>
            <a:chOff x="0" y="0"/>
            <a:chExt cx="1880743" cy="276225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1880743" cy="276225"/>
            </a:xfrm>
            <a:custGeom>
              <a:avLst/>
              <a:gdLst/>
              <a:ahLst/>
              <a:cxnLst/>
              <a:rect r="r" b="b" t="t" l="l"/>
              <a:pathLst>
                <a:path h="276225" w="1880743">
                  <a:moveTo>
                    <a:pt x="138176" y="0"/>
                  </a:moveTo>
                  <a:lnTo>
                    <a:pt x="1742567" y="0"/>
                  </a:lnTo>
                  <a:cubicBezTo>
                    <a:pt x="1818894" y="0"/>
                    <a:pt x="1880743" y="61849"/>
                    <a:pt x="1880743" y="138176"/>
                  </a:cubicBezTo>
                  <a:lnTo>
                    <a:pt x="1880743" y="138049"/>
                  </a:lnTo>
                  <a:cubicBezTo>
                    <a:pt x="1880743" y="214376"/>
                    <a:pt x="1818894" y="276225"/>
                    <a:pt x="1742567" y="276225"/>
                  </a:cubicBezTo>
                  <a:lnTo>
                    <a:pt x="138176" y="276225"/>
                  </a:lnTo>
                  <a:cubicBezTo>
                    <a:pt x="61849" y="276225"/>
                    <a:pt x="0" y="214376"/>
                    <a:pt x="0" y="138049"/>
                  </a:cubicBezTo>
                  <a:lnTo>
                    <a:pt x="0" y="138176"/>
                  </a:lnTo>
                  <a:cubicBezTo>
                    <a:pt x="0" y="61849"/>
                    <a:pt x="61849" y="0"/>
                    <a:pt x="138176" y="0"/>
                  </a:cubicBezTo>
                  <a:close/>
                </a:path>
              </a:pathLst>
            </a:custGeom>
            <a:solidFill>
              <a:srgbClr val="EAF2FC"/>
            </a:solidFill>
          </p:spPr>
        </p:sp>
      </p:grpSp>
      <p:sp>
        <p:nvSpPr>
          <p:cNvPr name="TextBox 95" id="95"/>
          <p:cNvSpPr txBox="true"/>
          <p:nvPr/>
        </p:nvSpPr>
        <p:spPr>
          <a:xfrm rot="0">
            <a:off x="571500" y="6565392"/>
            <a:ext cx="6419850" cy="7739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81"/>
              </a:lnSpc>
            </a:pPr>
            <a:r>
              <a:rPr lang="en-US" b="true" sz="787">
                <a:solidFill>
                  <a:srgbClr val="04563D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Live at pneu.gmora.devInstallable PWA</a:t>
            </a:r>
            <a:r>
              <a:rPr lang="en-US" sz="787">
                <a:solidFill>
                  <a:srgbClr val="3F5168"/>
                </a:solidFill>
                <a:latin typeface="Helvetica"/>
                <a:ea typeface="Helvetica"/>
                <a:cs typeface="Helvetica"/>
                <a:sym typeface="Helvetica"/>
              </a:rPr>
              <a:t> </a:t>
            </a:r>
            <a:r>
              <a:rPr lang="en-US" b="true" sz="787">
                <a:solidFill>
                  <a:srgbClr val="04563D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In-browser camera capture</a:t>
            </a:r>
            <a:r>
              <a:rPr lang="en-US" b="true" sz="787">
                <a:solidFill>
                  <a:srgbClr val="003D7A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Phone-photo rectification</a:t>
            </a:r>
            <a:r>
              <a:rPr lang="en-US" sz="787">
                <a:solidFill>
                  <a:srgbClr val="3F5168"/>
                </a:solidFill>
                <a:latin typeface="Helvetica"/>
                <a:ea typeface="Helvetica"/>
                <a:cs typeface="Helvetica"/>
                <a:sym typeface="Helvetica"/>
              </a:rPr>
              <a:t> </a:t>
            </a:r>
            <a:r>
              <a:rPr lang="en-US" b="true" sz="787">
                <a:solidFill>
                  <a:srgbClr val="003D7A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Image-quality gateFail-safe threshold</a:t>
            </a:r>
            <a:r>
              <a:rPr lang="en-US" sz="787">
                <a:solidFill>
                  <a:srgbClr val="3F5168"/>
                </a:solidFill>
                <a:latin typeface="Helvetica"/>
                <a:ea typeface="Helvetica"/>
                <a:cs typeface="Helvetica"/>
                <a:sym typeface="Helvetica"/>
              </a:rPr>
              <a:t> </a:t>
            </a:r>
            <a:r>
              <a:rPr lang="en-US" b="true" sz="787">
                <a:solidFill>
                  <a:srgbClr val="003D7A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Calibrated "uncertain" bandGrad-CAM explainability</a:t>
            </a:r>
            <a:r>
              <a:rPr lang="en-US" sz="787">
                <a:solidFill>
                  <a:srgbClr val="3F5168"/>
                </a:solidFill>
                <a:latin typeface="Helvetica"/>
                <a:ea typeface="Helvetica"/>
                <a:cs typeface="Helvetica"/>
                <a:sym typeface="Helvetica"/>
              </a:rPr>
              <a:t> </a:t>
            </a:r>
            <a:r>
              <a:rPr lang="en-US" b="true" sz="787">
                <a:solidFill>
                  <a:srgbClr val="003D7A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Patient / Clinician rolesClinical escalation guidance</a:t>
            </a:r>
            <a:r>
              <a:rPr lang="en-US" sz="787">
                <a:solidFill>
                  <a:srgbClr val="3F5168"/>
                </a:solidFill>
                <a:latin typeface="Helvetica"/>
                <a:ea typeface="Helvetica"/>
                <a:cs typeface="Helvetica"/>
                <a:sym typeface="Helvetica"/>
              </a:rPr>
              <a:t> </a:t>
            </a:r>
            <a:r>
              <a:rPr lang="en-US" b="true" sz="787">
                <a:solidFill>
                  <a:srgbClr val="003D7A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Offline app shellModel insights dashboard</a:t>
            </a:r>
          </a:p>
        </p:txBody>
      </p:sp>
      <p:grpSp>
        <p:nvGrpSpPr>
          <p:cNvPr name="Group 96" id="96"/>
          <p:cNvGrpSpPr/>
          <p:nvPr/>
        </p:nvGrpSpPr>
        <p:grpSpPr>
          <a:xfrm rot="0">
            <a:off x="571500" y="7434548"/>
            <a:ext cx="6419850" cy="736378"/>
            <a:chOff x="0" y="0"/>
            <a:chExt cx="8559800" cy="981837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8559800" cy="981837"/>
            </a:xfrm>
            <a:custGeom>
              <a:avLst/>
              <a:gdLst/>
              <a:ahLst/>
              <a:cxnLst/>
              <a:rect r="r" b="b" t="t" l="l"/>
              <a:pathLst>
                <a:path h="981837" w="8559800">
                  <a:moveTo>
                    <a:pt x="0" y="0"/>
                  </a:moveTo>
                  <a:lnTo>
                    <a:pt x="8458200" y="0"/>
                  </a:lnTo>
                  <a:cubicBezTo>
                    <a:pt x="8514334" y="0"/>
                    <a:pt x="8559800" y="45466"/>
                    <a:pt x="8559800" y="101600"/>
                  </a:cubicBezTo>
                  <a:lnTo>
                    <a:pt x="8559800" y="880237"/>
                  </a:lnTo>
                  <a:cubicBezTo>
                    <a:pt x="8559800" y="936371"/>
                    <a:pt x="8514334" y="981837"/>
                    <a:pt x="8458200" y="981837"/>
                  </a:cubicBezTo>
                  <a:lnTo>
                    <a:pt x="0" y="98183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7F6F0"/>
            </a:solidFill>
          </p:spPr>
        </p:sp>
      </p:grpSp>
      <p:sp>
        <p:nvSpPr>
          <p:cNvPr name="AutoShape 98" id="98"/>
          <p:cNvSpPr/>
          <p:nvPr/>
        </p:nvSpPr>
        <p:spPr>
          <a:xfrm rot="0">
            <a:off x="571500" y="7434548"/>
            <a:ext cx="38100" cy="736378"/>
          </a:xfrm>
          <a:prstGeom prst="rect">
            <a:avLst/>
          </a:prstGeom>
          <a:solidFill>
            <a:srgbClr val="059669"/>
          </a:solidFill>
        </p:spPr>
      </p:sp>
      <p:sp>
        <p:nvSpPr>
          <p:cNvPr name="TextBox 99" id="99"/>
          <p:cNvSpPr txBox="true"/>
          <p:nvPr/>
        </p:nvSpPr>
        <p:spPr>
          <a:xfrm rot="0">
            <a:off x="571500" y="7396448"/>
            <a:ext cx="6419850" cy="7744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83"/>
              </a:lnSpc>
            </a:pPr>
            <a:r>
              <a:rPr lang="en-US" b="true" sz="922">
                <a:solidFill>
                  <a:srgbClr val="0A1A2F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Feasibility demonstrated.</a:t>
            </a:r>
            <a:r>
              <a:rPr lang="en-US" sz="922">
                <a:solidFill>
                  <a:srgbClr val="04563D"/>
                </a:solidFill>
                <a:latin typeface="Helvetica"/>
                <a:ea typeface="Helvetica"/>
                <a:cs typeface="Helvetica"/>
                <a:sym typeface="Helvetica"/>
              </a:rPr>
              <a:t> The entire system runs on free/low-cost infrastructure: open-source frameworks, a single small cloud VM for CPU inference, and no per-query licensing. An optional edge deployment (Raspberry Pi / Jetson Nano) enables fully offline use in clinics without internet.</a:t>
            </a:r>
          </a:p>
        </p:txBody>
      </p:sp>
      <p:sp>
        <p:nvSpPr>
          <p:cNvPr name="AutoShape 100" id="100"/>
          <p:cNvSpPr/>
          <p:nvPr/>
        </p:nvSpPr>
        <p:spPr>
          <a:xfrm rot="0">
            <a:off x="571500" y="10213181"/>
            <a:ext cx="6419850" cy="9525"/>
          </a:xfrm>
          <a:prstGeom prst="rect">
            <a:avLst/>
          </a:prstGeom>
          <a:solidFill>
            <a:srgbClr val="E2E8F0"/>
          </a:solidFill>
        </p:spPr>
      </p:sp>
      <p:sp>
        <p:nvSpPr>
          <p:cNvPr name="TextBox 101" id="101"/>
          <p:cNvSpPr txBox="true"/>
          <p:nvPr/>
        </p:nvSpPr>
        <p:spPr>
          <a:xfrm rot="0">
            <a:off x="571500" y="10260806"/>
            <a:ext cx="1684115" cy="1881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81"/>
              </a:lnSpc>
            </a:pPr>
            <a:r>
              <a:rPr lang="en-US" sz="787">
                <a:solidFill>
                  <a:srgbClr val="6B7A90"/>
                </a:solidFill>
                <a:latin typeface="Helvetica"/>
                <a:ea typeface="Helvetica"/>
                <a:cs typeface="Helvetica"/>
                <a:sym typeface="Helvetica"/>
              </a:rPr>
              <a:t>Team GMora · University of Moratuwa</a:t>
            </a:r>
          </a:p>
        </p:txBody>
      </p:sp>
      <p:sp>
        <p:nvSpPr>
          <p:cNvPr name="TextBox 102" id="102"/>
          <p:cNvSpPr txBox="true"/>
          <p:nvPr/>
        </p:nvSpPr>
        <p:spPr>
          <a:xfrm rot="0">
            <a:off x="5301425" y="10260806"/>
            <a:ext cx="1689926" cy="1881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81"/>
              </a:lnSpc>
            </a:pPr>
            <a:r>
              <a:rPr lang="en-US" sz="787">
                <a:solidFill>
                  <a:srgbClr val="6B7A90"/>
                </a:solidFill>
                <a:latin typeface="Helvetica"/>
                <a:ea typeface="Helvetica"/>
                <a:cs typeface="Helvetica"/>
                <a:sym typeface="Helvetica"/>
              </a:rPr>
              <a:t>Section 3 · Architecture &amp; Deployment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0"/>
            <a:ext cx="7562850" cy="10696575"/>
          </a:xfrm>
          <a:prstGeom prst="rect">
            <a:avLst/>
          </a:prstGeom>
          <a:solidFill>
            <a:srgbClr val="FFFFFF"/>
          </a:solidFill>
        </p:spPr>
      </p:sp>
      <p:sp>
        <p:nvSpPr>
          <p:cNvPr name="AutoShape 3" id="3"/>
          <p:cNvSpPr/>
          <p:nvPr/>
        </p:nvSpPr>
        <p:spPr>
          <a:xfrm rot="0">
            <a:off x="571500" y="795338"/>
            <a:ext cx="6419850" cy="19050"/>
          </a:xfrm>
          <a:prstGeom prst="rect">
            <a:avLst/>
          </a:prstGeom>
          <a:solidFill>
            <a:srgbClr val="0066CC"/>
          </a:solidFill>
        </p:spPr>
      </p:sp>
      <p:sp>
        <p:nvSpPr>
          <p:cNvPr name="TextBox 4" id="4"/>
          <p:cNvSpPr txBox="true"/>
          <p:nvPr/>
        </p:nvSpPr>
        <p:spPr>
          <a:xfrm rot="0">
            <a:off x="571500" y="504825"/>
            <a:ext cx="970407" cy="2143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62"/>
              </a:lnSpc>
            </a:pPr>
            <a:r>
              <a:rPr lang="en-US" b="true" sz="975" spc="19">
                <a:solidFill>
                  <a:srgbClr val="0066CC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PneumoScan AI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329684" y="500063"/>
            <a:ext cx="2661666" cy="2047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37"/>
              </a:lnSpc>
            </a:pPr>
            <a:r>
              <a:rPr lang="en-US" sz="825" spc="66">
                <a:solidFill>
                  <a:srgbClr val="6B7A90"/>
                </a:solidFill>
                <a:latin typeface="Helvetica"/>
                <a:ea typeface="Helvetica"/>
                <a:cs typeface="Helvetica"/>
                <a:sym typeface="Helvetica"/>
              </a:rPr>
              <a:t>SECTIONS 4–5 · BACKGROUND &amp; FEASIBILITY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71500" y="995363"/>
            <a:ext cx="6419850" cy="2047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37"/>
              </a:lnSpc>
            </a:pPr>
            <a:r>
              <a:rPr lang="en-US" b="true" sz="825" spc="115">
                <a:solidFill>
                  <a:srgbClr val="0066CC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SECTION 4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71500" y="1190625"/>
            <a:ext cx="6419850" cy="3952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87"/>
              </a:lnSpc>
            </a:pPr>
            <a:r>
              <a:rPr lang="en-US" b="true" sz="1725" spc="-17">
                <a:solidFill>
                  <a:srgbClr val="0066CC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4.</a:t>
            </a:r>
            <a:r>
              <a:rPr lang="en-US" b="true" sz="1725" spc="-17">
                <a:solidFill>
                  <a:srgbClr val="0A1A2F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 Literature review &amp; background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571500" y="1681162"/>
            <a:ext cx="1549432" cy="266700"/>
            <a:chOff x="0" y="0"/>
            <a:chExt cx="2065909" cy="3556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065909" cy="355600"/>
            </a:xfrm>
            <a:custGeom>
              <a:avLst/>
              <a:gdLst/>
              <a:ahLst/>
              <a:cxnLst/>
              <a:rect r="r" b="b" t="t" l="l"/>
              <a:pathLst>
                <a:path h="355600" w="2065909">
                  <a:moveTo>
                    <a:pt x="0" y="0"/>
                  </a:moveTo>
                  <a:lnTo>
                    <a:pt x="2065909" y="0"/>
                  </a:lnTo>
                  <a:lnTo>
                    <a:pt x="2065909" y="355600"/>
                  </a:lnTo>
                  <a:lnTo>
                    <a:pt x="0" y="355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66CC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2065909" cy="393700"/>
            </a:xfrm>
            <a:prstGeom prst="rect">
              <a:avLst/>
            </a:prstGeom>
          </p:spPr>
          <p:txBody>
            <a:bodyPr anchor="ctr" rtlCol="false" tIns="101600" lIns="101600" bIns="101600" rIns="101600"/>
            <a:lstStyle/>
            <a:p>
              <a:pPr algn="l">
                <a:lnSpc>
                  <a:spcPts val="1207"/>
                </a:lnSpc>
              </a:pPr>
              <a:r>
                <a:rPr lang="en-US" b="true" sz="862">
                  <a:solidFill>
                    <a:srgbClr val="FFFFFF"/>
                  </a:solidFill>
                  <a:latin typeface="Helvetica Bold"/>
                  <a:ea typeface="Helvetica Bold"/>
                  <a:cs typeface="Helvetica Bold"/>
                  <a:sym typeface="Helvetica Bold"/>
                </a:rPr>
                <a:t>Work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2120932" y="1681162"/>
            <a:ext cx="2229707" cy="266700"/>
            <a:chOff x="0" y="0"/>
            <a:chExt cx="2972943" cy="3556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972943" cy="355600"/>
            </a:xfrm>
            <a:custGeom>
              <a:avLst/>
              <a:gdLst/>
              <a:ahLst/>
              <a:cxnLst/>
              <a:rect r="r" b="b" t="t" l="l"/>
              <a:pathLst>
                <a:path h="355600" w="2972943">
                  <a:moveTo>
                    <a:pt x="0" y="0"/>
                  </a:moveTo>
                  <a:lnTo>
                    <a:pt x="2972943" y="0"/>
                  </a:lnTo>
                  <a:lnTo>
                    <a:pt x="2972943" y="355600"/>
                  </a:lnTo>
                  <a:lnTo>
                    <a:pt x="0" y="355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66CC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2972943" cy="393700"/>
            </a:xfrm>
            <a:prstGeom prst="rect">
              <a:avLst/>
            </a:prstGeom>
          </p:spPr>
          <p:txBody>
            <a:bodyPr anchor="ctr" rtlCol="false" tIns="101600" lIns="101600" bIns="101600" rIns="101600"/>
            <a:lstStyle/>
            <a:p>
              <a:pPr algn="l">
                <a:lnSpc>
                  <a:spcPts val="1207"/>
                </a:lnSpc>
              </a:pPr>
              <a:r>
                <a:rPr lang="en-US" b="true" sz="862">
                  <a:solidFill>
                    <a:srgbClr val="FFFFFF"/>
                  </a:solidFill>
                  <a:latin typeface="Helvetica Bold"/>
                  <a:ea typeface="Helvetica Bold"/>
                  <a:cs typeface="Helvetica Bold"/>
                  <a:sym typeface="Helvetica Bold"/>
                </a:rPr>
                <a:t>Contribution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4350734" y="1681162"/>
            <a:ext cx="2640616" cy="266700"/>
            <a:chOff x="0" y="0"/>
            <a:chExt cx="3520821" cy="3556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520821" cy="355600"/>
            </a:xfrm>
            <a:custGeom>
              <a:avLst/>
              <a:gdLst/>
              <a:ahLst/>
              <a:cxnLst/>
              <a:rect r="r" b="b" t="t" l="l"/>
              <a:pathLst>
                <a:path h="355600" w="3520821">
                  <a:moveTo>
                    <a:pt x="0" y="0"/>
                  </a:moveTo>
                  <a:lnTo>
                    <a:pt x="3520821" y="0"/>
                  </a:lnTo>
                  <a:lnTo>
                    <a:pt x="3520821" y="355600"/>
                  </a:lnTo>
                  <a:lnTo>
                    <a:pt x="0" y="355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66CC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3520821" cy="393700"/>
            </a:xfrm>
            <a:prstGeom prst="rect">
              <a:avLst/>
            </a:prstGeom>
          </p:spPr>
          <p:txBody>
            <a:bodyPr anchor="ctr" rtlCol="false" tIns="101600" lIns="101600" bIns="101600" rIns="101600"/>
            <a:lstStyle/>
            <a:p>
              <a:pPr algn="l">
                <a:lnSpc>
                  <a:spcPts val="1207"/>
                </a:lnSpc>
              </a:pPr>
              <a:r>
                <a:rPr lang="en-US" b="true" sz="862">
                  <a:solidFill>
                    <a:srgbClr val="FFFFFF"/>
                  </a:solidFill>
                  <a:latin typeface="Helvetica Bold"/>
                  <a:ea typeface="Helvetica Bold"/>
                  <a:cs typeface="Helvetica Bold"/>
                  <a:sym typeface="Helvetica Bold"/>
                </a:rPr>
                <a:t>Our advance</a:t>
              </a:r>
            </a:p>
          </p:txBody>
        </p:sp>
      </p:grpSp>
      <p:sp>
        <p:nvSpPr>
          <p:cNvPr name="AutoShape 17" id="17"/>
          <p:cNvSpPr/>
          <p:nvPr/>
        </p:nvSpPr>
        <p:spPr>
          <a:xfrm rot="0">
            <a:off x="571500" y="1947862"/>
            <a:ext cx="1549432" cy="423862"/>
          </a:xfrm>
          <a:prstGeom prst="rect">
            <a:avLst/>
          </a:prstGeom>
          <a:solidFill>
            <a:srgbClr val="F7FAFD"/>
          </a:solidFill>
        </p:spPr>
      </p:sp>
      <p:sp>
        <p:nvSpPr>
          <p:cNvPr name="AutoShape 18" id="18"/>
          <p:cNvSpPr/>
          <p:nvPr/>
        </p:nvSpPr>
        <p:spPr>
          <a:xfrm rot="0">
            <a:off x="571500" y="2362200"/>
            <a:ext cx="1549432" cy="9525"/>
          </a:xfrm>
          <a:prstGeom prst="rect">
            <a:avLst/>
          </a:prstGeom>
          <a:solidFill>
            <a:srgbClr val="E2E8F0"/>
          </a:solidFill>
        </p:spPr>
      </p:sp>
      <p:sp>
        <p:nvSpPr>
          <p:cNvPr name="TextBox 19" id="19"/>
          <p:cNvSpPr txBox="true"/>
          <p:nvPr/>
        </p:nvSpPr>
        <p:spPr>
          <a:xfrm rot="0">
            <a:off x="571500" y="1909762"/>
            <a:ext cx="1549432" cy="461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b="true" sz="900">
                <a:solidFill>
                  <a:srgbClr val="0A1A2F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Rajpurkar et al. (2017) — CheXNet</a:t>
            </a:r>
          </a:p>
        </p:txBody>
      </p:sp>
      <p:sp>
        <p:nvSpPr>
          <p:cNvPr name="AutoShape 20" id="20"/>
          <p:cNvSpPr/>
          <p:nvPr/>
        </p:nvSpPr>
        <p:spPr>
          <a:xfrm rot="0">
            <a:off x="2120932" y="1947862"/>
            <a:ext cx="2229707" cy="423862"/>
          </a:xfrm>
          <a:prstGeom prst="rect">
            <a:avLst/>
          </a:prstGeom>
          <a:solidFill>
            <a:srgbClr val="F7FAFD"/>
          </a:solidFill>
        </p:spPr>
      </p:sp>
      <p:sp>
        <p:nvSpPr>
          <p:cNvPr name="AutoShape 21" id="21"/>
          <p:cNvSpPr/>
          <p:nvPr/>
        </p:nvSpPr>
        <p:spPr>
          <a:xfrm rot="0">
            <a:off x="2120932" y="2362200"/>
            <a:ext cx="2229707" cy="9525"/>
          </a:xfrm>
          <a:prstGeom prst="rect">
            <a:avLst/>
          </a:prstGeom>
          <a:solidFill>
            <a:srgbClr val="E2E8F0"/>
          </a:solidFill>
        </p:spPr>
      </p:sp>
      <p:sp>
        <p:nvSpPr>
          <p:cNvPr name="TextBox 22" id="22"/>
          <p:cNvSpPr txBox="true"/>
          <p:nvPr/>
        </p:nvSpPr>
        <p:spPr>
          <a:xfrm rot="0">
            <a:off x="2120932" y="1909762"/>
            <a:ext cx="2229707" cy="461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sz="900">
                <a:solidFill>
                  <a:srgbClr val="3F5168"/>
                </a:solidFill>
                <a:latin typeface="Helvetica"/>
                <a:ea typeface="Helvetica"/>
                <a:cs typeface="Helvetica"/>
                <a:sym typeface="Helvetica"/>
              </a:rPr>
              <a:t>121-layer DenseNet, radiologist-level pneumonia detection.</a:t>
            </a:r>
          </a:p>
        </p:txBody>
      </p:sp>
      <p:sp>
        <p:nvSpPr>
          <p:cNvPr name="AutoShape 23" id="23"/>
          <p:cNvSpPr/>
          <p:nvPr/>
        </p:nvSpPr>
        <p:spPr>
          <a:xfrm rot="0">
            <a:off x="4350734" y="1947862"/>
            <a:ext cx="2640616" cy="423862"/>
          </a:xfrm>
          <a:prstGeom prst="rect">
            <a:avLst/>
          </a:prstGeom>
          <a:solidFill>
            <a:srgbClr val="F7FAFD"/>
          </a:solidFill>
        </p:spPr>
      </p:sp>
      <p:sp>
        <p:nvSpPr>
          <p:cNvPr name="AutoShape 24" id="24"/>
          <p:cNvSpPr/>
          <p:nvPr/>
        </p:nvSpPr>
        <p:spPr>
          <a:xfrm rot="0">
            <a:off x="4350734" y="2362200"/>
            <a:ext cx="2640616" cy="9525"/>
          </a:xfrm>
          <a:prstGeom prst="rect">
            <a:avLst/>
          </a:prstGeom>
          <a:solidFill>
            <a:srgbClr val="E2E8F0"/>
          </a:solidFill>
        </p:spPr>
      </p:sp>
      <p:sp>
        <p:nvSpPr>
          <p:cNvPr name="TextBox 25" id="25"/>
          <p:cNvSpPr txBox="true"/>
          <p:nvPr/>
        </p:nvSpPr>
        <p:spPr>
          <a:xfrm rot="0">
            <a:off x="4350734" y="1909762"/>
            <a:ext cx="2640616" cy="461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sz="900">
                <a:solidFill>
                  <a:srgbClr val="3F5168"/>
                </a:solidFill>
                <a:latin typeface="Helvetica"/>
                <a:ea typeface="Helvetica"/>
                <a:cs typeface="Helvetica"/>
                <a:sym typeface="Helvetica"/>
              </a:rPr>
              <a:t>We add explainability + a deployed, fail-safe workflow for low-resource use.</a:t>
            </a:r>
          </a:p>
        </p:txBody>
      </p:sp>
      <p:sp>
        <p:nvSpPr>
          <p:cNvPr name="AutoShape 26" id="26"/>
          <p:cNvSpPr/>
          <p:nvPr/>
        </p:nvSpPr>
        <p:spPr>
          <a:xfrm rot="0">
            <a:off x="571500" y="2790825"/>
            <a:ext cx="1549432" cy="9525"/>
          </a:xfrm>
          <a:prstGeom prst="rect">
            <a:avLst/>
          </a:prstGeom>
          <a:solidFill>
            <a:srgbClr val="E2E8F0"/>
          </a:solidFill>
        </p:spPr>
      </p:sp>
      <p:sp>
        <p:nvSpPr>
          <p:cNvPr name="TextBox 27" id="27"/>
          <p:cNvSpPr txBox="true"/>
          <p:nvPr/>
        </p:nvSpPr>
        <p:spPr>
          <a:xfrm rot="0">
            <a:off x="571500" y="2333625"/>
            <a:ext cx="1549432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b="true" sz="900">
                <a:solidFill>
                  <a:srgbClr val="0A1A2F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Kermany et al. (2018)</a:t>
            </a:r>
          </a:p>
        </p:txBody>
      </p:sp>
      <p:sp>
        <p:nvSpPr>
          <p:cNvPr name="AutoShape 28" id="28"/>
          <p:cNvSpPr/>
          <p:nvPr/>
        </p:nvSpPr>
        <p:spPr>
          <a:xfrm rot="0">
            <a:off x="2120932" y="2790825"/>
            <a:ext cx="2229707" cy="9525"/>
          </a:xfrm>
          <a:prstGeom prst="rect">
            <a:avLst/>
          </a:prstGeom>
          <a:solidFill>
            <a:srgbClr val="E2E8F0"/>
          </a:solidFill>
        </p:spPr>
      </p:sp>
      <p:sp>
        <p:nvSpPr>
          <p:cNvPr name="TextBox 29" id="29"/>
          <p:cNvSpPr txBox="true"/>
          <p:nvPr/>
        </p:nvSpPr>
        <p:spPr>
          <a:xfrm rot="0">
            <a:off x="2120932" y="2333625"/>
            <a:ext cx="2229707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sz="900">
                <a:solidFill>
                  <a:srgbClr val="3F5168"/>
                </a:solidFill>
                <a:latin typeface="Helvetica"/>
                <a:ea typeface="Helvetica"/>
                <a:cs typeface="Helvetica"/>
                <a:sym typeface="Helvetica"/>
              </a:rPr>
              <a:t>Transfer learning on pediatric CXR; expert-graded dataset.</a:t>
            </a:r>
          </a:p>
        </p:txBody>
      </p:sp>
      <p:sp>
        <p:nvSpPr>
          <p:cNvPr name="AutoShape 30" id="30"/>
          <p:cNvSpPr/>
          <p:nvPr/>
        </p:nvSpPr>
        <p:spPr>
          <a:xfrm rot="0">
            <a:off x="4350734" y="2790825"/>
            <a:ext cx="2640616" cy="9525"/>
          </a:xfrm>
          <a:prstGeom prst="rect">
            <a:avLst/>
          </a:prstGeom>
          <a:solidFill>
            <a:srgbClr val="E2E8F0"/>
          </a:solidFill>
        </p:spPr>
      </p:sp>
      <p:sp>
        <p:nvSpPr>
          <p:cNvPr name="TextBox 31" id="31"/>
          <p:cNvSpPr txBox="true"/>
          <p:nvPr/>
        </p:nvSpPr>
        <p:spPr>
          <a:xfrm rot="0">
            <a:off x="4350734" y="2333625"/>
            <a:ext cx="2640616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sz="900">
                <a:solidFill>
                  <a:srgbClr val="3F5168"/>
                </a:solidFill>
                <a:latin typeface="Helvetica"/>
                <a:ea typeface="Helvetica"/>
                <a:cs typeface="Helvetica"/>
                <a:sym typeface="Helvetica"/>
              </a:rPr>
              <a:t>We generalise beyond pediatrics to adults and phone photos.</a:t>
            </a:r>
          </a:p>
        </p:txBody>
      </p:sp>
      <p:sp>
        <p:nvSpPr>
          <p:cNvPr name="AutoShape 32" id="32"/>
          <p:cNvSpPr/>
          <p:nvPr/>
        </p:nvSpPr>
        <p:spPr>
          <a:xfrm rot="0">
            <a:off x="571500" y="2800350"/>
            <a:ext cx="1549432" cy="428625"/>
          </a:xfrm>
          <a:prstGeom prst="rect">
            <a:avLst/>
          </a:prstGeom>
          <a:solidFill>
            <a:srgbClr val="F7FAFD"/>
          </a:solidFill>
        </p:spPr>
      </p:sp>
      <p:sp>
        <p:nvSpPr>
          <p:cNvPr name="AutoShape 33" id="33"/>
          <p:cNvSpPr/>
          <p:nvPr/>
        </p:nvSpPr>
        <p:spPr>
          <a:xfrm rot="0">
            <a:off x="571500" y="3219450"/>
            <a:ext cx="1549432" cy="9525"/>
          </a:xfrm>
          <a:prstGeom prst="rect">
            <a:avLst/>
          </a:prstGeom>
          <a:solidFill>
            <a:srgbClr val="E2E8F0"/>
          </a:solidFill>
        </p:spPr>
      </p:sp>
      <p:sp>
        <p:nvSpPr>
          <p:cNvPr name="TextBox 34" id="34"/>
          <p:cNvSpPr txBox="true"/>
          <p:nvPr/>
        </p:nvSpPr>
        <p:spPr>
          <a:xfrm rot="0">
            <a:off x="571500" y="2762250"/>
            <a:ext cx="1549432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b="true" sz="900">
                <a:solidFill>
                  <a:srgbClr val="0A1A2F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Selvaraju et al. (2017) — Grad-CAM</a:t>
            </a:r>
          </a:p>
        </p:txBody>
      </p:sp>
      <p:sp>
        <p:nvSpPr>
          <p:cNvPr name="AutoShape 35" id="35"/>
          <p:cNvSpPr/>
          <p:nvPr/>
        </p:nvSpPr>
        <p:spPr>
          <a:xfrm rot="0">
            <a:off x="2120932" y="2800350"/>
            <a:ext cx="2229707" cy="428625"/>
          </a:xfrm>
          <a:prstGeom prst="rect">
            <a:avLst/>
          </a:prstGeom>
          <a:solidFill>
            <a:srgbClr val="F7FAFD"/>
          </a:solidFill>
        </p:spPr>
      </p:sp>
      <p:sp>
        <p:nvSpPr>
          <p:cNvPr name="AutoShape 36" id="36"/>
          <p:cNvSpPr/>
          <p:nvPr/>
        </p:nvSpPr>
        <p:spPr>
          <a:xfrm rot="0">
            <a:off x="2120932" y="3219450"/>
            <a:ext cx="2229707" cy="9525"/>
          </a:xfrm>
          <a:prstGeom prst="rect">
            <a:avLst/>
          </a:prstGeom>
          <a:solidFill>
            <a:srgbClr val="E2E8F0"/>
          </a:solidFill>
        </p:spPr>
      </p:sp>
      <p:sp>
        <p:nvSpPr>
          <p:cNvPr name="TextBox 37" id="37"/>
          <p:cNvSpPr txBox="true"/>
          <p:nvPr/>
        </p:nvSpPr>
        <p:spPr>
          <a:xfrm rot="0">
            <a:off x="2120932" y="2762250"/>
            <a:ext cx="2229707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sz="900">
                <a:solidFill>
                  <a:srgbClr val="3F5168"/>
                </a:solidFill>
                <a:latin typeface="Helvetica"/>
                <a:ea typeface="Helvetica"/>
                <a:cs typeface="Helvetica"/>
                <a:sym typeface="Helvetica"/>
              </a:rPr>
              <a:t>Gradient-based visual explanation for CNNs.</a:t>
            </a:r>
          </a:p>
        </p:txBody>
      </p:sp>
      <p:sp>
        <p:nvSpPr>
          <p:cNvPr name="AutoShape 38" id="38"/>
          <p:cNvSpPr/>
          <p:nvPr/>
        </p:nvSpPr>
        <p:spPr>
          <a:xfrm rot="0">
            <a:off x="4350734" y="2800350"/>
            <a:ext cx="2640616" cy="428625"/>
          </a:xfrm>
          <a:prstGeom prst="rect">
            <a:avLst/>
          </a:prstGeom>
          <a:solidFill>
            <a:srgbClr val="F7FAFD"/>
          </a:solidFill>
        </p:spPr>
      </p:sp>
      <p:sp>
        <p:nvSpPr>
          <p:cNvPr name="AutoShape 39" id="39"/>
          <p:cNvSpPr/>
          <p:nvPr/>
        </p:nvSpPr>
        <p:spPr>
          <a:xfrm rot="0">
            <a:off x="4350734" y="3219450"/>
            <a:ext cx="2640616" cy="9525"/>
          </a:xfrm>
          <a:prstGeom prst="rect">
            <a:avLst/>
          </a:prstGeom>
          <a:solidFill>
            <a:srgbClr val="E2E8F0"/>
          </a:solidFill>
        </p:spPr>
      </p:sp>
      <p:sp>
        <p:nvSpPr>
          <p:cNvPr name="TextBox 40" id="40"/>
          <p:cNvSpPr txBox="true"/>
          <p:nvPr/>
        </p:nvSpPr>
        <p:spPr>
          <a:xfrm rot="0">
            <a:off x="4350734" y="2762250"/>
            <a:ext cx="2640616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sz="900">
                <a:solidFill>
                  <a:srgbClr val="3F5168"/>
                </a:solidFill>
                <a:latin typeface="Helvetica"/>
                <a:ea typeface="Helvetica"/>
                <a:cs typeface="Helvetica"/>
                <a:sym typeface="Helvetica"/>
              </a:rPr>
              <a:t>Integrated into every prediction to build clinical trust.</a:t>
            </a:r>
          </a:p>
        </p:txBody>
      </p:sp>
      <p:sp>
        <p:nvSpPr>
          <p:cNvPr name="AutoShape 41" id="41"/>
          <p:cNvSpPr/>
          <p:nvPr/>
        </p:nvSpPr>
        <p:spPr>
          <a:xfrm rot="0">
            <a:off x="571500" y="3648075"/>
            <a:ext cx="1549432" cy="9525"/>
          </a:xfrm>
          <a:prstGeom prst="rect">
            <a:avLst/>
          </a:prstGeom>
          <a:solidFill>
            <a:srgbClr val="E2E8F0"/>
          </a:solidFill>
        </p:spPr>
      </p:sp>
      <p:sp>
        <p:nvSpPr>
          <p:cNvPr name="TextBox 42" id="42"/>
          <p:cNvSpPr txBox="true"/>
          <p:nvPr/>
        </p:nvSpPr>
        <p:spPr>
          <a:xfrm rot="0">
            <a:off x="571500" y="3190875"/>
            <a:ext cx="1549432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b="true" sz="900">
                <a:solidFill>
                  <a:srgbClr val="0A1A2F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He et al. (2016) — ResNet</a:t>
            </a:r>
          </a:p>
        </p:txBody>
      </p:sp>
      <p:sp>
        <p:nvSpPr>
          <p:cNvPr name="AutoShape 43" id="43"/>
          <p:cNvSpPr/>
          <p:nvPr/>
        </p:nvSpPr>
        <p:spPr>
          <a:xfrm rot="0">
            <a:off x="2120932" y="3648075"/>
            <a:ext cx="2229707" cy="9525"/>
          </a:xfrm>
          <a:prstGeom prst="rect">
            <a:avLst/>
          </a:prstGeom>
          <a:solidFill>
            <a:srgbClr val="E2E8F0"/>
          </a:solidFill>
        </p:spPr>
      </p:sp>
      <p:sp>
        <p:nvSpPr>
          <p:cNvPr name="TextBox 44" id="44"/>
          <p:cNvSpPr txBox="true"/>
          <p:nvPr/>
        </p:nvSpPr>
        <p:spPr>
          <a:xfrm rot="0">
            <a:off x="2120932" y="3190875"/>
            <a:ext cx="2229707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sz="900">
                <a:solidFill>
                  <a:srgbClr val="3F5168"/>
                </a:solidFill>
                <a:latin typeface="Helvetica"/>
                <a:ea typeface="Helvetica"/>
                <a:cs typeface="Helvetica"/>
                <a:sym typeface="Helvetica"/>
              </a:rPr>
              <a:t>Residual learning enabling deep networks.</a:t>
            </a:r>
          </a:p>
        </p:txBody>
      </p:sp>
      <p:sp>
        <p:nvSpPr>
          <p:cNvPr name="AutoShape 45" id="45"/>
          <p:cNvSpPr/>
          <p:nvPr/>
        </p:nvSpPr>
        <p:spPr>
          <a:xfrm rot="0">
            <a:off x="4350734" y="3648075"/>
            <a:ext cx="2640616" cy="9525"/>
          </a:xfrm>
          <a:prstGeom prst="rect">
            <a:avLst/>
          </a:prstGeom>
          <a:solidFill>
            <a:srgbClr val="E2E8F0"/>
          </a:solidFill>
        </p:spPr>
      </p:sp>
      <p:sp>
        <p:nvSpPr>
          <p:cNvPr name="TextBox 46" id="46"/>
          <p:cNvSpPr txBox="true"/>
          <p:nvPr/>
        </p:nvSpPr>
        <p:spPr>
          <a:xfrm rot="0">
            <a:off x="4350734" y="3190875"/>
            <a:ext cx="2640616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sz="900">
                <a:solidFill>
                  <a:srgbClr val="3F5168"/>
                </a:solidFill>
                <a:latin typeface="Helvetica"/>
                <a:ea typeface="Helvetica"/>
                <a:cs typeface="Helvetica"/>
                <a:sym typeface="Helvetica"/>
              </a:rPr>
              <a:t>Our fine-tuned backbone, adapted to CXR features.</a:t>
            </a:r>
          </a:p>
        </p:txBody>
      </p:sp>
      <p:sp>
        <p:nvSpPr>
          <p:cNvPr name="AutoShape 47" id="47"/>
          <p:cNvSpPr/>
          <p:nvPr/>
        </p:nvSpPr>
        <p:spPr>
          <a:xfrm rot="0">
            <a:off x="571500" y="3657600"/>
            <a:ext cx="1549432" cy="428625"/>
          </a:xfrm>
          <a:prstGeom prst="rect">
            <a:avLst/>
          </a:prstGeom>
          <a:solidFill>
            <a:srgbClr val="F7FAFD"/>
          </a:solidFill>
        </p:spPr>
      </p:sp>
      <p:sp>
        <p:nvSpPr>
          <p:cNvPr name="AutoShape 48" id="48"/>
          <p:cNvSpPr/>
          <p:nvPr/>
        </p:nvSpPr>
        <p:spPr>
          <a:xfrm rot="0">
            <a:off x="571500" y="4076700"/>
            <a:ext cx="1549432" cy="9525"/>
          </a:xfrm>
          <a:prstGeom prst="rect">
            <a:avLst/>
          </a:prstGeom>
          <a:solidFill>
            <a:srgbClr val="E2E8F0"/>
          </a:solidFill>
        </p:spPr>
      </p:sp>
      <p:sp>
        <p:nvSpPr>
          <p:cNvPr name="TextBox 49" id="49"/>
          <p:cNvSpPr txBox="true"/>
          <p:nvPr/>
        </p:nvSpPr>
        <p:spPr>
          <a:xfrm rot="0">
            <a:off x="571500" y="3619500"/>
            <a:ext cx="1549432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b="true" sz="900">
                <a:solidFill>
                  <a:srgbClr val="0A1A2F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Phillips et al. — CheXphoto</a:t>
            </a:r>
          </a:p>
        </p:txBody>
      </p:sp>
      <p:sp>
        <p:nvSpPr>
          <p:cNvPr name="AutoShape 50" id="50"/>
          <p:cNvSpPr/>
          <p:nvPr/>
        </p:nvSpPr>
        <p:spPr>
          <a:xfrm rot="0">
            <a:off x="2120932" y="3657600"/>
            <a:ext cx="2229707" cy="428625"/>
          </a:xfrm>
          <a:prstGeom prst="rect">
            <a:avLst/>
          </a:prstGeom>
          <a:solidFill>
            <a:srgbClr val="F7FAFD"/>
          </a:solidFill>
        </p:spPr>
      </p:sp>
      <p:sp>
        <p:nvSpPr>
          <p:cNvPr name="AutoShape 51" id="51"/>
          <p:cNvSpPr/>
          <p:nvPr/>
        </p:nvSpPr>
        <p:spPr>
          <a:xfrm rot="0">
            <a:off x="2120932" y="4076700"/>
            <a:ext cx="2229707" cy="9525"/>
          </a:xfrm>
          <a:prstGeom prst="rect">
            <a:avLst/>
          </a:prstGeom>
          <a:solidFill>
            <a:srgbClr val="E2E8F0"/>
          </a:solidFill>
        </p:spPr>
      </p:sp>
      <p:sp>
        <p:nvSpPr>
          <p:cNvPr name="TextBox 52" id="52"/>
          <p:cNvSpPr txBox="true"/>
          <p:nvPr/>
        </p:nvSpPr>
        <p:spPr>
          <a:xfrm rot="0">
            <a:off x="2120932" y="3619500"/>
            <a:ext cx="2229707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sz="900">
                <a:solidFill>
                  <a:srgbClr val="3F5168"/>
                </a:solidFill>
                <a:latin typeface="Helvetica"/>
                <a:ea typeface="Helvetica"/>
                <a:cs typeface="Helvetica"/>
                <a:sym typeface="Helvetica"/>
              </a:rPr>
              <a:t>Photographed-CXR robustness benchmark.</a:t>
            </a:r>
          </a:p>
        </p:txBody>
      </p:sp>
      <p:sp>
        <p:nvSpPr>
          <p:cNvPr name="AutoShape 53" id="53"/>
          <p:cNvSpPr/>
          <p:nvPr/>
        </p:nvSpPr>
        <p:spPr>
          <a:xfrm rot="0">
            <a:off x="4350734" y="3657600"/>
            <a:ext cx="2640616" cy="428625"/>
          </a:xfrm>
          <a:prstGeom prst="rect">
            <a:avLst/>
          </a:prstGeom>
          <a:solidFill>
            <a:srgbClr val="F7FAFD"/>
          </a:solidFill>
        </p:spPr>
      </p:sp>
      <p:sp>
        <p:nvSpPr>
          <p:cNvPr name="AutoShape 54" id="54"/>
          <p:cNvSpPr/>
          <p:nvPr/>
        </p:nvSpPr>
        <p:spPr>
          <a:xfrm rot="0">
            <a:off x="4350734" y="4076700"/>
            <a:ext cx="2640616" cy="9525"/>
          </a:xfrm>
          <a:prstGeom prst="rect">
            <a:avLst/>
          </a:prstGeom>
          <a:solidFill>
            <a:srgbClr val="E2E8F0"/>
          </a:solidFill>
        </p:spPr>
      </p:sp>
      <p:sp>
        <p:nvSpPr>
          <p:cNvPr name="TextBox 55" id="55"/>
          <p:cNvSpPr txBox="true"/>
          <p:nvPr/>
        </p:nvSpPr>
        <p:spPr>
          <a:xfrm rot="0">
            <a:off x="4350734" y="3619500"/>
            <a:ext cx="2640616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sz="900">
                <a:solidFill>
                  <a:srgbClr val="3F5168"/>
                </a:solidFill>
                <a:latin typeface="Helvetica"/>
                <a:ea typeface="Helvetica"/>
                <a:cs typeface="Helvetica"/>
                <a:sym typeface="Helvetica"/>
              </a:rPr>
              <a:t>We reproduce capture artefacts synthetically to train for phone use.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571500" y="4157663"/>
            <a:ext cx="6419850" cy="5918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28"/>
              </a:lnSpc>
            </a:pPr>
            <a:r>
              <a:rPr lang="en-US" b="true" sz="952">
                <a:solidFill>
                  <a:srgbClr val="0A1A2F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Gap addressed:</a:t>
            </a:r>
            <a:r>
              <a:rPr lang="en-US" sz="952">
                <a:solidFill>
                  <a:srgbClr val="3F5168"/>
                </a:solidFill>
                <a:latin typeface="Helvetica"/>
                <a:ea typeface="Helvetica"/>
                <a:cs typeface="Helvetica"/>
                <a:sym typeface="Helvetica"/>
              </a:rPr>
              <a:t> most published models are accurate on clean, in-distribution scans but are not deployment-ready, not explainable, and not validated on the messy inputs (adult anatomy, phone photos) that a real rural workflow produces. PneumoScan AI targets exactly that gap.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571500" y="4835271"/>
            <a:ext cx="6419850" cy="2047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37"/>
              </a:lnSpc>
            </a:pPr>
            <a:r>
              <a:rPr lang="en-US" b="true" sz="825" spc="115">
                <a:solidFill>
                  <a:srgbClr val="0066CC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SECTION 5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571500" y="5030533"/>
            <a:ext cx="6419850" cy="3952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87"/>
              </a:lnSpc>
            </a:pPr>
            <a:r>
              <a:rPr lang="en-US" b="true" sz="1725" spc="-17">
                <a:solidFill>
                  <a:srgbClr val="0066CC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5.</a:t>
            </a:r>
            <a:r>
              <a:rPr lang="en-US" b="true" sz="1725" spc="-17">
                <a:solidFill>
                  <a:srgbClr val="0A1A2F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 Feasibility</a:t>
            </a:r>
          </a:p>
        </p:txBody>
      </p:sp>
      <p:grpSp>
        <p:nvGrpSpPr>
          <p:cNvPr name="Group 59" id="59"/>
          <p:cNvGrpSpPr/>
          <p:nvPr/>
        </p:nvGrpSpPr>
        <p:grpSpPr>
          <a:xfrm rot="0">
            <a:off x="571500" y="5463921"/>
            <a:ext cx="3133725" cy="1233488"/>
            <a:chOff x="0" y="0"/>
            <a:chExt cx="4178300" cy="164465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4178300" cy="1644650"/>
            </a:xfrm>
            <a:custGeom>
              <a:avLst/>
              <a:gdLst/>
              <a:ahLst/>
              <a:cxnLst/>
              <a:rect r="r" b="b" t="t" l="l"/>
              <a:pathLst>
                <a:path h="1644650" w="4178300">
                  <a:moveTo>
                    <a:pt x="152400" y="0"/>
                  </a:moveTo>
                  <a:lnTo>
                    <a:pt x="4025900" y="0"/>
                  </a:lnTo>
                  <a:cubicBezTo>
                    <a:pt x="4110101" y="0"/>
                    <a:pt x="4178300" y="68199"/>
                    <a:pt x="4178300" y="152400"/>
                  </a:cubicBezTo>
                  <a:lnTo>
                    <a:pt x="4178300" y="1492250"/>
                  </a:lnTo>
                  <a:cubicBezTo>
                    <a:pt x="4178300" y="1576451"/>
                    <a:pt x="4110101" y="1644650"/>
                    <a:pt x="4025900" y="1644650"/>
                  </a:cubicBezTo>
                  <a:lnTo>
                    <a:pt x="152400" y="1644650"/>
                  </a:lnTo>
                  <a:cubicBezTo>
                    <a:pt x="68199" y="1644650"/>
                    <a:pt x="0" y="1576451"/>
                    <a:pt x="0" y="1492250"/>
                  </a:cubicBezTo>
                  <a:lnTo>
                    <a:pt x="0" y="152400"/>
                  </a:lnTo>
                  <a:cubicBezTo>
                    <a:pt x="0" y="68199"/>
                    <a:pt x="68199" y="0"/>
                    <a:pt x="152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4178300" cy="1644650"/>
            </a:xfrm>
            <a:custGeom>
              <a:avLst/>
              <a:gdLst/>
              <a:ahLst/>
              <a:cxnLst/>
              <a:rect r="r" b="b" t="t" l="l"/>
              <a:pathLst>
                <a:path h="1644650" w="4178300">
                  <a:moveTo>
                    <a:pt x="152400" y="0"/>
                  </a:moveTo>
                  <a:lnTo>
                    <a:pt x="4025900" y="0"/>
                  </a:lnTo>
                  <a:cubicBezTo>
                    <a:pt x="4110101" y="0"/>
                    <a:pt x="4178300" y="68199"/>
                    <a:pt x="4178300" y="152400"/>
                  </a:cubicBezTo>
                  <a:lnTo>
                    <a:pt x="4178300" y="1492250"/>
                  </a:lnTo>
                  <a:cubicBezTo>
                    <a:pt x="4178300" y="1576451"/>
                    <a:pt x="4110101" y="1644650"/>
                    <a:pt x="4025900" y="1644650"/>
                  </a:cubicBezTo>
                  <a:lnTo>
                    <a:pt x="152400" y="1644650"/>
                  </a:lnTo>
                  <a:cubicBezTo>
                    <a:pt x="68199" y="1644650"/>
                    <a:pt x="0" y="1576451"/>
                    <a:pt x="0" y="1492250"/>
                  </a:cubicBezTo>
                  <a:lnTo>
                    <a:pt x="0" y="152400"/>
                  </a:lnTo>
                  <a:cubicBezTo>
                    <a:pt x="0" y="68199"/>
                    <a:pt x="68199" y="0"/>
                    <a:pt x="152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E2E8F0"/>
              </a:solidFill>
              <a:prstDash val="solid"/>
              <a:miter/>
            </a:ln>
          </p:spPr>
        </p:sp>
      </p:grpSp>
      <p:sp>
        <p:nvSpPr>
          <p:cNvPr name="TextBox 62" id="62"/>
          <p:cNvSpPr txBox="true"/>
          <p:nvPr/>
        </p:nvSpPr>
        <p:spPr>
          <a:xfrm rot="0">
            <a:off x="733425" y="5587746"/>
            <a:ext cx="2809875" cy="2143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62"/>
              </a:lnSpc>
            </a:pPr>
            <a:r>
              <a:rPr lang="en-US" b="true" sz="975" spc="-9">
                <a:solidFill>
                  <a:srgbClr val="003D7A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Technical feasibility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733425" y="5811583"/>
            <a:ext cx="2809875" cy="733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0"/>
              </a:lnSpc>
            </a:pPr>
            <a:r>
              <a:rPr lang="en-US" sz="900">
                <a:solidFill>
                  <a:srgbClr val="3F5168"/>
                </a:solidFill>
                <a:latin typeface="Helvetica"/>
                <a:ea typeface="Helvetica"/>
                <a:cs typeface="Helvetica"/>
                <a:sym typeface="Helvetica"/>
              </a:rPr>
              <a:t>Built entirely on mature, open-source frameworks (PyTorch, OpenCV, Streamlit). The trained model is ~90 MB and runs in well under a second on CPU — no GPU needed in production.</a:t>
            </a:r>
          </a:p>
        </p:txBody>
      </p:sp>
      <p:grpSp>
        <p:nvGrpSpPr>
          <p:cNvPr name="Group 64" id="64"/>
          <p:cNvGrpSpPr/>
          <p:nvPr/>
        </p:nvGrpSpPr>
        <p:grpSpPr>
          <a:xfrm rot="0">
            <a:off x="3857625" y="5463921"/>
            <a:ext cx="3133725" cy="1233488"/>
            <a:chOff x="0" y="0"/>
            <a:chExt cx="4178300" cy="164465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4178300" cy="1644650"/>
            </a:xfrm>
            <a:custGeom>
              <a:avLst/>
              <a:gdLst/>
              <a:ahLst/>
              <a:cxnLst/>
              <a:rect r="r" b="b" t="t" l="l"/>
              <a:pathLst>
                <a:path h="1644650" w="4178300">
                  <a:moveTo>
                    <a:pt x="152400" y="0"/>
                  </a:moveTo>
                  <a:lnTo>
                    <a:pt x="4025900" y="0"/>
                  </a:lnTo>
                  <a:cubicBezTo>
                    <a:pt x="4110101" y="0"/>
                    <a:pt x="4178300" y="68199"/>
                    <a:pt x="4178300" y="152400"/>
                  </a:cubicBezTo>
                  <a:lnTo>
                    <a:pt x="4178300" y="1492250"/>
                  </a:lnTo>
                  <a:cubicBezTo>
                    <a:pt x="4178300" y="1576451"/>
                    <a:pt x="4110101" y="1644650"/>
                    <a:pt x="4025900" y="1644650"/>
                  </a:cubicBezTo>
                  <a:lnTo>
                    <a:pt x="152400" y="1644650"/>
                  </a:lnTo>
                  <a:cubicBezTo>
                    <a:pt x="68199" y="1644650"/>
                    <a:pt x="0" y="1576451"/>
                    <a:pt x="0" y="1492250"/>
                  </a:cubicBezTo>
                  <a:lnTo>
                    <a:pt x="0" y="152400"/>
                  </a:lnTo>
                  <a:cubicBezTo>
                    <a:pt x="0" y="68199"/>
                    <a:pt x="68199" y="0"/>
                    <a:pt x="152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4178300" cy="1644650"/>
            </a:xfrm>
            <a:custGeom>
              <a:avLst/>
              <a:gdLst/>
              <a:ahLst/>
              <a:cxnLst/>
              <a:rect r="r" b="b" t="t" l="l"/>
              <a:pathLst>
                <a:path h="1644650" w="4178300">
                  <a:moveTo>
                    <a:pt x="152400" y="0"/>
                  </a:moveTo>
                  <a:lnTo>
                    <a:pt x="4025900" y="0"/>
                  </a:lnTo>
                  <a:cubicBezTo>
                    <a:pt x="4110101" y="0"/>
                    <a:pt x="4178300" y="68199"/>
                    <a:pt x="4178300" y="152400"/>
                  </a:cubicBezTo>
                  <a:lnTo>
                    <a:pt x="4178300" y="1492250"/>
                  </a:lnTo>
                  <a:cubicBezTo>
                    <a:pt x="4178300" y="1576451"/>
                    <a:pt x="4110101" y="1644650"/>
                    <a:pt x="4025900" y="1644650"/>
                  </a:cubicBezTo>
                  <a:lnTo>
                    <a:pt x="152400" y="1644650"/>
                  </a:lnTo>
                  <a:cubicBezTo>
                    <a:pt x="68199" y="1644650"/>
                    <a:pt x="0" y="1576451"/>
                    <a:pt x="0" y="1492250"/>
                  </a:cubicBezTo>
                  <a:lnTo>
                    <a:pt x="0" y="152400"/>
                  </a:lnTo>
                  <a:cubicBezTo>
                    <a:pt x="0" y="68199"/>
                    <a:pt x="68199" y="0"/>
                    <a:pt x="152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E2E8F0"/>
              </a:solidFill>
              <a:prstDash val="solid"/>
              <a:miter/>
            </a:ln>
          </p:spPr>
        </p:sp>
      </p:grpSp>
      <p:sp>
        <p:nvSpPr>
          <p:cNvPr name="TextBox 67" id="67"/>
          <p:cNvSpPr txBox="true"/>
          <p:nvPr/>
        </p:nvSpPr>
        <p:spPr>
          <a:xfrm rot="0">
            <a:off x="4019550" y="5587746"/>
            <a:ext cx="2809875" cy="2143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62"/>
              </a:lnSpc>
            </a:pPr>
            <a:r>
              <a:rPr lang="en-US" b="true" sz="975" spc="-9">
                <a:solidFill>
                  <a:srgbClr val="003D7A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Operational feasibility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4019550" y="5811583"/>
            <a:ext cx="2809875" cy="733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0"/>
              </a:lnSpc>
            </a:pPr>
            <a:r>
              <a:rPr lang="en-US" sz="900">
                <a:solidFill>
                  <a:srgbClr val="3F5168"/>
                </a:solidFill>
                <a:latin typeface="Helvetica"/>
                <a:ea typeface="Helvetica"/>
                <a:cs typeface="Helvetica"/>
                <a:sym typeface="Helvetica"/>
              </a:rPr>
              <a:t>Deployed on a single low-cost cloud VM with automated TLS and process supervision; an edge option removes the internet dependency for remote clinics.</a:t>
            </a:r>
          </a:p>
        </p:txBody>
      </p:sp>
      <p:grpSp>
        <p:nvGrpSpPr>
          <p:cNvPr name="Group 69" id="69"/>
          <p:cNvGrpSpPr/>
          <p:nvPr/>
        </p:nvGrpSpPr>
        <p:grpSpPr>
          <a:xfrm rot="0">
            <a:off x="571500" y="6849808"/>
            <a:ext cx="3133725" cy="1062038"/>
            <a:chOff x="0" y="0"/>
            <a:chExt cx="4178300" cy="1416050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4178300" cy="1416050"/>
            </a:xfrm>
            <a:custGeom>
              <a:avLst/>
              <a:gdLst/>
              <a:ahLst/>
              <a:cxnLst/>
              <a:rect r="r" b="b" t="t" l="l"/>
              <a:pathLst>
                <a:path h="1416050" w="4178300">
                  <a:moveTo>
                    <a:pt x="152400" y="0"/>
                  </a:moveTo>
                  <a:lnTo>
                    <a:pt x="4025900" y="0"/>
                  </a:lnTo>
                  <a:cubicBezTo>
                    <a:pt x="4110101" y="0"/>
                    <a:pt x="4178300" y="68199"/>
                    <a:pt x="4178300" y="152400"/>
                  </a:cubicBezTo>
                  <a:lnTo>
                    <a:pt x="4178300" y="1263650"/>
                  </a:lnTo>
                  <a:cubicBezTo>
                    <a:pt x="4178300" y="1347851"/>
                    <a:pt x="4110101" y="1416050"/>
                    <a:pt x="4025900" y="1416050"/>
                  </a:cubicBezTo>
                  <a:lnTo>
                    <a:pt x="152400" y="1416050"/>
                  </a:lnTo>
                  <a:cubicBezTo>
                    <a:pt x="68199" y="1416050"/>
                    <a:pt x="0" y="1347851"/>
                    <a:pt x="0" y="1263650"/>
                  </a:cubicBezTo>
                  <a:lnTo>
                    <a:pt x="0" y="152400"/>
                  </a:lnTo>
                  <a:cubicBezTo>
                    <a:pt x="0" y="68199"/>
                    <a:pt x="68199" y="0"/>
                    <a:pt x="152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4178300" cy="1416050"/>
            </a:xfrm>
            <a:custGeom>
              <a:avLst/>
              <a:gdLst/>
              <a:ahLst/>
              <a:cxnLst/>
              <a:rect r="r" b="b" t="t" l="l"/>
              <a:pathLst>
                <a:path h="1416050" w="4178300">
                  <a:moveTo>
                    <a:pt x="152400" y="0"/>
                  </a:moveTo>
                  <a:lnTo>
                    <a:pt x="4025900" y="0"/>
                  </a:lnTo>
                  <a:cubicBezTo>
                    <a:pt x="4110101" y="0"/>
                    <a:pt x="4178300" y="68199"/>
                    <a:pt x="4178300" y="152400"/>
                  </a:cubicBezTo>
                  <a:lnTo>
                    <a:pt x="4178300" y="1263650"/>
                  </a:lnTo>
                  <a:cubicBezTo>
                    <a:pt x="4178300" y="1347851"/>
                    <a:pt x="4110101" y="1416050"/>
                    <a:pt x="4025900" y="1416050"/>
                  </a:cubicBezTo>
                  <a:lnTo>
                    <a:pt x="152400" y="1416050"/>
                  </a:lnTo>
                  <a:cubicBezTo>
                    <a:pt x="68199" y="1416050"/>
                    <a:pt x="0" y="1347851"/>
                    <a:pt x="0" y="1263650"/>
                  </a:cubicBezTo>
                  <a:lnTo>
                    <a:pt x="0" y="152400"/>
                  </a:lnTo>
                  <a:cubicBezTo>
                    <a:pt x="0" y="68199"/>
                    <a:pt x="68199" y="0"/>
                    <a:pt x="152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E2E8F0"/>
              </a:solidFill>
              <a:prstDash val="solid"/>
              <a:miter/>
            </a:ln>
          </p:spPr>
        </p:sp>
      </p:grpSp>
      <p:sp>
        <p:nvSpPr>
          <p:cNvPr name="TextBox 72" id="72"/>
          <p:cNvSpPr txBox="true"/>
          <p:nvPr/>
        </p:nvSpPr>
        <p:spPr>
          <a:xfrm rot="0">
            <a:off x="733425" y="6973633"/>
            <a:ext cx="2809875" cy="2143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62"/>
              </a:lnSpc>
            </a:pPr>
            <a:r>
              <a:rPr lang="en-US" b="true" sz="975" spc="-9">
                <a:solidFill>
                  <a:srgbClr val="003D7A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Data feasibility</a:t>
            </a:r>
          </a:p>
        </p:txBody>
      </p:sp>
      <p:sp>
        <p:nvSpPr>
          <p:cNvPr name="TextBox 73" id="73"/>
          <p:cNvSpPr txBox="true"/>
          <p:nvPr/>
        </p:nvSpPr>
        <p:spPr>
          <a:xfrm rot="0">
            <a:off x="733425" y="7197471"/>
            <a:ext cx="2809875" cy="561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0"/>
              </a:lnSpc>
            </a:pPr>
            <a:r>
              <a:rPr lang="en-US" sz="900">
                <a:solidFill>
                  <a:srgbClr val="3F5168"/>
                </a:solidFill>
                <a:latin typeface="Helvetica"/>
                <a:ea typeface="Helvetica"/>
                <a:cs typeface="Helvetica"/>
                <a:sym typeface="Helvetica"/>
              </a:rPr>
              <a:t>Trained on 23,405 openly licensed, peer-reviewed images; the pipeline can ingest new regional data as partner hospitals contribute.</a:t>
            </a:r>
          </a:p>
        </p:txBody>
      </p:sp>
      <p:grpSp>
        <p:nvGrpSpPr>
          <p:cNvPr name="Group 74" id="74"/>
          <p:cNvGrpSpPr/>
          <p:nvPr/>
        </p:nvGrpSpPr>
        <p:grpSpPr>
          <a:xfrm rot="0">
            <a:off x="3857625" y="6849808"/>
            <a:ext cx="3133725" cy="1062038"/>
            <a:chOff x="0" y="0"/>
            <a:chExt cx="4178300" cy="1416050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4178300" cy="1416050"/>
            </a:xfrm>
            <a:custGeom>
              <a:avLst/>
              <a:gdLst/>
              <a:ahLst/>
              <a:cxnLst/>
              <a:rect r="r" b="b" t="t" l="l"/>
              <a:pathLst>
                <a:path h="1416050" w="4178300">
                  <a:moveTo>
                    <a:pt x="152400" y="0"/>
                  </a:moveTo>
                  <a:lnTo>
                    <a:pt x="4025900" y="0"/>
                  </a:lnTo>
                  <a:cubicBezTo>
                    <a:pt x="4110101" y="0"/>
                    <a:pt x="4178300" y="68199"/>
                    <a:pt x="4178300" y="152400"/>
                  </a:cubicBezTo>
                  <a:lnTo>
                    <a:pt x="4178300" y="1263650"/>
                  </a:lnTo>
                  <a:cubicBezTo>
                    <a:pt x="4178300" y="1347851"/>
                    <a:pt x="4110101" y="1416050"/>
                    <a:pt x="4025900" y="1416050"/>
                  </a:cubicBezTo>
                  <a:lnTo>
                    <a:pt x="152400" y="1416050"/>
                  </a:lnTo>
                  <a:cubicBezTo>
                    <a:pt x="68199" y="1416050"/>
                    <a:pt x="0" y="1347851"/>
                    <a:pt x="0" y="1263650"/>
                  </a:cubicBezTo>
                  <a:lnTo>
                    <a:pt x="0" y="152400"/>
                  </a:lnTo>
                  <a:cubicBezTo>
                    <a:pt x="0" y="68199"/>
                    <a:pt x="68199" y="0"/>
                    <a:pt x="152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4178300" cy="1416050"/>
            </a:xfrm>
            <a:custGeom>
              <a:avLst/>
              <a:gdLst/>
              <a:ahLst/>
              <a:cxnLst/>
              <a:rect r="r" b="b" t="t" l="l"/>
              <a:pathLst>
                <a:path h="1416050" w="4178300">
                  <a:moveTo>
                    <a:pt x="152400" y="0"/>
                  </a:moveTo>
                  <a:lnTo>
                    <a:pt x="4025900" y="0"/>
                  </a:lnTo>
                  <a:cubicBezTo>
                    <a:pt x="4110101" y="0"/>
                    <a:pt x="4178300" y="68199"/>
                    <a:pt x="4178300" y="152400"/>
                  </a:cubicBezTo>
                  <a:lnTo>
                    <a:pt x="4178300" y="1263650"/>
                  </a:lnTo>
                  <a:cubicBezTo>
                    <a:pt x="4178300" y="1347851"/>
                    <a:pt x="4110101" y="1416050"/>
                    <a:pt x="4025900" y="1416050"/>
                  </a:cubicBezTo>
                  <a:lnTo>
                    <a:pt x="152400" y="1416050"/>
                  </a:lnTo>
                  <a:cubicBezTo>
                    <a:pt x="68199" y="1416050"/>
                    <a:pt x="0" y="1347851"/>
                    <a:pt x="0" y="1263650"/>
                  </a:cubicBezTo>
                  <a:lnTo>
                    <a:pt x="0" y="152400"/>
                  </a:lnTo>
                  <a:cubicBezTo>
                    <a:pt x="0" y="68199"/>
                    <a:pt x="68199" y="0"/>
                    <a:pt x="152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E2E8F0"/>
              </a:solidFill>
              <a:prstDash val="solid"/>
              <a:miter/>
            </a:ln>
          </p:spPr>
        </p:sp>
      </p:grpSp>
      <p:sp>
        <p:nvSpPr>
          <p:cNvPr name="TextBox 77" id="77"/>
          <p:cNvSpPr txBox="true"/>
          <p:nvPr/>
        </p:nvSpPr>
        <p:spPr>
          <a:xfrm rot="0">
            <a:off x="4019550" y="6973633"/>
            <a:ext cx="2809875" cy="2143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62"/>
              </a:lnSpc>
            </a:pPr>
            <a:r>
              <a:rPr lang="en-US" b="true" sz="975" spc="-9">
                <a:solidFill>
                  <a:srgbClr val="003D7A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Economic feasibility</a:t>
            </a:r>
          </a:p>
        </p:txBody>
      </p:sp>
      <p:sp>
        <p:nvSpPr>
          <p:cNvPr name="TextBox 78" id="78"/>
          <p:cNvSpPr txBox="true"/>
          <p:nvPr/>
        </p:nvSpPr>
        <p:spPr>
          <a:xfrm rot="0">
            <a:off x="4019550" y="7197471"/>
            <a:ext cx="2809875" cy="561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0"/>
              </a:lnSpc>
            </a:pPr>
            <a:r>
              <a:rPr lang="en-US" sz="900">
                <a:solidFill>
                  <a:srgbClr val="3F5168"/>
                </a:solidFill>
                <a:latin typeface="Helvetica"/>
                <a:ea typeface="Helvetica"/>
                <a:cs typeface="Helvetica"/>
                <a:sym typeface="Helvetica"/>
              </a:rPr>
              <a:t>Zero per-query licensing; runs on free-tier / low-cost infrastructure, making per-scan cost negligible versus enterprise tools.</a:t>
            </a:r>
          </a:p>
        </p:txBody>
      </p:sp>
      <p:sp>
        <p:nvSpPr>
          <p:cNvPr name="AutoShape 79" id="79"/>
          <p:cNvSpPr/>
          <p:nvPr/>
        </p:nvSpPr>
        <p:spPr>
          <a:xfrm rot="0">
            <a:off x="571500" y="10213181"/>
            <a:ext cx="6419850" cy="9525"/>
          </a:xfrm>
          <a:prstGeom prst="rect">
            <a:avLst/>
          </a:prstGeom>
          <a:solidFill>
            <a:srgbClr val="E2E8F0"/>
          </a:solidFill>
        </p:spPr>
      </p:sp>
      <p:sp>
        <p:nvSpPr>
          <p:cNvPr name="TextBox 80" id="80"/>
          <p:cNvSpPr txBox="true"/>
          <p:nvPr/>
        </p:nvSpPr>
        <p:spPr>
          <a:xfrm rot="0">
            <a:off x="571500" y="10260806"/>
            <a:ext cx="1684115" cy="1881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81"/>
              </a:lnSpc>
            </a:pPr>
            <a:r>
              <a:rPr lang="en-US" sz="787">
                <a:solidFill>
                  <a:srgbClr val="6B7A90"/>
                </a:solidFill>
                <a:latin typeface="Helvetica"/>
                <a:ea typeface="Helvetica"/>
                <a:cs typeface="Helvetica"/>
                <a:sym typeface="Helvetica"/>
              </a:rPr>
              <a:t>Team GMora · University of Moratuwa</a:t>
            </a:r>
          </a:p>
        </p:txBody>
      </p:sp>
      <p:sp>
        <p:nvSpPr>
          <p:cNvPr name="TextBox 81" id="81"/>
          <p:cNvSpPr txBox="true"/>
          <p:nvPr/>
        </p:nvSpPr>
        <p:spPr>
          <a:xfrm rot="0">
            <a:off x="5223415" y="10260806"/>
            <a:ext cx="1767935" cy="1881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81"/>
              </a:lnSpc>
            </a:pPr>
            <a:r>
              <a:rPr lang="en-US" sz="787">
                <a:solidFill>
                  <a:srgbClr val="6B7A90"/>
                </a:solidFill>
                <a:latin typeface="Helvetica"/>
                <a:ea typeface="Helvetica"/>
                <a:cs typeface="Helvetica"/>
                <a:sym typeface="Helvetica"/>
              </a:rPr>
              <a:t>Sections 4–5 · Background &amp; Feasibility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0"/>
            <a:ext cx="7562850" cy="10696575"/>
          </a:xfrm>
          <a:prstGeom prst="rect">
            <a:avLst/>
          </a:prstGeom>
          <a:solidFill>
            <a:srgbClr val="FFFFFF"/>
          </a:solidFill>
        </p:spPr>
      </p:sp>
      <p:sp>
        <p:nvSpPr>
          <p:cNvPr name="AutoShape 3" id="3"/>
          <p:cNvSpPr/>
          <p:nvPr/>
        </p:nvSpPr>
        <p:spPr>
          <a:xfrm rot="0">
            <a:off x="571500" y="795338"/>
            <a:ext cx="6419850" cy="19050"/>
          </a:xfrm>
          <a:prstGeom prst="rect">
            <a:avLst/>
          </a:prstGeom>
          <a:solidFill>
            <a:srgbClr val="0066CC"/>
          </a:solidFill>
        </p:spPr>
      </p:sp>
      <p:sp>
        <p:nvSpPr>
          <p:cNvPr name="TextBox 4" id="4"/>
          <p:cNvSpPr txBox="true"/>
          <p:nvPr/>
        </p:nvSpPr>
        <p:spPr>
          <a:xfrm rot="0">
            <a:off x="571500" y="504825"/>
            <a:ext cx="970407" cy="2143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62"/>
              </a:lnSpc>
            </a:pPr>
            <a:r>
              <a:rPr lang="en-US" b="true" sz="975" spc="19">
                <a:solidFill>
                  <a:srgbClr val="0066CC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PneumoScan AI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490561" y="500063"/>
            <a:ext cx="2500789" cy="2047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37"/>
              </a:lnSpc>
            </a:pPr>
            <a:r>
              <a:rPr lang="en-US" sz="825" spc="66">
                <a:solidFill>
                  <a:srgbClr val="6B7A90"/>
                </a:solidFill>
                <a:latin typeface="Helvetica"/>
                <a:ea typeface="Helvetica"/>
                <a:cs typeface="Helvetica"/>
                <a:sym typeface="Helvetica"/>
              </a:rPr>
              <a:t>SECTIONS 6–7 · REGULATORY &amp; SECURITY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71500" y="995363"/>
            <a:ext cx="6419850" cy="2047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37"/>
              </a:lnSpc>
            </a:pPr>
            <a:r>
              <a:rPr lang="en-US" b="true" sz="825" spc="115">
                <a:solidFill>
                  <a:srgbClr val="0066CC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SECTION 6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71500" y="1190625"/>
            <a:ext cx="6419850" cy="3952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87"/>
              </a:lnSpc>
            </a:pPr>
            <a:r>
              <a:rPr lang="en-US" b="true" sz="1725" spc="-17">
                <a:solidFill>
                  <a:srgbClr val="0066CC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6.</a:t>
            </a:r>
            <a:r>
              <a:rPr lang="en-US" b="true" sz="1725" spc="-17">
                <a:solidFill>
                  <a:srgbClr val="0A1A2F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 Regulatory aspects &amp; intellectual property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71500" y="1576387"/>
            <a:ext cx="6419850" cy="5918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28"/>
              </a:lnSpc>
            </a:pPr>
            <a:r>
              <a:rPr lang="en-US" sz="952">
                <a:solidFill>
                  <a:srgbClr val="3F5168"/>
                </a:solidFill>
                <a:latin typeface="Helvetica"/>
                <a:ea typeface="Helvetica"/>
                <a:cs typeface="Helvetica"/>
                <a:sym typeface="Helvetica"/>
              </a:rPr>
              <a:t>As a healthcare tool, PneumoScan AI is positioned as </a:t>
            </a:r>
            <a:r>
              <a:rPr lang="en-US" b="true" sz="952">
                <a:solidFill>
                  <a:srgbClr val="0A1A2F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Software as a Medical Device (SaMD)</a:t>
            </a:r>
            <a:r>
              <a:rPr lang="en-US" sz="952">
                <a:solidFill>
                  <a:srgbClr val="3F5168"/>
                </a:solidFill>
                <a:latin typeface="Helvetica"/>
                <a:ea typeface="Helvetica"/>
                <a:cs typeface="Helvetica"/>
                <a:sym typeface="Helvetica"/>
              </a:rPr>
              <a:t> and framed explicitly as a </a:t>
            </a:r>
            <a:r>
              <a:rPr lang="en-US" b="true" sz="952">
                <a:solidFill>
                  <a:srgbClr val="0A1A2F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screening decision-support aid, not a diagnostic device</a:t>
            </a:r>
            <a:r>
              <a:rPr lang="en-US" sz="952">
                <a:solidFill>
                  <a:srgbClr val="3F5168"/>
                </a:solidFill>
                <a:latin typeface="Helvetica"/>
                <a:ea typeface="Helvetica"/>
                <a:cs typeface="Helvetica"/>
                <a:sym typeface="Helvetica"/>
              </a:rPr>
              <a:t> — keeping a clinician in the loop and lowering the regulatory risk class.</a:t>
            </a:r>
          </a:p>
        </p:txBody>
      </p:sp>
      <p:sp>
        <p:nvSpPr>
          <p:cNvPr name="AutoShape 9" id="9"/>
          <p:cNvSpPr/>
          <p:nvPr/>
        </p:nvSpPr>
        <p:spPr>
          <a:xfrm rot="0">
            <a:off x="571500" y="2263521"/>
            <a:ext cx="1164622" cy="381000"/>
          </a:xfrm>
          <a:prstGeom prst="rect">
            <a:avLst/>
          </a:prstGeom>
          <a:solidFill>
            <a:srgbClr val="0066CC"/>
          </a:solidFill>
        </p:spPr>
      </p:sp>
      <p:sp>
        <p:nvSpPr>
          <p:cNvPr name="TextBox 10" id="10"/>
          <p:cNvSpPr txBox="true"/>
          <p:nvPr/>
        </p:nvSpPr>
        <p:spPr>
          <a:xfrm rot="0">
            <a:off x="571500" y="2225421"/>
            <a:ext cx="1164622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07"/>
              </a:lnSpc>
            </a:pPr>
            <a:r>
              <a:rPr lang="en-US" b="true" sz="862">
                <a:solidFill>
                  <a:srgbClr val="FFFFFF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Jurisdiction / framework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736122" y="2263521"/>
            <a:ext cx="5255228" cy="381000"/>
            <a:chOff x="0" y="0"/>
            <a:chExt cx="7006971" cy="508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006971" cy="508000"/>
            </a:xfrm>
            <a:custGeom>
              <a:avLst/>
              <a:gdLst/>
              <a:ahLst/>
              <a:cxnLst/>
              <a:rect r="r" b="b" t="t" l="l"/>
              <a:pathLst>
                <a:path h="508000" w="7006971">
                  <a:moveTo>
                    <a:pt x="0" y="0"/>
                  </a:moveTo>
                  <a:lnTo>
                    <a:pt x="7006971" y="0"/>
                  </a:lnTo>
                  <a:lnTo>
                    <a:pt x="7006971" y="508000"/>
                  </a:lnTo>
                  <a:lnTo>
                    <a:pt x="0" y="50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66CC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7006971" cy="546100"/>
            </a:xfrm>
            <a:prstGeom prst="rect">
              <a:avLst/>
            </a:prstGeom>
          </p:spPr>
          <p:txBody>
            <a:bodyPr anchor="ctr" rtlCol="false" tIns="177800" lIns="177800" bIns="177800" rIns="177800"/>
            <a:lstStyle/>
            <a:p>
              <a:pPr algn="l">
                <a:lnSpc>
                  <a:spcPts val="1207"/>
                </a:lnSpc>
              </a:pPr>
              <a:r>
                <a:rPr lang="en-US" b="true" sz="862">
                  <a:solidFill>
                    <a:srgbClr val="FFFFFF"/>
                  </a:solidFill>
                  <a:latin typeface="Helvetica Bold"/>
                  <a:ea typeface="Helvetica Bold"/>
                  <a:cs typeface="Helvetica Bold"/>
                  <a:sym typeface="Helvetica Bold"/>
                </a:rPr>
                <a:t>Applicability &amp; our plan</a:t>
              </a:r>
            </a:p>
          </p:txBody>
        </p:sp>
      </p:grpSp>
      <p:sp>
        <p:nvSpPr>
          <p:cNvPr name="AutoShape 14" id="14"/>
          <p:cNvSpPr/>
          <p:nvPr/>
        </p:nvSpPr>
        <p:spPr>
          <a:xfrm rot="0">
            <a:off x="571500" y="2644521"/>
            <a:ext cx="1164622" cy="423862"/>
          </a:xfrm>
          <a:prstGeom prst="rect">
            <a:avLst/>
          </a:prstGeom>
          <a:solidFill>
            <a:srgbClr val="F7FAFD"/>
          </a:solidFill>
        </p:spPr>
      </p:sp>
      <p:sp>
        <p:nvSpPr>
          <p:cNvPr name="AutoShape 15" id="15"/>
          <p:cNvSpPr/>
          <p:nvPr/>
        </p:nvSpPr>
        <p:spPr>
          <a:xfrm rot="0">
            <a:off x="571500" y="3058858"/>
            <a:ext cx="1164622" cy="9525"/>
          </a:xfrm>
          <a:prstGeom prst="rect">
            <a:avLst/>
          </a:prstGeom>
          <a:solidFill>
            <a:srgbClr val="E2E8F0"/>
          </a:solidFill>
        </p:spPr>
      </p:sp>
      <p:sp>
        <p:nvSpPr>
          <p:cNvPr name="TextBox 16" id="16"/>
          <p:cNvSpPr txBox="true"/>
          <p:nvPr/>
        </p:nvSpPr>
        <p:spPr>
          <a:xfrm rot="0">
            <a:off x="571500" y="2606421"/>
            <a:ext cx="1164622" cy="461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b="true" sz="900">
                <a:solidFill>
                  <a:srgbClr val="0A1A2F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NMRA (Sri Lanka)</a:t>
            </a:r>
          </a:p>
        </p:txBody>
      </p:sp>
      <p:sp>
        <p:nvSpPr>
          <p:cNvPr name="AutoShape 17" id="17"/>
          <p:cNvSpPr/>
          <p:nvPr/>
        </p:nvSpPr>
        <p:spPr>
          <a:xfrm rot="0">
            <a:off x="1736122" y="2644521"/>
            <a:ext cx="5255228" cy="423862"/>
          </a:xfrm>
          <a:prstGeom prst="rect">
            <a:avLst/>
          </a:prstGeom>
          <a:solidFill>
            <a:srgbClr val="F7FAFD"/>
          </a:solidFill>
        </p:spPr>
      </p:sp>
      <p:sp>
        <p:nvSpPr>
          <p:cNvPr name="AutoShape 18" id="18"/>
          <p:cNvSpPr/>
          <p:nvPr/>
        </p:nvSpPr>
        <p:spPr>
          <a:xfrm rot="0">
            <a:off x="1736122" y="3058858"/>
            <a:ext cx="5255228" cy="9525"/>
          </a:xfrm>
          <a:prstGeom prst="rect">
            <a:avLst/>
          </a:prstGeom>
          <a:solidFill>
            <a:srgbClr val="E2E8F0"/>
          </a:solidFill>
        </p:spPr>
      </p:sp>
      <p:sp>
        <p:nvSpPr>
          <p:cNvPr name="TextBox 19" id="19"/>
          <p:cNvSpPr txBox="true"/>
          <p:nvPr/>
        </p:nvSpPr>
        <p:spPr>
          <a:xfrm rot="0">
            <a:off x="1736122" y="2606421"/>
            <a:ext cx="5255228" cy="461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sz="900">
                <a:solidFill>
                  <a:srgbClr val="3F5168"/>
                </a:solidFill>
                <a:latin typeface="Helvetica"/>
                <a:ea typeface="Helvetica"/>
                <a:cs typeface="Helvetica"/>
                <a:sym typeface="Helvetica"/>
              </a:rPr>
              <a:t>Primary regulator. We target registration as a low–moderate risk SaMD, with a documented clinical-validation study on local X-rays before any clinical deployment.</a:t>
            </a:r>
          </a:p>
        </p:txBody>
      </p:sp>
      <p:sp>
        <p:nvSpPr>
          <p:cNvPr name="AutoShape 20" id="20"/>
          <p:cNvSpPr/>
          <p:nvPr/>
        </p:nvSpPr>
        <p:spPr>
          <a:xfrm rot="0">
            <a:off x="571500" y="3487484"/>
            <a:ext cx="1164622" cy="9525"/>
          </a:xfrm>
          <a:prstGeom prst="rect">
            <a:avLst/>
          </a:prstGeom>
          <a:solidFill>
            <a:srgbClr val="E2E8F0"/>
          </a:solidFill>
        </p:spPr>
      </p:sp>
      <p:sp>
        <p:nvSpPr>
          <p:cNvPr name="TextBox 21" id="21"/>
          <p:cNvSpPr txBox="true"/>
          <p:nvPr/>
        </p:nvSpPr>
        <p:spPr>
          <a:xfrm rot="0">
            <a:off x="571500" y="3030284"/>
            <a:ext cx="1164622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b="true" sz="900">
                <a:solidFill>
                  <a:srgbClr val="0A1A2F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US FDA</a:t>
            </a:r>
          </a:p>
        </p:txBody>
      </p:sp>
      <p:sp>
        <p:nvSpPr>
          <p:cNvPr name="AutoShape 22" id="22"/>
          <p:cNvSpPr/>
          <p:nvPr/>
        </p:nvSpPr>
        <p:spPr>
          <a:xfrm rot="0">
            <a:off x="1736122" y="3487484"/>
            <a:ext cx="5255228" cy="9525"/>
          </a:xfrm>
          <a:prstGeom prst="rect">
            <a:avLst/>
          </a:prstGeom>
          <a:solidFill>
            <a:srgbClr val="E2E8F0"/>
          </a:solidFill>
        </p:spPr>
      </p:sp>
      <p:sp>
        <p:nvSpPr>
          <p:cNvPr name="TextBox 23" id="23"/>
          <p:cNvSpPr txBox="true"/>
          <p:nvPr/>
        </p:nvSpPr>
        <p:spPr>
          <a:xfrm rot="0">
            <a:off x="1736122" y="3030284"/>
            <a:ext cx="5255228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sz="900">
                <a:solidFill>
                  <a:srgbClr val="3F5168"/>
                </a:solidFill>
                <a:latin typeface="Helvetica"/>
                <a:ea typeface="Helvetica"/>
                <a:cs typeface="Helvetica"/>
                <a:sym typeface="Helvetica"/>
              </a:rPr>
              <a:t>Reference framework: an equivalent product would pursue a 510(k) pathway as Class II. We follow FDA "Good Machine Learning Practice" and SaMD guidance for design controls.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571500" y="3497008"/>
            <a:ext cx="1164622" cy="428625"/>
            <a:chOff x="0" y="0"/>
            <a:chExt cx="1552829" cy="5715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552829" cy="571500"/>
            </a:xfrm>
            <a:custGeom>
              <a:avLst/>
              <a:gdLst/>
              <a:ahLst/>
              <a:cxnLst/>
              <a:rect r="r" b="b" t="t" l="l"/>
              <a:pathLst>
                <a:path h="571500" w="1552829">
                  <a:moveTo>
                    <a:pt x="0" y="0"/>
                  </a:moveTo>
                  <a:lnTo>
                    <a:pt x="1552829" y="0"/>
                  </a:lnTo>
                  <a:lnTo>
                    <a:pt x="1552829" y="571500"/>
                  </a:lnTo>
                  <a:lnTo>
                    <a:pt x="0" y="5715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7FAFD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1552829" cy="609600"/>
            </a:xfrm>
            <a:prstGeom prst="rect">
              <a:avLst/>
            </a:prstGeom>
          </p:spPr>
          <p:txBody>
            <a:bodyPr anchor="t" rtlCol="false" tIns="107950" lIns="107950" bIns="107950" rIns="107950"/>
            <a:lstStyle/>
            <a:p>
              <a:pPr algn="l">
                <a:lnSpc>
                  <a:spcPts val="1260"/>
                </a:lnSpc>
              </a:pPr>
              <a:r>
                <a:rPr lang="en-US" b="true" sz="900">
                  <a:solidFill>
                    <a:srgbClr val="0A1A2F"/>
                  </a:solidFill>
                  <a:latin typeface="Helvetica Bold"/>
                  <a:ea typeface="Helvetica Bold"/>
                  <a:cs typeface="Helvetica Bold"/>
                  <a:sym typeface="Helvetica Bold"/>
                </a:rPr>
                <a:t>Standards</a:t>
              </a:r>
            </a:p>
          </p:txBody>
        </p:sp>
      </p:grpSp>
      <p:sp>
        <p:nvSpPr>
          <p:cNvPr name="AutoShape 27" id="27"/>
          <p:cNvSpPr/>
          <p:nvPr/>
        </p:nvSpPr>
        <p:spPr>
          <a:xfrm rot="0">
            <a:off x="571500" y="3916108"/>
            <a:ext cx="1164622" cy="9525"/>
          </a:xfrm>
          <a:prstGeom prst="rect">
            <a:avLst/>
          </a:prstGeom>
          <a:solidFill>
            <a:srgbClr val="E2E8F0"/>
          </a:solidFill>
        </p:spPr>
      </p:sp>
      <p:sp>
        <p:nvSpPr>
          <p:cNvPr name="AutoShape 28" id="28"/>
          <p:cNvSpPr/>
          <p:nvPr/>
        </p:nvSpPr>
        <p:spPr>
          <a:xfrm rot="0">
            <a:off x="1736122" y="3497008"/>
            <a:ext cx="5255228" cy="428625"/>
          </a:xfrm>
          <a:prstGeom prst="rect">
            <a:avLst/>
          </a:prstGeom>
          <a:solidFill>
            <a:srgbClr val="F7FAFD"/>
          </a:solidFill>
        </p:spPr>
      </p:sp>
      <p:sp>
        <p:nvSpPr>
          <p:cNvPr name="AutoShape 29" id="29"/>
          <p:cNvSpPr/>
          <p:nvPr/>
        </p:nvSpPr>
        <p:spPr>
          <a:xfrm rot="0">
            <a:off x="1736122" y="3916108"/>
            <a:ext cx="5255228" cy="9525"/>
          </a:xfrm>
          <a:prstGeom prst="rect">
            <a:avLst/>
          </a:prstGeom>
          <a:solidFill>
            <a:srgbClr val="E2E8F0"/>
          </a:solidFill>
        </p:spPr>
      </p:sp>
      <p:sp>
        <p:nvSpPr>
          <p:cNvPr name="TextBox 30" id="30"/>
          <p:cNvSpPr txBox="true"/>
          <p:nvPr/>
        </p:nvSpPr>
        <p:spPr>
          <a:xfrm rot="0">
            <a:off x="1736122" y="3458908"/>
            <a:ext cx="5255228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sz="900">
                <a:solidFill>
                  <a:srgbClr val="3F5168"/>
                </a:solidFill>
                <a:latin typeface="Helvetica"/>
                <a:ea typeface="Helvetica"/>
                <a:cs typeface="Helvetica"/>
                <a:sym typeface="Helvetica"/>
              </a:rPr>
              <a:t>Aligning with IEC 62304 (medical device software lifecycle) and ISO 14971 (risk management) as the engineering discipline for a future submission.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571500" y="4016121"/>
            <a:ext cx="6419850" cy="2262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6"/>
              </a:lnSpc>
            </a:pPr>
            <a:r>
              <a:rPr lang="en-US" b="true" sz="937" spc="46">
                <a:solidFill>
                  <a:srgbClr val="3F5168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INTELLECTUAL PROPERTY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571500" y="4251865"/>
            <a:ext cx="6419850" cy="1214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71450" indent="-85725" lvl="1">
              <a:lnSpc>
                <a:spcPts val="1406"/>
              </a:lnSpc>
              <a:buFont typeface="Arial"/>
              <a:buChar char="•"/>
            </a:pPr>
            <a:r>
              <a:rPr lang="en-US" sz="937">
                <a:solidFill>
                  <a:srgbClr val="3F5168"/>
                </a:solidFill>
                <a:latin typeface="Helvetica"/>
                <a:ea typeface="Helvetica"/>
                <a:cs typeface="Helvetica"/>
                <a:sym typeface="Helvetica"/>
              </a:rPr>
              <a:t>The </a:t>
            </a:r>
            <a:r>
              <a:rPr lang="en-US" b="true" sz="937">
                <a:solidFill>
                  <a:srgbClr val="0A1A2F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trained model, phone-photo augmentation pipeline, fail-safe threshold logic, and the patient/clinician application</a:t>
            </a:r>
            <a:r>
              <a:rPr lang="en-US" sz="937">
                <a:solidFill>
                  <a:srgbClr val="3F5168"/>
                </a:solidFill>
                <a:latin typeface="Helvetica"/>
                <a:ea typeface="Helvetica"/>
                <a:cs typeface="Helvetica"/>
                <a:sym typeface="Helvetica"/>
              </a:rPr>
              <a:t> are our original contributions.</a:t>
            </a:r>
          </a:p>
          <a:p>
            <a:pPr algn="l" marL="171450" indent="-85725" lvl="1">
              <a:lnSpc>
                <a:spcPts val="1406"/>
              </a:lnSpc>
              <a:buFont typeface="Arial"/>
              <a:buChar char="•"/>
            </a:pPr>
            <a:r>
              <a:rPr lang="en-US" sz="937">
                <a:solidFill>
                  <a:srgbClr val="3F5168"/>
                </a:solidFill>
                <a:latin typeface="Helvetica"/>
                <a:ea typeface="Helvetica"/>
                <a:cs typeface="Helvetica"/>
                <a:sym typeface="Helvetica"/>
              </a:rPr>
              <a:t>All third-party components (ResNet-50 weights, datasets, libraries) are used under permissive open-source / open-access licences, documented for compliance.</a:t>
            </a:r>
          </a:p>
          <a:p>
            <a:pPr algn="l" marL="171450" indent="-85725" lvl="1">
              <a:lnSpc>
                <a:spcPts val="1406"/>
              </a:lnSpc>
              <a:buFont typeface="Arial"/>
              <a:buChar char="•"/>
            </a:pPr>
            <a:r>
              <a:rPr lang="en-US" sz="937">
                <a:solidFill>
                  <a:srgbClr val="3F5168"/>
                </a:solidFill>
                <a:latin typeface="Helvetica"/>
                <a:ea typeface="Helvetica"/>
                <a:cs typeface="Helvetica"/>
                <a:sym typeface="Helvetica"/>
              </a:rPr>
              <a:t>Strategy: retain proprietary rights over the application and locally-trained weights while keeping the core screening accessible to public hospitals (see sustainability model).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571500" y="5532977"/>
            <a:ext cx="6419850" cy="2047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37"/>
              </a:lnSpc>
            </a:pPr>
            <a:r>
              <a:rPr lang="en-US" b="true" sz="825" spc="115">
                <a:solidFill>
                  <a:srgbClr val="0066CC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SECTION 7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571500" y="5728240"/>
            <a:ext cx="6419850" cy="3952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87"/>
              </a:lnSpc>
            </a:pPr>
            <a:r>
              <a:rPr lang="en-US" b="true" sz="1725" spc="-17">
                <a:solidFill>
                  <a:srgbClr val="0066CC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7.</a:t>
            </a:r>
            <a:r>
              <a:rPr lang="en-US" b="true" sz="1725" spc="-17">
                <a:solidFill>
                  <a:srgbClr val="0A1A2F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 Data security &amp; privacy policy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571500" y="6161627"/>
            <a:ext cx="3133725" cy="1062038"/>
            <a:chOff x="0" y="0"/>
            <a:chExt cx="4178300" cy="141605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4178300" cy="1416050"/>
            </a:xfrm>
            <a:custGeom>
              <a:avLst/>
              <a:gdLst/>
              <a:ahLst/>
              <a:cxnLst/>
              <a:rect r="r" b="b" t="t" l="l"/>
              <a:pathLst>
                <a:path h="1416050" w="4178300">
                  <a:moveTo>
                    <a:pt x="152400" y="0"/>
                  </a:moveTo>
                  <a:lnTo>
                    <a:pt x="4025900" y="0"/>
                  </a:lnTo>
                  <a:cubicBezTo>
                    <a:pt x="4110101" y="0"/>
                    <a:pt x="4178300" y="68199"/>
                    <a:pt x="4178300" y="152400"/>
                  </a:cubicBezTo>
                  <a:lnTo>
                    <a:pt x="4178300" y="1263650"/>
                  </a:lnTo>
                  <a:cubicBezTo>
                    <a:pt x="4178300" y="1347851"/>
                    <a:pt x="4110101" y="1416050"/>
                    <a:pt x="4025900" y="1416050"/>
                  </a:cubicBezTo>
                  <a:lnTo>
                    <a:pt x="152400" y="1416050"/>
                  </a:lnTo>
                  <a:cubicBezTo>
                    <a:pt x="68199" y="1416050"/>
                    <a:pt x="0" y="1347851"/>
                    <a:pt x="0" y="1263650"/>
                  </a:cubicBezTo>
                  <a:lnTo>
                    <a:pt x="0" y="152400"/>
                  </a:lnTo>
                  <a:cubicBezTo>
                    <a:pt x="0" y="68199"/>
                    <a:pt x="68199" y="0"/>
                    <a:pt x="152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4178300" cy="1416050"/>
            </a:xfrm>
            <a:custGeom>
              <a:avLst/>
              <a:gdLst/>
              <a:ahLst/>
              <a:cxnLst/>
              <a:rect r="r" b="b" t="t" l="l"/>
              <a:pathLst>
                <a:path h="1416050" w="4178300">
                  <a:moveTo>
                    <a:pt x="152400" y="0"/>
                  </a:moveTo>
                  <a:lnTo>
                    <a:pt x="4025900" y="0"/>
                  </a:lnTo>
                  <a:cubicBezTo>
                    <a:pt x="4110101" y="0"/>
                    <a:pt x="4178300" y="68199"/>
                    <a:pt x="4178300" y="152400"/>
                  </a:cubicBezTo>
                  <a:lnTo>
                    <a:pt x="4178300" y="1263650"/>
                  </a:lnTo>
                  <a:cubicBezTo>
                    <a:pt x="4178300" y="1347851"/>
                    <a:pt x="4110101" y="1416050"/>
                    <a:pt x="4025900" y="1416050"/>
                  </a:cubicBezTo>
                  <a:lnTo>
                    <a:pt x="152400" y="1416050"/>
                  </a:lnTo>
                  <a:cubicBezTo>
                    <a:pt x="68199" y="1416050"/>
                    <a:pt x="0" y="1347851"/>
                    <a:pt x="0" y="1263650"/>
                  </a:cubicBezTo>
                  <a:lnTo>
                    <a:pt x="0" y="152400"/>
                  </a:lnTo>
                  <a:cubicBezTo>
                    <a:pt x="0" y="68199"/>
                    <a:pt x="68199" y="0"/>
                    <a:pt x="152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E2E8F0"/>
              </a:solidFill>
              <a:prstDash val="solid"/>
              <a:miter/>
            </a:ln>
          </p:spPr>
        </p:sp>
      </p:grpSp>
      <p:sp>
        <p:nvSpPr>
          <p:cNvPr name="TextBox 38" id="38"/>
          <p:cNvSpPr txBox="true"/>
          <p:nvPr/>
        </p:nvSpPr>
        <p:spPr>
          <a:xfrm rot="0">
            <a:off x="733425" y="6285452"/>
            <a:ext cx="2809875" cy="2143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62"/>
              </a:lnSpc>
            </a:pPr>
            <a:r>
              <a:rPr lang="en-US" b="true" sz="975" spc="-9">
                <a:solidFill>
                  <a:srgbClr val="003D7A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In transit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733425" y="6509290"/>
            <a:ext cx="2809875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0"/>
              </a:lnSpc>
            </a:pPr>
            <a:r>
              <a:rPr lang="en-US" sz="900">
                <a:solidFill>
                  <a:srgbClr val="3F5168"/>
                </a:solidFill>
                <a:latin typeface="Helvetica"/>
                <a:ea typeface="Helvetica"/>
                <a:cs typeface="Helvetica"/>
                <a:sym typeface="Helvetica"/>
              </a:rPr>
              <a:t>All traffic is encrypted over HTTPS (TLS). Camera access is only granted on a secure origin.</a:t>
            </a:r>
          </a:p>
        </p:txBody>
      </p:sp>
      <p:grpSp>
        <p:nvGrpSpPr>
          <p:cNvPr name="Group 40" id="40"/>
          <p:cNvGrpSpPr/>
          <p:nvPr/>
        </p:nvGrpSpPr>
        <p:grpSpPr>
          <a:xfrm rot="0">
            <a:off x="3857625" y="6161627"/>
            <a:ext cx="3133725" cy="1062038"/>
            <a:chOff x="0" y="0"/>
            <a:chExt cx="4178300" cy="141605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4178300" cy="1416050"/>
            </a:xfrm>
            <a:custGeom>
              <a:avLst/>
              <a:gdLst/>
              <a:ahLst/>
              <a:cxnLst/>
              <a:rect r="r" b="b" t="t" l="l"/>
              <a:pathLst>
                <a:path h="1416050" w="4178300">
                  <a:moveTo>
                    <a:pt x="152400" y="0"/>
                  </a:moveTo>
                  <a:lnTo>
                    <a:pt x="4025900" y="0"/>
                  </a:lnTo>
                  <a:cubicBezTo>
                    <a:pt x="4110101" y="0"/>
                    <a:pt x="4178300" y="68199"/>
                    <a:pt x="4178300" y="152400"/>
                  </a:cubicBezTo>
                  <a:lnTo>
                    <a:pt x="4178300" y="1263650"/>
                  </a:lnTo>
                  <a:cubicBezTo>
                    <a:pt x="4178300" y="1347851"/>
                    <a:pt x="4110101" y="1416050"/>
                    <a:pt x="4025900" y="1416050"/>
                  </a:cubicBezTo>
                  <a:lnTo>
                    <a:pt x="152400" y="1416050"/>
                  </a:lnTo>
                  <a:cubicBezTo>
                    <a:pt x="68199" y="1416050"/>
                    <a:pt x="0" y="1347851"/>
                    <a:pt x="0" y="1263650"/>
                  </a:cubicBezTo>
                  <a:lnTo>
                    <a:pt x="0" y="152400"/>
                  </a:lnTo>
                  <a:cubicBezTo>
                    <a:pt x="0" y="68199"/>
                    <a:pt x="68199" y="0"/>
                    <a:pt x="152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4178300" cy="1416050"/>
            </a:xfrm>
            <a:custGeom>
              <a:avLst/>
              <a:gdLst/>
              <a:ahLst/>
              <a:cxnLst/>
              <a:rect r="r" b="b" t="t" l="l"/>
              <a:pathLst>
                <a:path h="1416050" w="4178300">
                  <a:moveTo>
                    <a:pt x="152400" y="0"/>
                  </a:moveTo>
                  <a:lnTo>
                    <a:pt x="4025900" y="0"/>
                  </a:lnTo>
                  <a:cubicBezTo>
                    <a:pt x="4110101" y="0"/>
                    <a:pt x="4178300" y="68199"/>
                    <a:pt x="4178300" y="152400"/>
                  </a:cubicBezTo>
                  <a:lnTo>
                    <a:pt x="4178300" y="1263650"/>
                  </a:lnTo>
                  <a:cubicBezTo>
                    <a:pt x="4178300" y="1347851"/>
                    <a:pt x="4110101" y="1416050"/>
                    <a:pt x="4025900" y="1416050"/>
                  </a:cubicBezTo>
                  <a:lnTo>
                    <a:pt x="152400" y="1416050"/>
                  </a:lnTo>
                  <a:cubicBezTo>
                    <a:pt x="68199" y="1416050"/>
                    <a:pt x="0" y="1347851"/>
                    <a:pt x="0" y="1263650"/>
                  </a:cubicBezTo>
                  <a:lnTo>
                    <a:pt x="0" y="152400"/>
                  </a:lnTo>
                  <a:cubicBezTo>
                    <a:pt x="0" y="68199"/>
                    <a:pt x="68199" y="0"/>
                    <a:pt x="152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E2E8F0"/>
              </a:solidFill>
              <a:prstDash val="solid"/>
              <a:miter/>
            </a:ln>
          </p:spPr>
        </p:sp>
      </p:grpSp>
      <p:sp>
        <p:nvSpPr>
          <p:cNvPr name="TextBox 43" id="43"/>
          <p:cNvSpPr txBox="true"/>
          <p:nvPr/>
        </p:nvSpPr>
        <p:spPr>
          <a:xfrm rot="0">
            <a:off x="4019550" y="6285452"/>
            <a:ext cx="2809875" cy="2143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62"/>
              </a:lnSpc>
            </a:pPr>
            <a:r>
              <a:rPr lang="en-US" b="true" sz="975" spc="-9">
                <a:solidFill>
                  <a:srgbClr val="003D7A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Data minimisation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4019550" y="6509290"/>
            <a:ext cx="2809875" cy="561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0"/>
              </a:lnSpc>
            </a:pPr>
            <a:r>
              <a:rPr lang="en-US" sz="900">
                <a:solidFill>
                  <a:srgbClr val="3F5168"/>
                </a:solidFill>
                <a:latin typeface="Helvetica"/>
                <a:ea typeface="Helvetica"/>
                <a:cs typeface="Helvetica"/>
                <a:sym typeface="Helvetica"/>
              </a:rPr>
              <a:t>The current tool performs inference and returns a result without persisting patient images by default — nothing is stored unless explicitly enabled with consent.</a:t>
            </a:r>
          </a:p>
        </p:txBody>
      </p:sp>
      <p:grpSp>
        <p:nvGrpSpPr>
          <p:cNvPr name="Group 45" id="45"/>
          <p:cNvGrpSpPr/>
          <p:nvPr/>
        </p:nvGrpSpPr>
        <p:grpSpPr>
          <a:xfrm rot="0">
            <a:off x="571500" y="7376065"/>
            <a:ext cx="3133725" cy="1062038"/>
            <a:chOff x="0" y="0"/>
            <a:chExt cx="4178300" cy="141605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4178300" cy="1416050"/>
            </a:xfrm>
            <a:custGeom>
              <a:avLst/>
              <a:gdLst/>
              <a:ahLst/>
              <a:cxnLst/>
              <a:rect r="r" b="b" t="t" l="l"/>
              <a:pathLst>
                <a:path h="1416050" w="4178300">
                  <a:moveTo>
                    <a:pt x="152400" y="0"/>
                  </a:moveTo>
                  <a:lnTo>
                    <a:pt x="4025900" y="0"/>
                  </a:lnTo>
                  <a:cubicBezTo>
                    <a:pt x="4110101" y="0"/>
                    <a:pt x="4178300" y="68199"/>
                    <a:pt x="4178300" y="152400"/>
                  </a:cubicBezTo>
                  <a:lnTo>
                    <a:pt x="4178300" y="1263650"/>
                  </a:lnTo>
                  <a:cubicBezTo>
                    <a:pt x="4178300" y="1347851"/>
                    <a:pt x="4110101" y="1416050"/>
                    <a:pt x="4025900" y="1416050"/>
                  </a:cubicBezTo>
                  <a:lnTo>
                    <a:pt x="152400" y="1416050"/>
                  </a:lnTo>
                  <a:cubicBezTo>
                    <a:pt x="68199" y="1416050"/>
                    <a:pt x="0" y="1347851"/>
                    <a:pt x="0" y="1263650"/>
                  </a:cubicBezTo>
                  <a:lnTo>
                    <a:pt x="0" y="152400"/>
                  </a:lnTo>
                  <a:cubicBezTo>
                    <a:pt x="0" y="68199"/>
                    <a:pt x="68199" y="0"/>
                    <a:pt x="152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4178300" cy="1416050"/>
            </a:xfrm>
            <a:custGeom>
              <a:avLst/>
              <a:gdLst/>
              <a:ahLst/>
              <a:cxnLst/>
              <a:rect r="r" b="b" t="t" l="l"/>
              <a:pathLst>
                <a:path h="1416050" w="4178300">
                  <a:moveTo>
                    <a:pt x="152400" y="0"/>
                  </a:moveTo>
                  <a:lnTo>
                    <a:pt x="4025900" y="0"/>
                  </a:lnTo>
                  <a:cubicBezTo>
                    <a:pt x="4110101" y="0"/>
                    <a:pt x="4178300" y="68199"/>
                    <a:pt x="4178300" y="152400"/>
                  </a:cubicBezTo>
                  <a:lnTo>
                    <a:pt x="4178300" y="1263650"/>
                  </a:lnTo>
                  <a:cubicBezTo>
                    <a:pt x="4178300" y="1347851"/>
                    <a:pt x="4110101" y="1416050"/>
                    <a:pt x="4025900" y="1416050"/>
                  </a:cubicBezTo>
                  <a:lnTo>
                    <a:pt x="152400" y="1416050"/>
                  </a:lnTo>
                  <a:cubicBezTo>
                    <a:pt x="68199" y="1416050"/>
                    <a:pt x="0" y="1347851"/>
                    <a:pt x="0" y="1263650"/>
                  </a:cubicBezTo>
                  <a:lnTo>
                    <a:pt x="0" y="152400"/>
                  </a:lnTo>
                  <a:cubicBezTo>
                    <a:pt x="0" y="68199"/>
                    <a:pt x="68199" y="0"/>
                    <a:pt x="152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E2E8F0"/>
              </a:solidFill>
              <a:prstDash val="solid"/>
              <a:miter/>
            </a:ln>
          </p:spPr>
        </p:sp>
      </p:grpSp>
      <p:sp>
        <p:nvSpPr>
          <p:cNvPr name="TextBox 48" id="48"/>
          <p:cNvSpPr txBox="true"/>
          <p:nvPr/>
        </p:nvSpPr>
        <p:spPr>
          <a:xfrm rot="0">
            <a:off x="733425" y="7499890"/>
            <a:ext cx="2809875" cy="2143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62"/>
              </a:lnSpc>
            </a:pPr>
            <a:r>
              <a:rPr lang="en-US" b="true" sz="975" spc="-9">
                <a:solidFill>
                  <a:srgbClr val="003D7A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Consent &amp; retention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733425" y="7723727"/>
            <a:ext cx="2809875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0"/>
              </a:lnSpc>
            </a:pPr>
            <a:r>
              <a:rPr lang="en-US" sz="900">
                <a:solidFill>
                  <a:srgbClr val="3F5168"/>
                </a:solidFill>
                <a:latin typeface="Helvetica"/>
                <a:ea typeface="Helvetica"/>
                <a:cs typeface="Helvetica"/>
                <a:sym typeface="Helvetica"/>
              </a:rPr>
              <a:t>Planned account tier gates any storage behind explicit consent, with retention limits and one-tap deletion.</a:t>
            </a:r>
          </a:p>
        </p:txBody>
      </p:sp>
      <p:grpSp>
        <p:nvGrpSpPr>
          <p:cNvPr name="Group 50" id="50"/>
          <p:cNvGrpSpPr/>
          <p:nvPr/>
        </p:nvGrpSpPr>
        <p:grpSpPr>
          <a:xfrm rot="0">
            <a:off x="3857625" y="7376065"/>
            <a:ext cx="3133725" cy="1062038"/>
            <a:chOff x="0" y="0"/>
            <a:chExt cx="4178300" cy="141605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4178300" cy="1416050"/>
            </a:xfrm>
            <a:custGeom>
              <a:avLst/>
              <a:gdLst/>
              <a:ahLst/>
              <a:cxnLst/>
              <a:rect r="r" b="b" t="t" l="l"/>
              <a:pathLst>
                <a:path h="1416050" w="4178300">
                  <a:moveTo>
                    <a:pt x="152400" y="0"/>
                  </a:moveTo>
                  <a:lnTo>
                    <a:pt x="4025900" y="0"/>
                  </a:lnTo>
                  <a:cubicBezTo>
                    <a:pt x="4110101" y="0"/>
                    <a:pt x="4178300" y="68199"/>
                    <a:pt x="4178300" y="152400"/>
                  </a:cubicBezTo>
                  <a:lnTo>
                    <a:pt x="4178300" y="1263650"/>
                  </a:lnTo>
                  <a:cubicBezTo>
                    <a:pt x="4178300" y="1347851"/>
                    <a:pt x="4110101" y="1416050"/>
                    <a:pt x="4025900" y="1416050"/>
                  </a:cubicBezTo>
                  <a:lnTo>
                    <a:pt x="152400" y="1416050"/>
                  </a:lnTo>
                  <a:cubicBezTo>
                    <a:pt x="68199" y="1416050"/>
                    <a:pt x="0" y="1347851"/>
                    <a:pt x="0" y="1263650"/>
                  </a:cubicBezTo>
                  <a:lnTo>
                    <a:pt x="0" y="152400"/>
                  </a:lnTo>
                  <a:cubicBezTo>
                    <a:pt x="0" y="68199"/>
                    <a:pt x="68199" y="0"/>
                    <a:pt x="152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4178300" cy="1416050"/>
            </a:xfrm>
            <a:custGeom>
              <a:avLst/>
              <a:gdLst/>
              <a:ahLst/>
              <a:cxnLst/>
              <a:rect r="r" b="b" t="t" l="l"/>
              <a:pathLst>
                <a:path h="1416050" w="4178300">
                  <a:moveTo>
                    <a:pt x="152400" y="0"/>
                  </a:moveTo>
                  <a:lnTo>
                    <a:pt x="4025900" y="0"/>
                  </a:lnTo>
                  <a:cubicBezTo>
                    <a:pt x="4110101" y="0"/>
                    <a:pt x="4178300" y="68199"/>
                    <a:pt x="4178300" y="152400"/>
                  </a:cubicBezTo>
                  <a:lnTo>
                    <a:pt x="4178300" y="1263650"/>
                  </a:lnTo>
                  <a:cubicBezTo>
                    <a:pt x="4178300" y="1347851"/>
                    <a:pt x="4110101" y="1416050"/>
                    <a:pt x="4025900" y="1416050"/>
                  </a:cubicBezTo>
                  <a:lnTo>
                    <a:pt x="152400" y="1416050"/>
                  </a:lnTo>
                  <a:cubicBezTo>
                    <a:pt x="68199" y="1416050"/>
                    <a:pt x="0" y="1347851"/>
                    <a:pt x="0" y="1263650"/>
                  </a:cubicBezTo>
                  <a:lnTo>
                    <a:pt x="0" y="152400"/>
                  </a:lnTo>
                  <a:cubicBezTo>
                    <a:pt x="0" y="68199"/>
                    <a:pt x="68199" y="0"/>
                    <a:pt x="152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E2E8F0"/>
              </a:solidFill>
              <a:prstDash val="solid"/>
              <a:miter/>
            </a:ln>
          </p:spPr>
        </p:sp>
      </p:grpSp>
      <p:sp>
        <p:nvSpPr>
          <p:cNvPr name="TextBox 53" id="53"/>
          <p:cNvSpPr txBox="true"/>
          <p:nvPr/>
        </p:nvSpPr>
        <p:spPr>
          <a:xfrm rot="0">
            <a:off x="4019550" y="7499890"/>
            <a:ext cx="2809875" cy="2143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62"/>
              </a:lnSpc>
            </a:pPr>
            <a:r>
              <a:rPr lang="en-US" b="true" sz="975" spc="-9">
                <a:solidFill>
                  <a:srgbClr val="003D7A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Governance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4019550" y="7723727"/>
            <a:ext cx="2809875" cy="561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0"/>
              </a:lnSpc>
            </a:pPr>
            <a:r>
              <a:rPr lang="en-US" sz="900">
                <a:solidFill>
                  <a:srgbClr val="3F5168"/>
                </a:solidFill>
                <a:latin typeface="Helvetica"/>
                <a:ea typeface="Helvetica"/>
                <a:cs typeface="Helvetica"/>
                <a:sym typeface="Helvetica"/>
              </a:rPr>
              <a:t>An audit trail of predictions (not identities) supports quality monitoring and model-drift detection without exposing personal data.</a:t>
            </a:r>
          </a:p>
        </p:txBody>
      </p:sp>
      <p:grpSp>
        <p:nvGrpSpPr>
          <p:cNvPr name="Group 55" id="55"/>
          <p:cNvGrpSpPr/>
          <p:nvPr/>
        </p:nvGrpSpPr>
        <p:grpSpPr>
          <a:xfrm rot="0">
            <a:off x="571500" y="8533352"/>
            <a:ext cx="6419850" cy="560832"/>
            <a:chOff x="0" y="0"/>
            <a:chExt cx="8559800" cy="747776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8559800" cy="747776"/>
            </a:xfrm>
            <a:custGeom>
              <a:avLst/>
              <a:gdLst/>
              <a:ahLst/>
              <a:cxnLst/>
              <a:rect r="r" b="b" t="t" l="l"/>
              <a:pathLst>
                <a:path h="747776" w="8559800">
                  <a:moveTo>
                    <a:pt x="0" y="0"/>
                  </a:moveTo>
                  <a:lnTo>
                    <a:pt x="8458200" y="0"/>
                  </a:lnTo>
                  <a:cubicBezTo>
                    <a:pt x="8514334" y="0"/>
                    <a:pt x="8559800" y="45466"/>
                    <a:pt x="8559800" y="101600"/>
                  </a:cubicBezTo>
                  <a:lnTo>
                    <a:pt x="8559800" y="646176"/>
                  </a:lnTo>
                  <a:cubicBezTo>
                    <a:pt x="8559800" y="702310"/>
                    <a:pt x="8514334" y="747776"/>
                    <a:pt x="8458200" y="747776"/>
                  </a:cubicBezTo>
                  <a:lnTo>
                    <a:pt x="0" y="74777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EF6E7"/>
            </a:solidFill>
          </p:spPr>
        </p:sp>
      </p:grpSp>
      <p:sp>
        <p:nvSpPr>
          <p:cNvPr name="AutoShape 57" id="57"/>
          <p:cNvSpPr/>
          <p:nvPr/>
        </p:nvSpPr>
        <p:spPr>
          <a:xfrm rot="0">
            <a:off x="571500" y="8533352"/>
            <a:ext cx="38100" cy="560832"/>
          </a:xfrm>
          <a:prstGeom prst="rect">
            <a:avLst/>
          </a:prstGeom>
          <a:solidFill>
            <a:srgbClr val="B45309"/>
          </a:solidFill>
        </p:spPr>
      </p:sp>
      <p:sp>
        <p:nvSpPr>
          <p:cNvPr name="TextBox 58" id="58"/>
          <p:cNvSpPr txBox="true"/>
          <p:nvPr/>
        </p:nvSpPr>
        <p:spPr>
          <a:xfrm rot="0">
            <a:off x="571500" y="8495252"/>
            <a:ext cx="6419850" cy="5989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83"/>
              </a:lnSpc>
            </a:pPr>
            <a:r>
              <a:rPr lang="en-US" b="true" sz="922">
                <a:solidFill>
                  <a:srgbClr val="0A1A2F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Responsible-AI stance:</a:t>
            </a:r>
            <a:r>
              <a:rPr lang="en-US" sz="922">
                <a:solidFill>
                  <a:srgbClr val="7C4A06"/>
                </a:solidFill>
                <a:latin typeface="Helvetica"/>
                <a:ea typeface="Helvetica"/>
                <a:cs typeface="Helvetica"/>
                <a:sym typeface="Helvetica"/>
              </a:rPr>
              <a:t> every result is labelled a screening aid requiring clinician confirmation; the tool is scoped and its known limitations (see ethics) are stated in-app.</a:t>
            </a:r>
          </a:p>
        </p:txBody>
      </p:sp>
      <p:sp>
        <p:nvSpPr>
          <p:cNvPr name="AutoShape 59" id="59"/>
          <p:cNvSpPr/>
          <p:nvPr/>
        </p:nvSpPr>
        <p:spPr>
          <a:xfrm rot="0">
            <a:off x="571500" y="10213181"/>
            <a:ext cx="6419850" cy="9525"/>
          </a:xfrm>
          <a:prstGeom prst="rect">
            <a:avLst/>
          </a:prstGeom>
          <a:solidFill>
            <a:srgbClr val="E2E8F0"/>
          </a:solidFill>
        </p:spPr>
      </p:sp>
      <p:sp>
        <p:nvSpPr>
          <p:cNvPr name="TextBox 60" id="60"/>
          <p:cNvSpPr txBox="true"/>
          <p:nvPr/>
        </p:nvSpPr>
        <p:spPr>
          <a:xfrm rot="0">
            <a:off x="571500" y="10260806"/>
            <a:ext cx="1684115" cy="1881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81"/>
              </a:lnSpc>
            </a:pPr>
            <a:r>
              <a:rPr lang="en-US" sz="787">
                <a:solidFill>
                  <a:srgbClr val="6B7A90"/>
                </a:solidFill>
                <a:latin typeface="Helvetica"/>
                <a:ea typeface="Helvetica"/>
                <a:cs typeface="Helvetica"/>
                <a:sym typeface="Helvetica"/>
              </a:rPr>
              <a:t>Team GMora · University of Moratuwa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5356955" y="10260806"/>
            <a:ext cx="1634395" cy="1881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81"/>
              </a:lnSpc>
            </a:pPr>
            <a:r>
              <a:rPr lang="en-US" sz="787">
                <a:solidFill>
                  <a:srgbClr val="6B7A90"/>
                </a:solidFill>
                <a:latin typeface="Helvetica"/>
                <a:ea typeface="Helvetica"/>
                <a:cs typeface="Helvetica"/>
                <a:sym typeface="Helvetica"/>
              </a:rPr>
              <a:t>Sections 6–7 · Regulatory &amp; Security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0"/>
            <a:ext cx="7562850" cy="10696575"/>
          </a:xfrm>
          <a:prstGeom prst="rect">
            <a:avLst/>
          </a:prstGeom>
          <a:solidFill>
            <a:srgbClr val="FFFFFF"/>
          </a:solidFill>
        </p:spPr>
      </p:sp>
      <p:sp>
        <p:nvSpPr>
          <p:cNvPr name="AutoShape 3" id="3"/>
          <p:cNvSpPr/>
          <p:nvPr/>
        </p:nvSpPr>
        <p:spPr>
          <a:xfrm rot="0">
            <a:off x="571500" y="795338"/>
            <a:ext cx="6419850" cy="19050"/>
          </a:xfrm>
          <a:prstGeom prst="rect">
            <a:avLst/>
          </a:prstGeom>
          <a:solidFill>
            <a:srgbClr val="0066CC"/>
          </a:solidFill>
        </p:spPr>
      </p:sp>
      <p:sp>
        <p:nvSpPr>
          <p:cNvPr name="TextBox 4" id="4"/>
          <p:cNvSpPr txBox="true"/>
          <p:nvPr/>
        </p:nvSpPr>
        <p:spPr>
          <a:xfrm rot="0">
            <a:off x="571500" y="504825"/>
            <a:ext cx="970407" cy="2143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62"/>
              </a:lnSpc>
            </a:pPr>
            <a:r>
              <a:rPr lang="en-US" b="true" sz="975" spc="19">
                <a:solidFill>
                  <a:srgbClr val="0066CC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PneumoScan AI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006912" y="500063"/>
            <a:ext cx="1984438" cy="2047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37"/>
              </a:lnSpc>
            </a:pPr>
            <a:r>
              <a:rPr lang="en-US" sz="825" spc="66">
                <a:solidFill>
                  <a:srgbClr val="6B7A90"/>
                </a:solidFill>
                <a:latin typeface="Helvetica"/>
                <a:ea typeface="Helvetica"/>
                <a:cs typeface="Helvetica"/>
                <a:sym typeface="Helvetica"/>
              </a:rPr>
              <a:t>SECTIONS 8–9 · ETHICS &amp; IMPACT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71500" y="995363"/>
            <a:ext cx="6419850" cy="2047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37"/>
              </a:lnSpc>
            </a:pPr>
            <a:r>
              <a:rPr lang="en-US" b="true" sz="825" spc="115">
                <a:solidFill>
                  <a:srgbClr val="0066CC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SECTION 8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71500" y="1190625"/>
            <a:ext cx="6419850" cy="3952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87"/>
              </a:lnSpc>
            </a:pPr>
            <a:r>
              <a:rPr lang="en-US" b="true" sz="1725" spc="-17">
                <a:solidFill>
                  <a:srgbClr val="0066CC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8.</a:t>
            </a:r>
            <a:r>
              <a:rPr lang="en-US" b="true" sz="1725" spc="-17">
                <a:solidFill>
                  <a:srgbClr val="0A1A2F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 Ethical review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71500" y="1595437"/>
            <a:ext cx="6419850" cy="18454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71450" indent="-85725" lvl="1">
              <a:lnSpc>
                <a:spcPts val="1406"/>
              </a:lnSpc>
              <a:buFont typeface="Arial"/>
              <a:buChar char="•"/>
            </a:pPr>
            <a:r>
              <a:rPr lang="en-US" b="true" sz="937">
                <a:solidFill>
                  <a:srgbClr val="0A1A2F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Safety-first framing.</a:t>
            </a:r>
            <a:r>
              <a:rPr lang="en-US" sz="937">
                <a:solidFill>
                  <a:srgbClr val="3F5168"/>
                </a:solidFill>
                <a:latin typeface="Helvetica"/>
                <a:ea typeface="Helvetica"/>
                <a:cs typeface="Helvetica"/>
                <a:sym typeface="Helvetica"/>
              </a:rPr>
              <a:t> A fail-safe threshold minimises missed pneumonia; a false positive (healthy patient referred for review) is the safe direction and is handled by the "confirm with a doctor" flow.</a:t>
            </a:r>
          </a:p>
          <a:p>
            <a:pPr algn="l" marL="171450" indent="-85725" lvl="1">
              <a:lnSpc>
                <a:spcPts val="1406"/>
              </a:lnSpc>
              <a:buFont typeface="Arial"/>
              <a:buChar char="•"/>
            </a:pPr>
            <a:r>
              <a:rPr lang="en-US" b="true" sz="937">
                <a:solidFill>
                  <a:srgbClr val="0A1A2F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Honesty about limits.</a:t>
            </a:r>
            <a:r>
              <a:rPr lang="en-US" sz="937">
                <a:solidFill>
                  <a:srgbClr val="3F5168"/>
                </a:solidFill>
                <a:latin typeface="Helvetica"/>
                <a:ea typeface="Helvetica"/>
                <a:cs typeface="Helvetica"/>
                <a:sym typeface="Helvetica"/>
              </a:rPr>
              <a:t> The model is strongest on clear digital X-rays; performance on phone photos of adult films is stated openly, and borderline cases are shown as "uncertain" rather than a confident call.</a:t>
            </a:r>
          </a:p>
          <a:p>
            <a:pPr algn="l" marL="171450" indent="-85725" lvl="1">
              <a:lnSpc>
                <a:spcPts val="1406"/>
              </a:lnSpc>
              <a:buFont typeface="Arial"/>
              <a:buChar char="•"/>
            </a:pPr>
            <a:r>
              <a:rPr lang="en-US" b="true" sz="937">
                <a:solidFill>
                  <a:srgbClr val="0A1A2F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Bias &amp; fairness.</a:t>
            </a:r>
            <a:r>
              <a:rPr lang="en-US" sz="937">
                <a:solidFill>
                  <a:srgbClr val="3F5168"/>
                </a:solidFill>
                <a:latin typeface="Helvetica"/>
                <a:ea typeface="Helvetica"/>
                <a:cs typeface="Helvetica"/>
                <a:sym typeface="Helvetica"/>
              </a:rPr>
              <a:t> Training now spans pediatric and adult populations; per-population metrics are reported. Continued external validation on Sri Lankan data is part of the roadmap.</a:t>
            </a:r>
          </a:p>
          <a:p>
            <a:pPr algn="l" marL="171450" indent="-85725" lvl="1">
              <a:lnSpc>
                <a:spcPts val="1406"/>
              </a:lnSpc>
              <a:buFont typeface="Arial"/>
              <a:buChar char="•"/>
            </a:pPr>
            <a:r>
              <a:rPr lang="en-US" b="true" sz="937">
                <a:solidFill>
                  <a:srgbClr val="0A1A2F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Human-in-the-loop.</a:t>
            </a:r>
            <a:r>
              <a:rPr lang="en-US" sz="937">
                <a:solidFill>
                  <a:srgbClr val="3F5168"/>
                </a:solidFill>
                <a:latin typeface="Helvetica"/>
                <a:ea typeface="Helvetica"/>
                <a:cs typeface="Helvetica"/>
                <a:sym typeface="Helvetica"/>
              </a:rPr>
              <a:t> The system never replaces a clinician — it triages and explains, leaving the diagnosis to a qualified professional.</a:t>
            </a:r>
          </a:p>
          <a:p>
            <a:pPr algn="l" marL="171450" indent="-85725" lvl="1">
              <a:lnSpc>
                <a:spcPts val="1406"/>
              </a:lnSpc>
              <a:buFont typeface="Arial"/>
              <a:buChar char="•"/>
            </a:pPr>
            <a:r>
              <a:rPr lang="en-US" b="true" sz="937">
                <a:solidFill>
                  <a:srgbClr val="0A1A2F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Accessibility.</a:t>
            </a:r>
            <a:r>
              <a:rPr lang="en-US" sz="937">
                <a:solidFill>
                  <a:srgbClr val="3F5168"/>
                </a:solidFill>
                <a:latin typeface="Helvetica"/>
                <a:ea typeface="Helvetica"/>
                <a:cs typeface="Helvetica"/>
                <a:sym typeface="Helvetica"/>
              </a:rPr>
              <a:t> Bilingual (Sinhala/English) interfaces are planned so the tool serves the communities that need it most.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71500" y="3507581"/>
            <a:ext cx="6419850" cy="2047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37"/>
              </a:lnSpc>
            </a:pPr>
            <a:r>
              <a:rPr lang="en-US" b="true" sz="825" spc="115">
                <a:solidFill>
                  <a:srgbClr val="0066CC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SECTION 9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71500" y="3702844"/>
            <a:ext cx="6419850" cy="3952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87"/>
              </a:lnSpc>
            </a:pPr>
            <a:r>
              <a:rPr lang="en-US" b="true" sz="1725" spc="-17">
                <a:solidFill>
                  <a:srgbClr val="0066CC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9.</a:t>
            </a:r>
            <a:r>
              <a:rPr lang="en-US" b="true" sz="1725" spc="-17">
                <a:solidFill>
                  <a:srgbClr val="0A1A2F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 Impact on the healthcare sector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71500" y="4088606"/>
            <a:ext cx="6419850" cy="4104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28"/>
              </a:lnSpc>
            </a:pPr>
            <a:r>
              <a:rPr lang="en-US" sz="952">
                <a:solidFill>
                  <a:srgbClr val="3F5168"/>
                </a:solidFill>
                <a:latin typeface="Helvetica"/>
                <a:ea typeface="Helvetica"/>
                <a:cs typeface="Helvetica"/>
                <a:sym typeface="Helvetica"/>
              </a:rPr>
              <a:t>PneumoScan AI turns a 24–72 hour diagnostic delay into a sub-30-second, always-available assessment, directly addressing radiologist shortage, delay, and the absence of automated pre-screening.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571500" y="4594288"/>
            <a:ext cx="1317593" cy="266700"/>
            <a:chOff x="0" y="0"/>
            <a:chExt cx="1756791" cy="3556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756791" cy="355600"/>
            </a:xfrm>
            <a:custGeom>
              <a:avLst/>
              <a:gdLst/>
              <a:ahLst/>
              <a:cxnLst/>
              <a:rect r="r" b="b" t="t" l="l"/>
              <a:pathLst>
                <a:path h="355600" w="1756791">
                  <a:moveTo>
                    <a:pt x="0" y="0"/>
                  </a:moveTo>
                  <a:lnTo>
                    <a:pt x="1756791" y="0"/>
                  </a:lnTo>
                  <a:lnTo>
                    <a:pt x="1756791" y="355600"/>
                  </a:lnTo>
                  <a:lnTo>
                    <a:pt x="0" y="355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66CC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1756791" cy="393700"/>
            </a:xfrm>
            <a:prstGeom prst="rect">
              <a:avLst/>
            </a:prstGeom>
          </p:spPr>
          <p:txBody>
            <a:bodyPr anchor="ctr" rtlCol="false" tIns="101600" lIns="101600" bIns="101600" rIns="101600"/>
            <a:lstStyle/>
            <a:p>
              <a:pPr algn="l">
                <a:lnSpc>
                  <a:spcPts val="1207"/>
                </a:lnSpc>
              </a:pPr>
              <a:r>
                <a:rPr lang="en-US" b="true" sz="862">
                  <a:solidFill>
                    <a:srgbClr val="FFFFFF"/>
                  </a:solidFill>
                  <a:latin typeface="Helvetica Bold"/>
                  <a:ea typeface="Helvetica Bold"/>
                  <a:cs typeface="Helvetica Bold"/>
                  <a:sym typeface="Helvetica Bold"/>
                </a:rPr>
                <a:t>Stakeholder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889093" y="4594288"/>
            <a:ext cx="5102257" cy="266700"/>
            <a:chOff x="0" y="0"/>
            <a:chExt cx="6803009" cy="3556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803009" cy="355600"/>
            </a:xfrm>
            <a:custGeom>
              <a:avLst/>
              <a:gdLst/>
              <a:ahLst/>
              <a:cxnLst/>
              <a:rect r="r" b="b" t="t" l="l"/>
              <a:pathLst>
                <a:path h="355600" w="6803009">
                  <a:moveTo>
                    <a:pt x="0" y="0"/>
                  </a:moveTo>
                  <a:lnTo>
                    <a:pt x="6803009" y="0"/>
                  </a:lnTo>
                  <a:lnTo>
                    <a:pt x="6803009" y="355600"/>
                  </a:lnTo>
                  <a:lnTo>
                    <a:pt x="0" y="355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66CC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6803009" cy="393700"/>
            </a:xfrm>
            <a:prstGeom prst="rect">
              <a:avLst/>
            </a:prstGeom>
          </p:spPr>
          <p:txBody>
            <a:bodyPr anchor="ctr" rtlCol="false" tIns="101600" lIns="101600" bIns="101600" rIns="101600"/>
            <a:lstStyle/>
            <a:p>
              <a:pPr algn="l">
                <a:lnSpc>
                  <a:spcPts val="1207"/>
                </a:lnSpc>
              </a:pPr>
              <a:r>
                <a:rPr lang="en-US" b="true" sz="862">
                  <a:solidFill>
                    <a:srgbClr val="FFFFFF"/>
                  </a:solidFill>
                  <a:latin typeface="Helvetica Bold"/>
                  <a:ea typeface="Helvetica Bold"/>
                  <a:cs typeface="Helvetica Bold"/>
                  <a:sym typeface="Helvetica Bold"/>
                </a:rPr>
                <a:t>Benefit</a:t>
              </a:r>
            </a:p>
          </p:txBody>
        </p:sp>
      </p:grpSp>
      <p:sp>
        <p:nvSpPr>
          <p:cNvPr name="AutoShape 18" id="18"/>
          <p:cNvSpPr/>
          <p:nvPr/>
        </p:nvSpPr>
        <p:spPr>
          <a:xfrm rot="0">
            <a:off x="571500" y="4860988"/>
            <a:ext cx="1317593" cy="423862"/>
          </a:xfrm>
          <a:prstGeom prst="rect">
            <a:avLst/>
          </a:prstGeom>
          <a:solidFill>
            <a:srgbClr val="F7FAFD"/>
          </a:solidFill>
        </p:spPr>
      </p:sp>
      <p:sp>
        <p:nvSpPr>
          <p:cNvPr name="AutoShape 19" id="19"/>
          <p:cNvSpPr/>
          <p:nvPr/>
        </p:nvSpPr>
        <p:spPr>
          <a:xfrm rot="0">
            <a:off x="571500" y="5275326"/>
            <a:ext cx="1317593" cy="9525"/>
          </a:xfrm>
          <a:prstGeom prst="rect">
            <a:avLst/>
          </a:prstGeom>
          <a:solidFill>
            <a:srgbClr val="E2E8F0"/>
          </a:solidFill>
        </p:spPr>
      </p:sp>
      <p:sp>
        <p:nvSpPr>
          <p:cNvPr name="TextBox 20" id="20"/>
          <p:cNvSpPr txBox="true"/>
          <p:nvPr/>
        </p:nvSpPr>
        <p:spPr>
          <a:xfrm rot="0">
            <a:off x="571500" y="4822888"/>
            <a:ext cx="1317593" cy="461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b="true" sz="900">
                <a:solidFill>
                  <a:srgbClr val="0A1A2F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Rural health workers</a:t>
            </a:r>
          </a:p>
        </p:txBody>
      </p:sp>
      <p:sp>
        <p:nvSpPr>
          <p:cNvPr name="AutoShape 21" id="21"/>
          <p:cNvSpPr/>
          <p:nvPr/>
        </p:nvSpPr>
        <p:spPr>
          <a:xfrm rot="0">
            <a:off x="1889093" y="4860988"/>
            <a:ext cx="5102257" cy="423862"/>
          </a:xfrm>
          <a:prstGeom prst="rect">
            <a:avLst/>
          </a:prstGeom>
          <a:solidFill>
            <a:srgbClr val="F7FAFD"/>
          </a:solidFill>
        </p:spPr>
      </p:sp>
      <p:sp>
        <p:nvSpPr>
          <p:cNvPr name="AutoShape 22" id="22"/>
          <p:cNvSpPr/>
          <p:nvPr/>
        </p:nvSpPr>
        <p:spPr>
          <a:xfrm rot="0">
            <a:off x="1889093" y="5275326"/>
            <a:ext cx="5102257" cy="9525"/>
          </a:xfrm>
          <a:prstGeom prst="rect">
            <a:avLst/>
          </a:prstGeom>
          <a:solidFill>
            <a:srgbClr val="E2E8F0"/>
          </a:solidFill>
        </p:spPr>
      </p:sp>
      <p:sp>
        <p:nvSpPr>
          <p:cNvPr name="TextBox 23" id="23"/>
          <p:cNvSpPr txBox="true"/>
          <p:nvPr/>
        </p:nvSpPr>
        <p:spPr>
          <a:xfrm rot="0">
            <a:off x="1889093" y="4822888"/>
            <a:ext cx="5102257" cy="461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sz="900">
                <a:solidFill>
                  <a:srgbClr val="3F5168"/>
                </a:solidFill>
                <a:latin typeface="Helvetica"/>
                <a:ea typeface="Helvetica"/>
                <a:cs typeface="Helvetica"/>
                <a:sym typeface="Helvetica"/>
              </a:rPr>
              <a:t>Rapid AI-assisted pre-screening on a basic smartphone — faster decisions without specialist access.</a:t>
            </a:r>
          </a:p>
        </p:txBody>
      </p:sp>
      <p:sp>
        <p:nvSpPr>
          <p:cNvPr name="AutoShape 24" id="24"/>
          <p:cNvSpPr/>
          <p:nvPr/>
        </p:nvSpPr>
        <p:spPr>
          <a:xfrm rot="0">
            <a:off x="571500" y="5570601"/>
            <a:ext cx="1317593" cy="9525"/>
          </a:xfrm>
          <a:prstGeom prst="rect">
            <a:avLst/>
          </a:prstGeom>
          <a:solidFill>
            <a:srgbClr val="E2E8F0"/>
          </a:solidFill>
        </p:spPr>
      </p:sp>
      <p:sp>
        <p:nvSpPr>
          <p:cNvPr name="TextBox 25" id="25"/>
          <p:cNvSpPr txBox="true"/>
          <p:nvPr/>
        </p:nvSpPr>
        <p:spPr>
          <a:xfrm rot="0">
            <a:off x="571500" y="5246751"/>
            <a:ext cx="1317593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b="true" sz="900">
                <a:solidFill>
                  <a:srgbClr val="0A1A2F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Patients</a:t>
            </a:r>
          </a:p>
        </p:txBody>
      </p:sp>
      <p:sp>
        <p:nvSpPr>
          <p:cNvPr name="AutoShape 26" id="26"/>
          <p:cNvSpPr/>
          <p:nvPr/>
        </p:nvSpPr>
        <p:spPr>
          <a:xfrm rot="0">
            <a:off x="1889093" y="5570601"/>
            <a:ext cx="5102257" cy="9525"/>
          </a:xfrm>
          <a:prstGeom prst="rect">
            <a:avLst/>
          </a:prstGeom>
          <a:solidFill>
            <a:srgbClr val="E2E8F0"/>
          </a:solidFill>
        </p:spPr>
      </p:sp>
      <p:sp>
        <p:nvSpPr>
          <p:cNvPr name="TextBox 27" id="27"/>
          <p:cNvSpPr txBox="true"/>
          <p:nvPr/>
        </p:nvSpPr>
        <p:spPr>
          <a:xfrm rot="0">
            <a:off x="1889093" y="5246751"/>
            <a:ext cx="5102257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sz="900">
                <a:solidFill>
                  <a:srgbClr val="3F5168"/>
                </a:solidFill>
                <a:latin typeface="Helvetica"/>
                <a:ea typeface="Helvetica"/>
                <a:cs typeface="Helvetica"/>
                <a:sym typeface="Helvetica"/>
              </a:rPr>
              <a:t>Shorter waits, fewer missed cases, earlier treatment — improved outcomes.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571500" y="5580126"/>
            <a:ext cx="1317593" cy="295275"/>
            <a:chOff x="0" y="0"/>
            <a:chExt cx="1756791" cy="3937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756791" cy="393700"/>
            </a:xfrm>
            <a:custGeom>
              <a:avLst/>
              <a:gdLst/>
              <a:ahLst/>
              <a:cxnLst/>
              <a:rect r="r" b="b" t="t" l="l"/>
              <a:pathLst>
                <a:path h="393700" w="1756791">
                  <a:moveTo>
                    <a:pt x="0" y="0"/>
                  </a:moveTo>
                  <a:lnTo>
                    <a:pt x="1756791" y="0"/>
                  </a:lnTo>
                  <a:lnTo>
                    <a:pt x="1756791" y="393700"/>
                  </a:lnTo>
                  <a:lnTo>
                    <a:pt x="0" y="3937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7FAFD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1756791" cy="431800"/>
            </a:xfrm>
            <a:prstGeom prst="rect">
              <a:avLst/>
            </a:prstGeom>
          </p:spPr>
          <p:txBody>
            <a:bodyPr anchor="ctr" rtlCol="false" tIns="107950" lIns="107950" bIns="107950" rIns="107950"/>
            <a:lstStyle/>
            <a:p>
              <a:pPr algn="l">
                <a:lnSpc>
                  <a:spcPts val="1260"/>
                </a:lnSpc>
              </a:pPr>
              <a:r>
                <a:rPr lang="en-US" b="true" sz="900">
                  <a:solidFill>
                    <a:srgbClr val="0A1A2F"/>
                  </a:solidFill>
                  <a:latin typeface="Helvetica Bold"/>
                  <a:ea typeface="Helvetica Bold"/>
                  <a:cs typeface="Helvetica Bold"/>
                  <a:sym typeface="Helvetica Bold"/>
                </a:rPr>
                <a:t>District hospitals</a:t>
              </a:r>
            </a:p>
          </p:txBody>
        </p:sp>
      </p:grpSp>
      <p:sp>
        <p:nvSpPr>
          <p:cNvPr name="AutoShape 31" id="31"/>
          <p:cNvSpPr/>
          <p:nvPr/>
        </p:nvSpPr>
        <p:spPr>
          <a:xfrm rot="0">
            <a:off x="571500" y="5865876"/>
            <a:ext cx="1317593" cy="9525"/>
          </a:xfrm>
          <a:prstGeom prst="rect">
            <a:avLst/>
          </a:prstGeom>
          <a:solidFill>
            <a:srgbClr val="E2E8F0"/>
          </a:solidFill>
        </p:spPr>
      </p:sp>
      <p:grpSp>
        <p:nvGrpSpPr>
          <p:cNvPr name="Group 32" id="32"/>
          <p:cNvGrpSpPr/>
          <p:nvPr/>
        </p:nvGrpSpPr>
        <p:grpSpPr>
          <a:xfrm rot="0">
            <a:off x="1889093" y="5580126"/>
            <a:ext cx="5102257" cy="295275"/>
            <a:chOff x="0" y="0"/>
            <a:chExt cx="6803009" cy="3937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6803009" cy="393700"/>
            </a:xfrm>
            <a:custGeom>
              <a:avLst/>
              <a:gdLst/>
              <a:ahLst/>
              <a:cxnLst/>
              <a:rect r="r" b="b" t="t" l="l"/>
              <a:pathLst>
                <a:path h="393700" w="6803009">
                  <a:moveTo>
                    <a:pt x="0" y="0"/>
                  </a:moveTo>
                  <a:lnTo>
                    <a:pt x="6803009" y="0"/>
                  </a:lnTo>
                  <a:lnTo>
                    <a:pt x="6803009" y="393700"/>
                  </a:lnTo>
                  <a:lnTo>
                    <a:pt x="0" y="3937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7FAFD"/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6803009" cy="431800"/>
            </a:xfrm>
            <a:prstGeom prst="rect">
              <a:avLst/>
            </a:prstGeom>
          </p:spPr>
          <p:txBody>
            <a:bodyPr anchor="ctr" rtlCol="false" tIns="107950" lIns="107950" bIns="107950" rIns="107950"/>
            <a:lstStyle/>
            <a:p>
              <a:pPr algn="l">
                <a:lnSpc>
                  <a:spcPts val="1260"/>
                </a:lnSpc>
              </a:pPr>
              <a:r>
                <a:rPr lang="en-US" sz="900">
                  <a:solidFill>
                    <a:srgbClr val="3F5168"/>
                  </a:solidFill>
                  <a:latin typeface="Helvetica"/>
                  <a:ea typeface="Helvetica"/>
                  <a:cs typeface="Helvetica"/>
                  <a:sym typeface="Helvetica"/>
                </a:rPr>
                <a:t>A 24/7 second opinion that helps prioritise urgent cases and reduce radiologist load.</a:t>
              </a:r>
            </a:p>
          </p:txBody>
        </p:sp>
      </p:grpSp>
      <p:sp>
        <p:nvSpPr>
          <p:cNvPr name="AutoShape 35" id="35"/>
          <p:cNvSpPr/>
          <p:nvPr/>
        </p:nvSpPr>
        <p:spPr>
          <a:xfrm rot="0">
            <a:off x="1889093" y="5865876"/>
            <a:ext cx="5102257" cy="9525"/>
          </a:xfrm>
          <a:prstGeom prst="rect">
            <a:avLst/>
          </a:prstGeom>
          <a:solidFill>
            <a:srgbClr val="E2E8F0"/>
          </a:solidFill>
        </p:spPr>
      </p:sp>
      <p:sp>
        <p:nvSpPr>
          <p:cNvPr name="AutoShape 36" id="36"/>
          <p:cNvSpPr/>
          <p:nvPr/>
        </p:nvSpPr>
        <p:spPr>
          <a:xfrm rot="0">
            <a:off x="571500" y="6161151"/>
            <a:ext cx="1317593" cy="9525"/>
          </a:xfrm>
          <a:prstGeom prst="rect">
            <a:avLst/>
          </a:prstGeom>
          <a:solidFill>
            <a:srgbClr val="E2E8F0"/>
          </a:solidFill>
        </p:spPr>
      </p:sp>
      <p:sp>
        <p:nvSpPr>
          <p:cNvPr name="TextBox 37" id="37"/>
          <p:cNvSpPr txBox="true"/>
          <p:nvPr/>
        </p:nvSpPr>
        <p:spPr>
          <a:xfrm rot="0">
            <a:off x="571500" y="5837301"/>
            <a:ext cx="1317593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b="true" sz="900">
                <a:solidFill>
                  <a:srgbClr val="0A1A2F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Ministry of Health</a:t>
            </a:r>
          </a:p>
        </p:txBody>
      </p:sp>
      <p:sp>
        <p:nvSpPr>
          <p:cNvPr name="AutoShape 38" id="38"/>
          <p:cNvSpPr/>
          <p:nvPr/>
        </p:nvSpPr>
        <p:spPr>
          <a:xfrm rot="0">
            <a:off x="1889093" y="6161151"/>
            <a:ext cx="5102257" cy="9525"/>
          </a:xfrm>
          <a:prstGeom prst="rect">
            <a:avLst/>
          </a:prstGeom>
          <a:solidFill>
            <a:srgbClr val="E2E8F0"/>
          </a:solidFill>
        </p:spPr>
      </p:sp>
      <p:sp>
        <p:nvSpPr>
          <p:cNvPr name="TextBox 39" id="39"/>
          <p:cNvSpPr txBox="true"/>
          <p:nvPr/>
        </p:nvSpPr>
        <p:spPr>
          <a:xfrm rot="0">
            <a:off x="1889093" y="5837301"/>
            <a:ext cx="5102257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sz="900">
                <a:solidFill>
                  <a:srgbClr val="3F5168"/>
                </a:solidFill>
                <a:latin typeface="Helvetica"/>
                <a:ea typeface="Helvetica"/>
                <a:cs typeface="Helvetica"/>
                <a:sym typeface="Helvetica"/>
              </a:rPr>
              <a:t>Scalable, low-cost deployment and a basis for national pneumonia-trend tracking.</a:t>
            </a:r>
          </a:p>
        </p:txBody>
      </p:sp>
      <p:sp>
        <p:nvSpPr>
          <p:cNvPr name="AutoShape 40" id="40"/>
          <p:cNvSpPr/>
          <p:nvPr/>
        </p:nvSpPr>
        <p:spPr>
          <a:xfrm rot="0">
            <a:off x="571500" y="10213181"/>
            <a:ext cx="6419850" cy="9525"/>
          </a:xfrm>
          <a:prstGeom prst="rect">
            <a:avLst/>
          </a:prstGeom>
          <a:solidFill>
            <a:srgbClr val="E2E8F0"/>
          </a:solidFill>
        </p:spPr>
      </p:sp>
      <p:sp>
        <p:nvSpPr>
          <p:cNvPr name="TextBox 41" id="41"/>
          <p:cNvSpPr txBox="true"/>
          <p:nvPr/>
        </p:nvSpPr>
        <p:spPr>
          <a:xfrm rot="0">
            <a:off x="571500" y="10260806"/>
            <a:ext cx="1684115" cy="1881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81"/>
              </a:lnSpc>
            </a:pPr>
            <a:r>
              <a:rPr lang="en-US" sz="787">
                <a:solidFill>
                  <a:srgbClr val="6B7A90"/>
                </a:solidFill>
                <a:latin typeface="Helvetica"/>
                <a:ea typeface="Helvetica"/>
                <a:cs typeface="Helvetica"/>
                <a:sym typeface="Helvetica"/>
              </a:rPr>
              <a:t>Team GMora · University of Moratuwa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5629466" y="10260806"/>
            <a:ext cx="1361884" cy="1881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81"/>
              </a:lnSpc>
            </a:pPr>
            <a:r>
              <a:rPr lang="en-US" sz="787">
                <a:solidFill>
                  <a:srgbClr val="6B7A90"/>
                </a:solidFill>
                <a:latin typeface="Helvetica"/>
                <a:ea typeface="Helvetica"/>
                <a:cs typeface="Helvetica"/>
                <a:sym typeface="Helvetica"/>
              </a:rPr>
              <a:t>Sections 8–9 · Ethics &amp; Impact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0"/>
            <a:ext cx="7562850" cy="10696575"/>
          </a:xfrm>
          <a:prstGeom prst="rect">
            <a:avLst/>
          </a:prstGeom>
          <a:solidFill>
            <a:srgbClr val="FFFFFF"/>
          </a:solidFill>
        </p:spPr>
      </p:sp>
      <p:sp>
        <p:nvSpPr>
          <p:cNvPr name="AutoShape 3" id="3"/>
          <p:cNvSpPr/>
          <p:nvPr/>
        </p:nvSpPr>
        <p:spPr>
          <a:xfrm rot="0">
            <a:off x="571500" y="795338"/>
            <a:ext cx="6419850" cy="19050"/>
          </a:xfrm>
          <a:prstGeom prst="rect">
            <a:avLst/>
          </a:prstGeom>
          <a:solidFill>
            <a:srgbClr val="0066CC"/>
          </a:solidFill>
        </p:spPr>
      </p:sp>
      <p:sp>
        <p:nvSpPr>
          <p:cNvPr name="TextBox 4" id="4"/>
          <p:cNvSpPr txBox="true"/>
          <p:nvPr/>
        </p:nvSpPr>
        <p:spPr>
          <a:xfrm rot="0">
            <a:off x="571500" y="504825"/>
            <a:ext cx="970407" cy="2143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62"/>
              </a:lnSpc>
            </a:pPr>
            <a:r>
              <a:rPr lang="en-US" b="true" sz="975" spc="19">
                <a:solidFill>
                  <a:srgbClr val="0066CC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PneumoScan AI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484180" y="500063"/>
            <a:ext cx="2507171" cy="2047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37"/>
              </a:lnSpc>
            </a:pPr>
            <a:r>
              <a:rPr lang="en-US" sz="825" spc="66">
                <a:solidFill>
                  <a:srgbClr val="6B7A90"/>
                </a:solidFill>
                <a:latin typeface="Helvetica"/>
                <a:ea typeface="Helvetica"/>
                <a:cs typeface="Helvetica"/>
                <a:sym typeface="Helvetica"/>
              </a:rPr>
              <a:t>SECTION 10 · SUSTAINABILITY &amp; ROADMAP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71500" y="995363"/>
            <a:ext cx="6419850" cy="2047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37"/>
              </a:lnSpc>
            </a:pPr>
            <a:r>
              <a:rPr lang="en-US" b="true" sz="825" spc="115">
                <a:solidFill>
                  <a:srgbClr val="0066CC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SECTION 10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71500" y="1190625"/>
            <a:ext cx="6419850" cy="3952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87"/>
              </a:lnSpc>
            </a:pPr>
            <a:r>
              <a:rPr lang="en-US" b="true" sz="1725" spc="-17">
                <a:solidFill>
                  <a:srgbClr val="0066CC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10.</a:t>
            </a:r>
            <a:r>
              <a:rPr lang="en-US" b="true" sz="1725" spc="-17">
                <a:solidFill>
                  <a:srgbClr val="0A1A2F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 Sustainability, cost &amp; roadmap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571500" y="1624012"/>
            <a:ext cx="3133725" cy="1233488"/>
            <a:chOff x="0" y="0"/>
            <a:chExt cx="4178300" cy="164465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178300" cy="1644650"/>
            </a:xfrm>
            <a:custGeom>
              <a:avLst/>
              <a:gdLst/>
              <a:ahLst/>
              <a:cxnLst/>
              <a:rect r="r" b="b" t="t" l="l"/>
              <a:pathLst>
                <a:path h="1644650" w="4178300">
                  <a:moveTo>
                    <a:pt x="152400" y="0"/>
                  </a:moveTo>
                  <a:lnTo>
                    <a:pt x="4025900" y="0"/>
                  </a:lnTo>
                  <a:cubicBezTo>
                    <a:pt x="4110101" y="0"/>
                    <a:pt x="4178300" y="68199"/>
                    <a:pt x="4178300" y="152400"/>
                  </a:cubicBezTo>
                  <a:lnTo>
                    <a:pt x="4178300" y="1492250"/>
                  </a:lnTo>
                  <a:cubicBezTo>
                    <a:pt x="4178300" y="1576451"/>
                    <a:pt x="4110101" y="1644650"/>
                    <a:pt x="4025900" y="1644650"/>
                  </a:cubicBezTo>
                  <a:lnTo>
                    <a:pt x="152400" y="1644650"/>
                  </a:lnTo>
                  <a:cubicBezTo>
                    <a:pt x="68199" y="1644650"/>
                    <a:pt x="0" y="1576451"/>
                    <a:pt x="0" y="1492250"/>
                  </a:cubicBezTo>
                  <a:lnTo>
                    <a:pt x="0" y="152400"/>
                  </a:lnTo>
                  <a:cubicBezTo>
                    <a:pt x="0" y="68199"/>
                    <a:pt x="68199" y="0"/>
                    <a:pt x="152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178300" cy="1644650"/>
            </a:xfrm>
            <a:custGeom>
              <a:avLst/>
              <a:gdLst/>
              <a:ahLst/>
              <a:cxnLst/>
              <a:rect r="r" b="b" t="t" l="l"/>
              <a:pathLst>
                <a:path h="1644650" w="4178300">
                  <a:moveTo>
                    <a:pt x="152400" y="0"/>
                  </a:moveTo>
                  <a:lnTo>
                    <a:pt x="4025900" y="0"/>
                  </a:lnTo>
                  <a:cubicBezTo>
                    <a:pt x="4110101" y="0"/>
                    <a:pt x="4178300" y="68199"/>
                    <a:pt x="4178300" y="152400"/>
                  </a:cubicBezTo>
                  <a:lnTo>
                    <a:pt x="4178300" y="1492250"/>
                  </a:lnTo>
                  <a:cubicBezTo>
                    <a:pt x="4178300" y="1576451"/>
                    <a:pt x="4110101" y="1644650"/>
                    <a:pt x="4025900" y="1644650"/>
                  </a:cubicBezTo>
                  <a:lnTo>
                    <a:pt x="152400" y="1644650"/>
                  </a:lnTo>
                  <a:cubicBezTo>
                    <a:pt x="68199" y="1644650"/>
                    <a:pt x="0" y="1576451"/>
                    <a:pt x="0" y="1492250"/>
                  </a:cubicBezTo>
                  <a:lnTo>
                    <a:pt x="0" y="152400"/>
                  </a:lnTo>
                  <a:cubicBezTo>
                    <a:pt x="0" y="68199"/>
                    <a:pt x="68199" y="0"/>
                    <a:pt x="152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E2E8F0"/>
              </a:solidFill>
              <a:prstDash val="solid"/>
              <a:miter/>
            </a:ln>
          </p:spPr>
        </p:sp>
      </p:grpSp>
      <p:sp>
        <p:nvSpPr>
          <p:cNvPr name="TextBox 11" id="11"/>
          <p:cNvSpPr txBox="true"/>
          <p:nvPr/>
        </p:nvSpPr>
        <p:spPr>
          <a:xfrm rot="0">
            <a:off x="733425" y="1747837"/>
            <a:ext cx="2809875" cy="2143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62"/>
              </a:lnSpc>
            </a:pPr>
            <a:r>
              <a:rPr lang="en-US" b="true" sz="975" spc="-9">
                <a:solidFill>
                  <a:srgbClr val="003D7A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Cost-effectiveness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33425" y="1971675"/>
            <a:ext cx="2809875" cy="733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0"/>
              </a:lnSpc>
            </a:pPr>
            <a:r>
              <a:rPr lang="en-US" sz="900">
                <a:solidFill>
                  <a:srgbClr val="3F5168"/>
                </a:solidFill>
                <a:latin typeface="Helvetica"/>
                <a:ea typeface="Helvetica"/>
                <a:cs typeface="Helvetica"/>
                <a:sym typeface="Helvetica"/>
              </a:rPr>
              <a:t>Open-source stack, CPU-only inference on a single low-cost VM, and zero per-query licensing make per-scan cost negligible — versus enterprise tools (Qure.ai, Lunit, Aidoc) priced out of reach for rural clinics.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3857625" y="1624012"/>
            <a:ext cx="3133725" cy="1233488"/>
            <a:chOff x="0" y="0"/>
            <a:chExt cx="4178300" cy="164465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178300" cy="1644650"/>
            </a:xfrm>
            <a:custGeom>
              <a:avLst/>
              <a:gdLst/>
              <a:ahLst/>
              <a:cxnLst/>
              <a:rect r="r" b="b" t="t" l="l"/>
              <a:pathLst>
                <a:path h="1644650" w="4178300">
                  <a:moveTo>
                    <a:pt x="152400" y="0"/>
                  </a:moveTo>
                  <a:lnTo>
                    <a:pt x="4025900" y="0"/>
                  </a:lnTo>
                  <a:cubicBezTo>
                    <a:pt x="4110101" y="0"/>
                    <a:pt x="4178300" y="68199"/>
                    <a:pt x="4178300" y="152400"/>
                  </a:cubicBezTo>
                  <a:lnTo>
                    <a:pt x="4178300" y="1492250"/>
                  </a:lnTo>
                  <a:cubicBezTo>
                    <a:pt x="4178300" y="1576451"/>
                    <a:pt x="4110101" y="1644650"/>
                    <a:pt x="4025900" y="1644650"/>
                  </a:cubicBezTo>
                  <a:lnTo>
                    <a:pt x="152400" y="1644650"/>
                  </a:lnTo>
                  <a:cubicBezTo>
                    <a:pt x="68199" y="1644650"/>
                    <a:pt x="0" y="1576451"/>
                    <a:pt x="0" y="1492250"/>
                  </a:cubicBezTo>
                  <a:lnTo>
                    <a:pt x="0" y="152400"/>
                  </a:lnTo>
                  <a:cubicBezTo>
                    <a:pt x="0" y="68199"/>
                    <a:pt x="68199" y="0"/>
                    <a:pt x="152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178300" cy="1644650"/>
            </a:xfrm>
            <a:custGeom>
              <a:avLst/>
              <a:gdLst/>
              <a:ahLst/>
              <a:cxnLst/>
              <a:rect r="r" b="b" t="t" l="l"/>
              <a:pathLst>
                <a:path h="1644650" w="4178300">
                  <a:moveTo>
                    <a:pt x="152400" y="0"/>
                  </a:moveTo>
                  <a:lnTo>
                    <a:pt x="4025900" y="0"/>
                  </a:lnTo>
                  <a:cubicBezTo>
                    <a:pt x="4110101" y="0"/>
                    <a:pt x="4178300" y="68199"/>
                    <a:pt x="4178300" y="152400"/>
                  </a:cubicBezTo>
                  <a:lnTo>
                    <a:pt x="4178300" y="1492250"/>
                  </a:lnTo>
                  <a:cubicBezTo>
                    <a:pt x="4178300" y="1576451"/>
                    <a:pt x="4110101" y="1644650"/>
                    <a:pt x="4025900" y="1644650"/>
                  </a:cubicBezTo>
                  <a:lnTo>
                    <a:pt x="152400" y="1644650"/>
                  </a:lnTo>
                  <a:cubicBezTo>
                    <a:pt x="68199" y="1644650"/>
                    <a:pt x="0" y="1576451"/>
                    <a:pt x="0" y="1492250"/>
                  </a:cubicBezTo>
                  <a:lnTo>
                    <a:pt x="0" y="152400"/>
                  </a:lnTo>
                  <a:cubicBezTo>
                    <a:pt x="0" y="68199"/>
                    <a:pt x="68199" y="0"/>
                    <a:pt x="152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E2E8F0"/>
              </a:solidFill>
              <a:prstDash val="solid"/>
              <a:miter/>
            </a:ln>
          </p:spPr>
        </p:sp>
      </p:grpSp>
      <p:sp>
        <p:nvSpPr>
          <p:cNvPr name="TextBox 16" id="16"/>
          <p:cNvSpPr txBox="true"/>
          <p:nvPr/>
        </p:nvSpPr>
        <p:spPr>
          <a:xfrm rot="0">
            <a:off x="4019550" y="1747837"/>
            <a:ext cx="2809875" cy="2143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62"/>
              </a:lnSpc>
            </a:pPr>
            <a:r>
              <a:rPr lang="en-US" b="true" sz="975" spc="-9">
                <a:solidFill>
                  <a:srgbClr val="003D7A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Sustainability model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4019550" y="1971675"/>
            <a:ext cx="2809875" cy="733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0"/>
              </a:lnSpc>
            </a:pPr>
            <a:r>
              <a:rPr lang="en-US" sz="900">
                <a:solidFill>
                  <a:srgbClr val="3F5168"/>
                </a:solidFill>
                <a:latin typeface="Helvetica"/>
                <a:ea typeface="Helvetica"/>
                <a:cs typeface="Helvetica"/>
                <a:sym typeface="Helvetica"/>
              </a:rPr>
              <a:t>Freemium access for NGOs and government hospitals; an optional subscription tier for private hospitals funds maintenance. The model improves as partner hospitals contribute regional data.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571500" y="2990850"/>
            <a:ext cx="6419850" cy="2524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7"/>
              </a:lnSpc>
            </a:pPr>
            <a:r>
              <a:rPr lang="en-US" b="true" sz="1125" spc="-11">
                <a:solidFill>
                  <a:srgbClr val="003D7A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Roadmap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571500" y="3338512"/>
            <a:ext cx="676084" cy="266700"/>
            <a:chOff x="0" y="0"/>
            <a:chExt cx="901446" cy="3556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901446" cy="355600"/>
            </a:xfrm>
            <a:custGeom>
              <a:avLst/>
              <a:gdLst/>
              <a:ahLst/>
              <a:cxnLst/>
              <a:rect r="r" b="b" t="t" l="l"/>
              <a:pathLst>
                <a:path h="355600" w="901446">
                  <a:moveTo>
                    <a:pt x="0" y="0"/>
                  </a:moveTo>
                  <a:lnTo>
                    <a:pt x="901446" y="0"/>
                  </a:lnTo>
                  <a:lnTo>
                    <a:pt x="901446" y="355600"/>
                  </a:lnTo>
                  <a:lnTo>
                    <a:pt x="0" y="355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66CC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901446" cy="393700"/>
            </a:xfrm>
            <a:prstGeom prst="rect">
              <a:avLst/>
            </a:prstGeom>
          </p:spPr>
          <p:txBody>
            <a:bodyPr anchor="ctr" rtlCol="false" tIns="101600" lIns="101600" bIns="101600" rIns="101600"/>
            <a:lstStyle/>
            <a:p>
              <a:pPr algn="l">
                <a:lnSpc>
                  <a:spcPts val="1207"/>
                </a:lnSpc>
              </a:pPr>
              <a:r>
                <a:rPr lang="en-US" b="true" sz="862">
                  <a:solidFill>
                    <a:srgbClr val="FFFFFF"/>
                  </a:solidFill>
                  <a:latin typeface="Helvetica Bold"/>
                  <a:ea typeface="Helvetica Bold"/>
                  <a:cs typeface="Helvetica Bold"/>
                  <a:sym typeface="Helvetica Bold"/>
                </a:rPr>
                <a:t>Phase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247584" y="3338512"/>
            <a:ext cx="5743766" cy="266700"/>
            <a:chOff x="0" y="0"/>
            <a:chExt cx="7658354" cy="3556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7658354" cy="355600"/>
            </a:xfrm>
            <a:custGeom>
              <a:avLst/>
              <a:gdLst/>
              <a:ahLst/>
              <a:cxnLst/>
              <a:rect r="r" b="b" t="t" l="l"/>
              <a:pathLst>
                <a:path h="355600" w="7658354">
                  <a:moveTo>
                    <a:pt x="0" y="0"/>
                  </a:moveTo>
                  <a:lnTo>
                    <a:pt x="7658354" y="0"/>
                  </a:lnTo>
                  <a:lnTo>
                    <a:pt x="7658354" y="355600"/>
                  </a:lnTo>
                  <a:lnTo>
                    <a:pt x="0" y="355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66CC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7658354" cy="393700"/>
            </a:xfrm>
            <a:prstGeom prst="rect">
              <a:avLst/>
            </a:prstGeom>
          </p:spPr>
          <p:txBody>
            <a:bodyPr anchor="ctr" rtlCol="false" tIns="101600" lIns="101600" bIns="101600" rIns="101600"/>
            <a:lstStyle/>
            <a:p>
              <a:pPr algn="l">
                <a:lnSpc>
                  <a:spcPts val="1207"/>
                </a:lnSpc>
              </a:pPr>
              <a:r>
                <a:rPr lang="en-US" b="true" sz="862">
                  <a:solidFill>
                    <a:srgbClr val="FFFFFF"/>
                  </a:solidFill>
                  <a:latin typeface="Helvetica Bold"/>
                  <a:ea typeface="Helvetica Bold"/>
                  <a:cs typeface="Helvetica Bold"/>
                  <a:sym typeface="Helvetica Bold"/>
                </a:rPr>
                <a:t>Milestone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571500" y="3605212"/>
            <a:ext cx="676084" cy="290512"/>
            <a:chOff x="0" y="0"/>
            <a:chExt cx="901446" cy="38735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901446" cy="387350"/>
            </a:xfrm>
            <a:custGeom>
              <a:avLst/>
              <a:gdLst/>
              <a:ahLst/>
              <a:cxnLst/>
              <a:rect r="r" b="b" t="t" l="l"/>
              <a:pathLst>
                <a:path h="387350" w="901446">
                  <a:moveTo>
                    <a:pt x="0" y="0"/>
                  </a:moveTo>
                  <a:lnTo>
                    <a:pt x="901446" y="0"/>
                  </a:lnTo>
                  <a:lnTo>
                    <a:pt x="901446" y="387350"/>
                  </a:lnTo>
                  <a:lnTo>
                    <a:pt x="0" y="3873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7FAFD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901446" cy="425450"/>
            </a:xfrm>
            <a:prstGeom prst="rect">
              <a:avLst/>
            </a:prstGeom>
          </p:spPr>
          <p:txBody>
            <a:bodyPr anchor="ctr" rtlCol="false" tIns="104775" lIns="104775" bIns="104775" rIns="104775"/>
            <a:lstStyle/>
            <a:p>
              <a:pPr algn="l">
                <a:lnSpc>
                  <a:spcPts val="1260"/>
                </a:lnSpc>
              </a:pPr>
              <a:r>
                <a:rPr lang="en-US" b="true" sz="900">
                  <a:solidFill>
                    <a:srgbClr val="0A1A2F"/>
                  </a:solidFill>
                  <a:latin typeface="Helvetica Bold"/>
                  <a:ea typeface="Helvetica Bold"/>
                  <a:cs typeface="Helvetica Bold"/>
                  <a:sym typeface="Helvetica Bold"/>
                </a:rPr>
                <a:t>1 · Done</a:t>
              </a:r>
            </a:p>
          </p:txBody>
        </p:sp>
      </p:grpSp>
      <p:sp>
        <p:nvSpPr>
          <p:cNvPr name="AutoShape 28" id="28"/>
          <p:cNvSpPr/>
          <p:nvPr/>
        </p:nvSpPr>
        <p:spPr>
          <a:xfrm rot="0">
            <a:off x="571500" y="3886200"/>
            <a:ext cx="676084" cy="9525"/>
          </a:xfrm>
          <a:prstGeom prst="rect">
            <a:avLst/>
          </a:prstGeom>
          <a:solidFill>
            <a:srgbClr val="E2E8F0"/>
          </a:solidFill>
        </p:spPr>
      </p:sp>
      <p:grpSp>
        <p:nvGrpSpPr>
          <p:cNvPr name="Group 29" id="29"/>
          <p:cNvGrpSpPr/>
          <p:nvPr/>
        </p:nvGrpSpPr>
        <p:grpSpPr>
          <a:xfrm rot="0">
            <a:off x="1247584" y="3605212"/>
            <a:ext cx="5743766" cy="290512"/>
            <a:chOff x="0" y="0"/>
            <a:chExt cx="7658354" cy="38735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7658354" cy="387350"/>
            </a:xfrm>
            <a:custGeom>
              <a:avLst/>
              <a:gdLst/>
              <a:ahLst/>
              <a:cxnLst/>
              <a:rect r="r" b="b" t="t" l="l"/>
              <a:pathLst>
                <a:path h="387350" w="7658354">
                  <a:moveTo>
                    <a:pt x="0" y="0"/>
                  </a:moveTo>
                  <a:lnTo>
                    <a:pt x="7658354" y="0"/>
                  </a:lnTo>
                  <a:lnTo>
                    <a:pt x="7658354" y="387350"/>
                  </a:lnTo>
                  <a:lnTo>
                    <a:pt x="0" y="3873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7FAFD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7658354" cy="425450"/>
            </a:xfrm>
            <a:prstGeom prst="rect">
              <a:avLst/>
            </a:prstGeom>
          </p:spPr>
          <p:txBody>
            <a:bodyPr anchor="ctr" rtlCol="false" tIns="104775" lIns="104775" bIns="104775" rIns="104775"/>
            <a:lstStyle/>
            <a:p>
              <a:pPr algn="l">
                <a:lnSpc>
                  <a:spcPts val="1260"/>
                </a:lnSpc>
              </a:pPr>
              <a:r>
                <a:rPr lang="en-US" sz="900">
                  <a:solidFill>
                    <a:srgbClr val="3F5168"/>
                  </a:solidFill>
                  <a:latin typeface="Helvetica"/>
                  <a:ea typeface="Helvetica"/>
                  <a:cs typeface="Helvetica"/>
                  <a:sym typeface="Helvetica"/>
                </a:rPr>
                <a:t>Deployed binary screening with Grad-CAM, fail-safe threshold, adult + pediatric + phone-photo robustness.</a:t>
              </a:r>
            </a:p>
          </p:txBody>
        </p:sp>
      </p:grpSp>
      <p:sp>
        <p:nvSpPr>
          <p:cNvPr name="AutoShape 32" id="32"/>
          <p:cNvSpPr/>
          <p:nvPr/>
        </p:nvSpPr>
        <p:spPr>
          <a:xfrm rot="0">
            <a:off x="1247584" y="3886200"/>
            <a:ext cx="5743766" cy="9525"/>
          </a:xfrm>
          <a:prstGeom prst="rect">
            <a:avLst/>
          </a:prstGeom>
          <a:solidFill>
            <a:srgbClr val="E2E8F0"/>
          </a:solidFill>
        </p:spPr>
      </p:sp>
      <p:sp>
        <p:nvSpPr>
          <p:cNvPr name="AutoShape 33" id="33"/>
          <p:cNvSpPr/>
          <p:nvPr/>
        </p:nvSpPr>
        <p:spPr>
          <a:xfrm rot="0">
            <a:off x="571500" y="4181475"/>
            <a:ext cx="676084" cy="9525"/>
          </a:xfrm>
          <a:prstGeom prst="rect">
            <a:avLst/>
          </a:prstGeom>
          <a:solidFill>
            <a:srgbClr val="E2E8F0"/>
          </a:solidFill>
        </p:spPr>
      </p:sp>
      <p:sp>
        <p:nvSpPr>
          <p:cNvPr name="TextBox 34" id="34"/>
          <p:cNvSpPr txBox="true"/>
          <p:nvPr/>
        </p:nvSpPr>
        <p:spPr>
          <a:xfrm rot="0">
            <a:off x="571500" y="3857625"/>
            <a:ext cx="676084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b="true" sz="900">
                <a:solidFill>
                  <a:srgbClr val="0A1A2F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2</a:t>
            </a:r>
          </a:p>
        </p:txBody>
      </p:sp>
      <p:sp>
        <p:nvSpPr>
          <p:cNvPr name="AutoShape 35" id="35"/>
          <p:cNvSpPr/>
          <p:nvPr/>
        </p:nvSpPr>
        <p:spPr>
          <a:xfrm rot="0">
            <a:off x="1247584" y="4181475"/>
            <a:ext cx="5743766" cy="9525"/>
          </a:xfrm>
          <a:prstGeom prst="rect">
            <a:avLst/>
          </a:prstGeom>
          <a:solidFill>
            <a:srgbClr val="E2E8F0"/>
          </a:solidFill>
        </p:spPr>
      </p:sp>
      <p:sp>
        <p:nvSpPr>
          <p:cNvPr name="TextBox 36" id="36"/>
          <p:cNvSpPr txBox="true"/>
          <p:nvPr/>
        </p:nvSpPr>
        <p:spPr>
          <a:xfrm rot="0">
            <a:off x="1247584" y="3857625"/>
            <a:ext cx="5743766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sz="900">
                <a:solidFill>
                  <a:srgbClr val="3F5168"/>
                </a:solidFill>
                <a:latin typeface="Helvetica"/>
                <a:ea typeface="Helvetica"/>
                <a:cs typeface="Helvetica"/>
                <a:sym typeface="Helvetica"/>
              </a:rPr>
              <a:t>Bacterial vs. viral pneumonia classification for targeted treatment guidance.</a:t>
            </a:r>
          </a:p>
        </p:txBody>
      </p:sp>
      <p:grpSp>
        <p:nvGrpSpPr>
          <p:cNvPr name="Group 37" id="37"/>
          <p:cNvGrpSpPr/>
          <p:nvPr/>
        </p:nvGrpSpPr>
        <p:grpSpPr>
          <a:xfrm rot="0">
            <a:off x="571500" y="4191000"/>
            <a:ext cx="676084" cy="295275"/>
            <a:chOff x="0" y="0"/>
            <a:chExt cx="901446" cy="3937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901446" cy="393700"/>
            </a:xfrm>
            <a:custGeom>
              <a:avLst/>
              <a:gdLst/>
              <a:ahLst/>
              <a:cxnLst/>
              <a:rect r="r" b="b" t="t" l="l"/>
              <a:pathLst>
                <a:path h="393700" w="901446">
                  <a:moveTo>
                    <a:pt x="0" y="0"/>
                  </a:moveTo>
                  <a:lnTo>
                    <a:pt x="901446" y="0"/>
                  </a:lnTo>
                  <a:lnTo>
                    <a:pt x="901446" y="393700"/>
                  </a:lnTo>
                  <a:lnTo>
                    <a:pt x="0" y="3937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7FAFD"/>
            </a:solid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38100"/>
              <a:ext cx="901446" cy="431800"/>
            </a:xfrm>
            <a:prstGeom prst="rect">
              <a:avLst/>
            </a:prstGeom>
          </p:spPr>
          <p:txBody>
            <a:bodyPr anchor="ctr" rtlCol="false" tIns="107950" lIns="107950" bIns="107950" rIns="107950"/>
            <a:lstStyle/>
            <a:p>
              <a:pPr algn="l">
                <a:lnSpc>
                  <a:spcPts val="1260"/>
                </a:lnSpc>
              </a:pPr>
              <a:r>
                <a:rPr lang="en-US" b="true" sz="900">
                  <a:solidFill>
                    <a:srgbClr val="0A1A2F"/>
                  </a:solidFill>
                  <a:latin typeface="Helvetica Bold"/>
                  <a:ea typeface="Helvetica Bold"/>
                  <a:cs typeface="Helvetica Bold"/>
                  <a:sym typeface="Helvetica Bold"/>
                </a:rPr>
                <a:t>3</a:t>
              </a:r>
            </a:p>
          </p:txBody>
        </p:sp>
      </p:grpSp>
      <p:sp>
        <p:nvSpPr>
          <p:cNvPr name="AutoShape 40" id="40"/>
          <p:cNvSpPr/>
          <p:nvPr/>
        </p:nvSpPr>
        <p:spPr>
          <a:xfrm rot="0">
            <a:off x="571500" y="4476750"/>
            <a:ext cx="676084" cy="9525"/>
          </a:xfrm>
          <a:prstGeom prst="rect">
            <a:avLst/>
          </a:prstGeom>
          <a:solidFill>
            <a:srgbClr val="E2E8F0"/>
          </a:solidFill>
        </p:spPr>
      </p:sp>
      <p:grpSp>
        <p:nvGrpSpPr>
          <p:cNvPr name="Group 41" id="41"/>
          <p:cNvGrpSpPr/>
          <p:nvPr/>
        </p:nvGrpSpPr>
        <p:grpSpPr>
          <a:xfrm rot="0">
            <a:off x="1247584" y="4191000"/>
            <a:ext cx="5743766" cy="295275"/>
            <a:chOff x="0" y="0"/>
            <a:chExt cx="7658354" cy="39370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7658354" cy="393700"/>
            </a:xfrm>
            <a:custGeom>
              <a:avLst/>
              <a:gdLst/>
              <a:ahLst/>
              <a:cxnLst/>
              <a:rect r="r" b="b" t="t" l="l"/>
              <a:pathLst>
                <a:path h="393700" w="7658354">
                  <a:moveTo>
                    <a:pt x="0" y="0"/>
                  </a:moveTo>
                  <a:lnTo>
                    <a:pt x="7658354" y="0"/>
                  </a:lnTo>
                  <a:lnTo>
                    <a:pt x="7658354" y="393700"/>
                  </a:lnTo>
                  <a:lnTo>
                    <a:pt x="0" y="3937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7FAFD"/>
            </a:solid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38100"/>
              <a:ext cx="7658354" cy="431800"/>
            </a:xfrm>
            <a:prstGeom prst="rect">
              <a:avLst/>
            </a:prstGeom>
          </p:spPr>
          <p:txBody>
            <a:bodyPr anchor="ctr" rtlCol="false" tIns="107950" lIns="107950" bIns="107950" rIns="107950"/>
            <a:lstStyle/>
            <a:p>
              <a:pPr algn="l">
                <a:lnSpc>
                  <a:spcPts val="1260"/>
                </a:lnSpc>
              </a:pPr>
              <a:r>
                <a:rPr lang="en-US" sz="900">
                  <a:solidFill>
                    <a:srgbClr val="3F5168"/>
                  </a:solidFill>
                  <a:latin typeface="Helvetica"/>
                  <a:ea typeface="Helvetica"/>
                  <a:cs typeface="Helvetica"/>
                  <a:sym typeface="Helvetica"/>
                </a:rPr>
                <a:t>Additional local pathologies (tuberculosis, pleural effusion).</a:t>
              </a:r>
            </a:p>
          </p:txBody>
        </p:sp>
      </p:grpSp>
      <p:sp>
        <p:nvSpPr>
          <p:cNvPr name="AutoShape 44" id="44"/>
          <p:cNvSpPr/>
          <p:nvPr/>
        </p:nvSpPr>
        <p:spPr>
          <a:xfrm rot="0">
            <a:off x="1247584" y="4476750"/>
            <a:ext cx="5743766" cy="9525"/>
          </a:xfrm>
          <a:prstGeom prst="rect">
            <a:avLst/>
          </a:prstGeom>
          <a:solidFill>
            <a:srgbClr val="E2E8F0"/>
          </a:solidFill>
        </p:spPr>
      </p:sp>
      <p:sp>
        <p:nvSpPr>
          <p:cNvPr name="AutoShape 45" id="45"/>
          <p:cNvSpPr/>
          <p:nvPr/>
        </p:nvSpPr>
        <p:spPr>
          <a:xfrm rot="0">
            <a:off x="571500" y="4772025"/>
            <a:ext cx="676084" cy="9525"/>
          </a:xfrm>
          <a:prstGeom prst="rect">
            <a:avLst/>
          </a:prstGeom>
          <a:solidFill>
            <a:srgbClr val="E2E8F0"/>
          </a:solidFill>
        </p:spPr>
      </p:sp>
      <p:sp>
        <p:nvSpPr>
          <p:cNvPr name="TextBox 46" id="46"/>
          <p:cNvSpPr txBox="true"/>
          <p:nvPr/>
        </p:nvSpPr>
        <p:spPr>
          <a:xfrm rot="0">
            <a:off x="571500" y="4448175"/>
            <a:ext cx="676084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b="true" sz="900">
                <a:solidFill>
                  <a:srgbClr val="0A1A2F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4</a:t>
            </a:r>
          </a:p>
        </p:txBody>
      </p:sp>
      <p:sp>
        <p:nvSpPr>
          <p:cNvPr name="AutoShape 47" id="47"/>
          <p:cNvSpPr/>
          <p:nvPr/>
        </p:nvSpPr>
        <p:spPr>
          <a:xfrm rot="0">
            <a:off x="1247584" y="4772025"/>
            <a:ext cx="5743766" cy="9525"/>
          </a:xfrm>
          <a:prstGeom prst="rect">
            <a:avLst/>
          </a:prstGeom>
          <a:solidFill>
            <a:srgbClr val="E2E8F0"/>
          </a:solidFill>
        </p:spPr>
      </p:sp>
      <p:sp>
        <p:nvSpPr>
          <p:cNvPr name="TextBox 48" id="48"/>
          <p:cNvSpPr txBox="true"/>
          <p:nvPr/>
        </p:nvSpPr>
        <p:spPr>
          <a:xfrm rot="0">
            <a:off x="1247584" y="4448175"/>
            <a:ext cx="5743766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sz="900">
                <a:solidFill>
                  <a:srgbClr val="3F5168"/>
                </a:solidFill>
                <a:latin typeface="Helvetica"/>
                <a:ea typeface="Helvetica"/>
                <a:cs typeface="Helvetica"/>
                <a:sym typeface="Helvetica"/>
              </a:rPr>
              <a:t>SaMD registration with NMRA Sri Lanka + local clinical-validation study.</a:t>
            </a:r>
          </a:p>
        </p:txBody>
      </p:sp>
      <p:grpSp>
        <p:nvGrpSpPr>
          <p:cNvPr name="Group 49" id="49"/>
          <p:cNvGrpSpPr/>
          <p:nvPr/>
        </p:nvGrpSpPr>
        <p:grpSpPr>
          <a:xfrm rot="0">
            <a:off x="571500" y="4781550"/>
            <a:ext cx="676084" cy="295275"/>
            <a:chOff x="0" y="0"/>
            <a:chExt cx="901446" cy="39370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901446" cy="393700"/>
            </a:xfrm>
            <a:custGeom>
              <a:avLst/>
              <a:gdLst/>
              <a:ahLst/>
              <a:cxnLst/>
              <a:rect r="r" b="b" t="t" l="l"/>
              <a:pathLst>
                <a:path h="393700" w="901446">
                  <a:moveTo>
                    <a:pt x="0" y="0"/>
                  </a:moveTo>
                  <a:lnTo>
                    <a:pt x="901446" y="0"/>
                  </a:lnTo>
                  <a:lnTo>
                    <a:pt x="901446" y="393700"/>
                  </a:lnTo>
                  <a:lnTo>
                    <a:pt x="0" y="3937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7FAFD"/>
            </a:solid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38100"/>
              <a:ext cx="901446" cy="431800"/>
            </a:xfrm>
            <a:prstGeom prst="rect">
              <a:avLst/>
            </a:prstGeom>
          </p:spPr>
          <p:txBody>
            <a:bodyPr anchor="ctr" rtlCol="false" tIns="107950" lIns="107950" bIns="107950" rIns="107950"/>
            <a:lstStyle/>
            <a:p>
              <a:pPr algn="l">
                <a:lnSpc>
                  <a:spcPts val="1260"/>
                </a:lnSpc>
              </a:pPr>
              <a:r>
                <a:rPr lang="en-US" b="true" sz="900">
                  <a:solidFill>
                    <a:srgbClr val="0A1A2F"/>
                  </a:solidFill>
                  <a:latin typeface="Helvetica Bold"/>
                  <a:ea typeface="Helvetica Bold"/>
                  <a:cs typeface="Helvetica Bold"/>
                  <a:sym typeface="Helvetica Bold"/>
                </a:rPr>
                <a:t>5</a:t>
              </a:r>
            </a:p>
          </p:txBody>
        </p:sp>
      </p:grpSp>
      <p:sp>
        <p:nvSpPr>
          <p:cNvPr name="AutoShape 52" id="52"/>
          <p:cNvSpPr/>
          <p:nvPr/>
        </p:nvSpPr>
        <p:spPr>
          <a:xfrm rot="0">
            <a:off x="571500" y="5067300"/>
            <a:ext cx="676084" cy="9525"/>
          </a:xfrm>
          <a:prstGeom prst="rect">
            <a:avLst/>
          </a:prstGeom>
          <a:solidFill>
            <a:srgbClr val="E2E8F0"/>
          </a:solidFill>
        </p:spPr>
      </p:sp>
      <p:grpSp>
        <p:nvGrpSpPr>
          <p:cNvPr name="Group 53" id="53"/>
          <p:cNvGrpSpPr/>
          <p:nvPr/>
        </p:nvGrpSpPr>
        <p:grpSpPr>
          <a:xfrm rot="0">
            <a:off x="1247584" y="4781550"/>
            <a:ext cx="5743766" cy="295275"/>
            <a:chOff x="0" y="0"/>
            <a:chExt cx="7658354" cy="39370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7658354" cy="393700"/>
            </a:xfrm>
            <a:custGeom>
              <a:avLst/>
              <a:gdLst/>
              <a:ahLst/>
              <a:cxnLst/>
              <a:rect r="r" b="b" t="t" l="l"/>
              <a:pathLst>
                <a:path h="393700" w="7658354">
                  <a:moveTo>
                    <a:pt x="0" y="0"/>
                  </a:moveTo>
                  <a:lnTo>
                    <a:pt x="7658354" y="0"/>
                  </a:lnTo>
                  <a:lnTo>
                    <a:pt x="7658354" y="393700"/>
                  </a:lnTo>
                  <a:lnTo>
                    <a:pt x="0" y="3937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7FAFD"/>
            </a:solid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38100"/>
              <a:ext cx="7658354" cy="431800"/>
            </a:xfrm>
            <a:prstGeom prst="rect">
              <a:avLst/>
            </a:prstGeom>
          </p:spPr>
          <p:txBody>
            <a:bodyPr anchor="ctr" rtlCol="false" tIns="107950" lIns="107950" bIns="107950" rIns="107950"/>
            <a:lstStyle/>
            <a:p>
              <a:pPr algn="l">
                <a:lnSpc>
                  <a:spcPts val="1260"/>
                </a:lnSpc>
              </a:pPr>
              <a:r>
                <a:rPr lang="en-US" sz="900">
                  <a:solidFill>
                    <a:srgbClr val="3F5168"/>
                  </a:solidFill>
                  <a:latin typeface="Helvetica"/>
                  <a:ea typeface="Helvetica"/>
                  <a:cs typeface="Helvetica"/>
                  <a:sym typeface="Helvetica"/>
                </a:rPr>
                <a:t>Bilingual UI and integration with national health IT (eSuwa).</a:t>
              </a:r>
            </a:p>
          </p:txBody>
        </p:sp>
      </p:grpSp>
      <p:sp>
        <p:nvSpPr>
          <p:cNvPr name="AutoShape 56" id="56"/>
          <p:cNvSpPr/>
          <p:nvPr/>
        </p:nvSpPr>
        <p:spPr>
          <a:xfrm rot="0">
            <a:off x="1247584" y="5067300"/>
            <a:ext cx="5743766" cy="9525"/>
          </a:xfrm>
          <a:prstGeom prst="rect">
            <a:avLst/>
          </a:prstGeom>
          <a:solidFill>
            <a:srgbClr val="E2E8F0"/>
          </a:solidFill>
        </p:spPr>
      </p:sp>
      <p:grpSp>
        <p:nvGrpSpPr>
          <p:cNvPr name="Group 57" id="57"/>
          <p:cNvGrpSpPr/>
          <p:nvPr/>
        </p:nvGrpSpPr>
        <p:grpSpPr>
          <a:xfrm rot="0">
            <a:off x="571500" y="5195888"/>
            <a:ext cx="6419850" cy="736378"/>
            <a:chOff x="0" y="0"/>
            <a:chExt cx="8559800" cy="981837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8559800" cy="981837"/>
            </a:xfrm>
            <a:custGeom>
              <a:avLst/>
              <a:gdLst/>
              <a:ahLst/>
              <a:cxnLst/>
              <a:rect r="r" b="b" t="t" l="l"/>
              <a:pathLst>
                <a:path h="981837" w="8559800">
                  <a:moveTo>
                    <a:pt x="0" y="0"/>
                  </a:moveTo>
                  <a:lnTo>
                    <a:pt x="8458200" y="0"/>
                  </a:lnTo>
                  <a:cubicBezTo>
                    <a:pt x="8514334" y="0"/>
                    <a:pt x="8559800" y="45466"/>
                    <a:pt x="8559800" y="101600"/>
                  </a:cubicBezTo>
                  <a:lnTo>
                    <a:pt x="8559800" y="880237"/>
                  </a:lnTo>
                  <a:cubicBezTo>
                    <a:pt x="8559800" y="936371"/>
                    <a:pt x="8514334" y="981837"/>
                    <a:pt x="8458200" y="981837"/>
                  </a:cubicBezTo>
                  <a:lnTo>
                    <a:pt x="0" y="98183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7F6F0"/>
            </a:solidFill>
          </p:spPr>
        </p:sp>
      </p:grpSp>
      <p:sp>
        <p:nvSpPr>
          <p:cNvPr name="AutoShape 59" id="59"/>
          <p:cNvSpPr/>
          <p:nvPr/>
        </p:nvSpPr>
        <p:spPr>
          <a:xfrm rot="0">
            <a:off x="571500" y="5195888"/>
            <a:ext cx="38100" cy="736378"/>
          </a:xfrm>
          <a:prstGeom prst="rect">
            <a:avLst/>
          </a:prstGeom>
          <a:solidFill>
            <a:srgbClr val="059669"/>
          </a:solidFill>
        </p:spPr>
      </p:sp>
      <p:sp>
        <p:nvSpPr>
          <p:cNvPr name="TextBox 60" id="60"/>
          <p:cNvSpPr txBox="true"/>
          <p:nvPr/>
        </p:nvSpPr>
        <p:spPr>
          <a:xfrm rot="0">
            <a:off x="571500" y="5157788"/>
            <a:ext cx="6419850" cy="7744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83"/>
              </a:lnSpc>
            </a:pPr>
            <a:r>
              <a:rPr lang="en-US" b="true" sz="922">
                <a:solidFill>
                  <a:srgbClr val="0A1A2F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Social impact.</a:t>
            </a:r>
            <a:r>
              <a:rPr lang="en-US" sz="922">
                <a:solidFill>
                  <a:srgbClr val="04563D"/>
                </a:solidFill>
                <a:latin typeface="Helvetica"/>
                <a:ea typeface="Helvetica"/>
                <a:cs typeface="Helvetica"/>
                <a:sym typeface="Helvetica"/>
              </a:rPr>
              <a:t> By making pneumonia screening fast, explainable, and affordable across rural Sri Lanka, PneumoScan AI can help prevent avoidable deaths — bringing specialist-level decision support to the settings that need it most.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571500" y="6065615"/>
            <a:ext cx="6419850" cy="2524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7"/>
              </a:lnSpc>
            </a:pPr>
            <a:r>
              <a:rPr lang="en-US" b="true" sz="1125" spc="-11">
                <a:solidFill>
                  <a:srgbClr val="003D7A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Key references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571500" y="6375178"/>
            <a:ext cx="6419850" cy="1276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1000" indent="-190500" lvl="1">
              <a:lnSpc>
                <a:spcPts val="1237"/>
              </a:lnSpc>
              <a:buAutoNum type="arabicPeriod" startAt="1"/>
            </a:pPr>
            <a:r>
              <a:rPr lang="en-US" sz="825">
                <a:solidFill>
                  <a:srgbClr val="3F5168"/>
                </a:solidFill>
                <a:latin typeface="Helvetica"/>
                <a:ea typeface="Helvetica"/>
                <a:cs typeface="Helvetica"/>
                <a:sym typeface="Helvetica"/>
              </a:rPr>
              <a:t>Rajpurkar P. et al. (2017). CheXNet: Radiologist-Level Pneumonia Detection on Chest X-Rays. arXiv:1711.05225.</a:t>
            </a:r>
          </a:p>
          <a:p>
            <a:pPr algn="l" marL="381000" indent="-190500" lvl="1">
              <a:lnSpc>
                <a:spcPts val="1237"/>
              </a:lnSpc>
              <a:buAutoNum type="arabicPeriod" startAt="1"/>
            </a:pPr>
            <a:r>
              <a:rPr lang="en-US" sz="825">
                <a:solidFill>
                  <a:srgbClr val="3F5168"/>
                </a:solidFill>
                <a:latin typeface="Helvetica"/>
                <a:ea typeface="Helvetica"/>
                <a:cs typeface="Helvetica"/>
                <a:sym typeface="Helvetica"/>
              </a:rPr>
              <a:t>Kermany D. et al. (2018). Identifying Medical Diagnoses by Image-Based Deep Learning. </a:t>
            </a:r>
            <a:r>
              <a:rPr lang="en-US" sz="825" i="true">
                <a:solidFill>
                  <a:srgbClr val="3F5168"/>
                </a:solidFill>
                <a:latin typeface="Helvetica Italics"/>
                <a:ea typeface="Helvetica Italics"/>
                <a:cs typeface="Helvetica Italics"/>
                <a:sym typeface="Helvetica Italics"/>
              </a:rPr>
              <a:t>Cell</a:t>
            </a:r>
            <a:r>
              <a:rPr lang="en-US" sz="825">
                <a:solidFill>
                  <a:srgbClr val="3F5168"/>
                </a:solidFill>
                <a:latin typeface="Helvetica"/>
                <a:ea typeface="Helvetica"/>
                <a:cs typeface="Helvetica"/>
                <a:sym typeface="Helvetica"/>
              </a:rPr>
              <a:t> 172(5).</a:t>
            </a:r>
          </a:p>
          <a:p>
            <a:pPr algn="l" marL="381000" indent="-190500" lvl="1">
              <a:lnSpc>
                <a:spcPts val="1237"/>
              </a:lnSpc>
              <a:buAutoNum type="arabicPeriod" startAt="1"/>
            </a:pPr>
            <a:r>
              <a:rPr lang="en-US" sz="825">
                <a:solidFill>
                  <a:srgbClr val="3F5168"/>
                </a:solidFill>
                <a:latin typeface="Helvetica"/>
                <a:ea typeface="Helvetica"/>
                <a:cs typeface="Helvetica"/>
                <a:sym typeface="Helvetica"/>
              </a:rPr>
              <a:t>He K. et al. (2016). Deep Residual Learning for Image Recognition. CVPR.</a:t>
            </a:r>
          </a:p>
          <a:p>
            <a:pPr algn="l" marL="381000" indent="-190500" lvl="1">
              <a:lnSpc>
                <a:spcPts val="1237"/>
              </a:lnSpc>
              <a:buAutoNum type="arabicPeriod" startAt="1"/>
            </a:pPr>
            <a:r>
              <a:rPr lang="en-US" sz="825">
                <a:solidFill>
                  <a:srgbClr val="3F5168"/>
                </a:solidFill>
                <a:latin typeface="Helvetica"/>
                <a:ea typeface="Helvetica"/>
                <a:cs typeface="Helvetica"/>
                <a:sym typeface="Helvetica"/>
              </a:rPr>
              <a:t>Selvaraju R. et al. (2017). Grad-CAM: Visual Explanations from Deep Networks. ICCV.</a:t>
            </a:r>
          </a:p>
          <a:p>
            <a:pPr algn="l" marL="381000" indent="-190500" lvl="1">
              <a:lnSpc>
                <a:spcPts val="1237"/>
              </a:lnSpc>
              <a:buAutoNum type="arabicPeriod" startAt="1"/>
            </a:pPr>
            <a:r>
              <a:rPr lang="en-US" sz="825">
                <a:solidFill>
                  <a:srgbClr val="3F5168"/>
                </a:solidFill>
                <a:latin typeface="Helvetica"/>
                <a:ea typeface="Helvetica"/>
                <a:cs typeface="Helvetica"/>
                <a:sym typeface="Helvetica"/>
              </a:rPr>
              <a:t>Rahman T. et al. (2021). COVID-19 Radiography Database. Kaggle / </a:t>
            </a:r>
            <a:r>
              <a:rPr lang="en-US" sz="825" i="true">
                <a:solidFill>
                  <a:srgbClr val="3F5168"/>
                </a:solidFill>
                <a:latin typeface="Helvetica Italics"/>
                <a:ea typeface="Helvetica Italics"/>
                <a:cs typeface="Helvetica Italics"/>
                <a:sym typeface="Helvetica Italics"/>
              </a:rPr>
              <a:t>Computers in Biology and Medicine</a:t>
            </a:r>
            <a:r>
              <a:rPr lang="en-US" sz="825">
                <a:solidFill>
                  <a:srgbClr val="3F5168"/>
                </a:solidFill>
                <a:latin typeface="Helvetica"/>
                <a:ea typeface="Helvetica"/>
                <a:cs typeface="Helvetica"/>
                <a:sym typeface="Helvetica"/>
              </a:rPr>
              <a:t>.</a:t>
            </a:r>
          </a:p>
          <a:p>
            <a:pPr algn="l" marL="381000" indent="-190500" lvl="1">
              <a:lnSpc>
                <a:spcPts val="1237"/>
              </a:lnSpc>
              <a:buAutoNum type="arabicPeriod" startAt="1"/>
            </a:pPr>
            <a:r>
              <a:rPr lang="en-US" sz="825">
                <a:solidFill>
                  <a:srgbClr val="3F5168"/>
                </a:solidFill>
                <a:latin typeface="Helvetica"/>
                <a:ea typeface="Helvetica"/>
                <a:cs typeface="Helvetica"/>
                <a:sym typeface="Helvetica"/>
              </a:rPr>
              <a:t>World Health Organization — Pneumonia fact sheets and global health statistics.</a:t>
            </a:r>
          </a:p>
        </p:txBody>
      </p:sp>
      <p:sp>
        <p:nvSpPr>
          <p:cNvPr name="AutoShape 63" id="63"/>
          <p:cNvSpPr/>
          <p:nvPr/>
        </p:nvSpPr>
        <p:spPr>
          <a:xfrm rot="0">
            <a:off x="571500" y="10213181"/>
            <a:ext cx="6419850" cy="9525"/>
          </a:xfrm>
          <a:prstGeom prst="rect">
            <a:avLst/>
          </a:prstGeom>
          <a:solidFill>
            <a:srgbClr val="E2E8F0"/>
          </a:solidFill>
        </p:spPr>
      </p:sp>
      <p:sp>
        <p:nvSpPr>
          <p:cNvPr name="TextBox 64" id="64"/>
          <p:cNvSpPr txBox="true"/>
          <p:nvPr/>
        </p:nvSpPr>
        <p:spPr>
          <a:xfrm rot="0">
            <a:off x="571500" y="10260806"/>
            <a:ext cx="1684115" cy="1881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81"/>
              </a:lnSpc>
            </a:pPr>
            <a:r>
              <a:rPr lang="en-US" sz="787">
                <a:solidFill>
                  <a:srgbClr val="6B7A90"/>
                </a:solidFill>
                <a:latin typeface="Helvetica"/>
                <a:ea typeface="Helvetica"/>
                <a:cs typeface="Helvetica"/>
                <a:sym typeface="Helvetica"/>
              </a:rPr>
              <a:t>Team GMora · University of Moratuwa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5429250" y="10260806"/>
            <a:ext cx="1562100" cy="1881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81"/>
              </a:lnSpc>
            </a:pPr>
            <a:r>
              <a:rPr lang="en-US" sz="787">
                <a:solidFill>
                  <a:srgbClr val="6B7A90"/>
                </a:solidFill>
                <a:latin typeface="Helvetica"/>
                <a:ea typeface="Helvetica"/>
                <a:cs typeface="Helvetica"/>
                <a:sym typeface="Helvetica"/>
              </a:rPr>
              <a:t>Brainstorm 2026 · Semifinal Report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DAHOf3AYCj8</dc:identifier>
  <dcterms:modified xsi:type="dcterms:W3CDTF">2011-08-01T06:04:30Z</dcterms:modified>
  <cp:revision>1</cp:revision>
  <dc:title>PneumoScan AI — Team GMora | Brainstorm 2026 Semifinal Report</dc:title>
</cp:coreProperties>
</file>